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315200" cy="96012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F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898" autoAdjust="0"/>
    <p:restoredTop sz="94660"/>
  </p:normalViewPr>
  <p:slideViewPr>
    <p:cSldViewPr snapToGrid="0">
      <p:cViewPr>
        <p:scale>
          <a:sx n="75" d="100"/>
          <a:sy n="75" d="100"/>
        </p:scale>
        <p:origin x="1555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A642C-9D2D-40DD-8517-EBC9AD9A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6FDB18-EFD1-4EC5-A1D4-7A04A294B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DAE4D3-C9E4-45F0-BD9A-EE3CA4C2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17930F-2904-4BC7-A614-AC43E0AD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4B4CC-8ACE-4121-8F8F-445B53DF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040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95D52-B4E3-4A09-A215-047A7F21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8B5CC4-A626-42B6-A0CB-BBE64DE8C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CD8D0B-3432-431A-A471-5D4ABF94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07C2A-EB01-425F-A075-78F49BF5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F1EB69-1D2A-4A1C-8BF8-F6DBCCC3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419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A90BE0-67ED-48CB-AB54-18160C44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6242-FB05-4366-BD4D-74AF03642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612DE6-0BB2-43D2-AC37-4AB623D1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1B25A-EA9B-44C8-81ED-4FD37F18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1CC18D-87BA-46DB-8FB7-12EBA21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051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6C80C-221C-4285-B65F-C3F2ED07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75126-0DA7-41B3-9883-B9C1AFECE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16A625-F231-4DB0-A117-F1E22A53B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FD7B15-9895-4331-9150-360198D2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D4B121-82DD-4A26-B089-F54776B9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0AAF50-5664-4595-85D7-A69C67A7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073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0CBA6-539A-4B31-BC80-833738B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7BB5BB-ED13-47EC-853A-47BC26B6B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3AA38F-E3C7-4958-AB0B-521EBF76C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1A7745-A781-4EE1-A21C-F7712215A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51D397-E0A1-4279-AA17-1545658DA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9650FA-DBA3-45BC-B6F4-00C9D0A5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E3B287-B641-42A4-AF6D-DEEB71D1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755E1D-9353-49D8-A6FC-D24B1462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3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111B1-B682-4291-A963-3E283045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1F8611-5EA7-403F-91CD-74EFE6B1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D037B6-A839-4447-AC28-58D8093D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1CC746-6CA4-4E90-ADE4-2185D8A7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595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FC3C3F6-5198-4CC8-B1BA-CABA9B758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2EB80A-5EF0-4E09-8D2C-7E7C6B5B5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615012-C853-400B-A677-96102DCF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095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1F7FD-4C2F-43A4-B8AC-ADE33AF4F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520D50-0DC9-46A3-AE81-07AC8F65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489279-F662-4AD2-9938-1EF89B104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CCB20C-88E7-4E21-B3CF-9478FF9F7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D27A7A-F8E9-4043-A02B-CDD4E869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2B7578-46C1-4865-AFA0-DAB1BCA3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006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D7D6B-87F7-4C00-A1ED-D9EB929E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A989EF-BE16-4508-AE07-7EEF4F6B2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D71463-EF94-4E63-920C-3EBE440C3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02A0BC-77DC-4527-AB4F-71CB62CC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960386-6EF2-492D-B941-BA991454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A1F9EC-9859-4BC7-A478-644DFE3C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202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FEE258-D67E-4C12-BFF1-746FDE0B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E2CA7A-1B62-4BCF-926A-B452D5C1C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352B8D-2B56-42EC-AE97-FF17C2E1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9B6D36-AFAA-433C-86C7-AE14D7ED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A60AAC-565F-49A1-877C-50ACC7AA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898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CE40AF-C9AA-4B90-881A-DE6438AF6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F3C8F6-FB0B-463B-AAD6-BAAD1DF46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BD4346-6B10-4812-9C78-33DF5010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58BAC9-55EC-4D58-B306-E750DD67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CEDF8D-35A0-43EF-9C0B-1B76A308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790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5E14EA-4B47-42CD-B1CE-8C6C7A338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2DC503-9F76-4ECF-9DFA-7F0FA6402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50FA7E-D0E1-4269-901D-8EB7E6D9D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3658F-E3A1-4CB8-B8EC-5B4B264827CE}" type="datetimeFigureOut">
              <a:rPr lang="es-CO" smtClean="0"/>
              <a:t>12/03/2021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3E0D20-BA98-456C-979A-4EE911FD4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7A2771-A33B-46A6-8355-0247CF729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52CBD-03B5-4C72-834C-3AC267D4B7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3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g"/><Relationship Id="rId4" Type="http://schemas.openxmlformats.org/officeDocument/2006/relationships/hyperlink" Target="http://ciencia.unam.mx/leer/952/-quien-regulara-la-inteligencia-artificial-" TargetMode="External"/><Relationship Id="rId9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A65FAE5F-E589-4A03-BD47-CB390532B175}"/>
              </a:ext>
            </a:extLst>
          </p:cNvPr>
          <p:cNvSpPr/>
          <p:nvPr/>
        </p:nvSpPr>
        <p:spPr>
          <a:xfrm rot="5400000">
            <a:off x="1653184" y="-966777"/>
            <a:ext cx="1615827" cy="4385959"/>
          </a:xfrm>
          <a:prstGeom prst="round2SameRect">
            <a:avLst>
              <a:gd name="adj1" fmla="val 9128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ADA7C85-BBD5-4372-89FD-6735B9CE2752}"/>
              </a:ext>
            </a:extLst>
          </p:cNvPr>
          <p:cNvSpPr txBox="1"/>
          <p:nvPr/>
        </p:nvSpPr>
        <p:spPr>
          <a:xfrm>
            <a:off x="4835619" y="2121603"/>
            <a:ext cx="2448000" cy="2056566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5688626"/>
              </a:avLst>
            </a:prstTxWarp>
            <a:spAutoFit/>
          </a:bodyPr>
          <a:lstStyle/>
          <a:p>
            <a:pPr algn="ctr"/>
            <a:r>
              <a:rPr lang="es-MX" sz="1400" dirty="0">
                <a:effectLst/>
                <a:latin typeface="Arial" panose="020B0604020202020204" pitchFamily="34" charset="0"/>
              </a:rPr>
              <a:t>Pilares IA:    Integridad  </a:t>
            </a:r>
            <a:r>
              <a:rPr lang="es-MX" sz="1400" dirty="0">
                <a:latin typeface="Arial" panose="020B0604020202020204" pitchFamily="34" charset="0"/>
              </a:rPr>
              <a:t> -   </a:t>
            </a:r>
            <a:r>
              <a:rPr lang="es-MX" sz="1400" dirty="0">
                <a:effectLst/>
                <a:latin typeface="Arial" panose="020B0604020202020204" pitchFamily="34" charset="0"/>
              </a:rPr>
              <a:t> claridad   -   imparcialidad   -   resiliencia</a:t>
            </a:r>
            <a:endParaRPr lang="es-CO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AEA5B11-7208-4E10-A4C9-9B709F8DA60E}"/>
              </a:ext>
            </a:extLst>
          </p:cNvPr>
          <p:cNvGrpSpPr/>
          <p:nvPr/>
        </p:nvGrpSpPr>
        <p:grpSpPr>
          <a:xfrm>
            <a:off x="4908380" y="2282249"/>
            <a:ext cx="2474951" cy="1800000"/>
            <a:chOff x="7906744" y="539955"/>
            <a:chExt cx="2016279" cy="1442493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7068CEF6-57AC-4346-B743-5C8ED9030C00}"/>
                </a:ext>
              </a:extLst>
            </p:cNvPr>
            <p:cNvSpPr/>
            <p:nvPr/>
          </p:nvSpPr>
          <p:spPr>
            <a:xfrm>
              <a:off x="8008613" y="539955"/>
              <a:ext cx="1686246" cy="144249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90B302C-B984-4FBE-8293-713FFAB1F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2946" y="769491"/>
              <a:ext cx="637581" cy="637581"/>
            </a:xfrm>
            <a:prstGeom prst="ellipse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D3140EB2-3F99-4B29-AABA-A82877FC7784}"/>
                </a:ext>
              </a:extLst>
            </p:cNvPr>
            <p:cNvSpPr txBox="1"/>
            <p:nvPr/>
          </p:nvSpPr>
          <p:spPr>
            <a:xfrm>
              <a:off x="7906744" y="1361939"/>
              <a:ext cx="2016279" cy="346833"/>
            </a:xfrm>
            <a:prstGeom prst="ellipse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dirty="0">
                  <a:solidFill>
                    <a:schemeClr val="tx1"/>
                  </a:solidFill>
                </a:rPr>
                <a:t>Inteligencia Artificial</a:t>
              </a:r>
            </a:p>
          </p:txBody>
        </p:sp>
      </p:grp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CC807B1-7A73-4C77-889D-62DA36A34C5B}"/>
              </a:ext>
            </a:extLst>
          </p:cNvPr>
          <p:cNvCxnSpPr>
            <a:cxnSpLocks/>
            <a:stCxn id="15" idx="4"/>
            <a:endCxn id="24" idx="0"/>
          </p:cNvCxnSpPr>
          <p:nvPr/>
        </p:nvCxnSpPr>
        <p:spPr>
          <a:xfrm>
            <a:off x="6068346" y="4082249"/>
            <a:ext cx="27654" cy="167159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86D39EB-0C5E-4C82-88EE-9D44BDF1B608}"/>
              </a:ext>
            </a:extLst>
          </p:cNvPr>
          <p:cNvSpPr txBox="1"/>
          <p:nvPr/>
        </p:nvSpPr>
        <p:spPr>
          <a:xfrm>
            <a:off x="957075" y="5753840"/>
            <a:ext cx="10277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/>
              <a:t>Proceso llevado a cabo por máquinas, con la capacidad de aprender, entender y tomar decisiones. Para </a:t>
            </a:r>
            <a:r>
              <a:rPr lang="es-MX" sz="1400" dirty="0"/>
              <a:t>ejecutar acciones que maximicen sus posibilidades de éxito en algún objetivo o tarea.</a:t>
            </a:r>
            <a:endParaRPr lang="es-CO" sz="1400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661E987-629D-42C6-A1B0-A44DD8B09C9F}"/>
              </a:ext>
            </a:extLst>
          </p:cNvPr>
          <p:cNvSpPr/>
          <p:nvPr/>
        </p:nvSpPr>
        <p:spPr>
          <a:xfrm>
            <a:off x="1" y="1"/>
            <a:ext cx="5033421" cy="260201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6BA2F6C-CFF4-4946-BFE4-491F9009CBA5}"/>
              </a:ext>
            </a:extLst>
          </p:cNvPr>
          <p:cNvSpPr/>
          <p:nvPr/>
        </p:nvSpPr>
        <p:spPr>
          <a:xfrm>
            <a:off x="0" y="1"/>
            <a:ext cx="695325" cy="26020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DBAECF6-2D72-4141-995C-B2CC48D61AC2}"/>
              </a:ext>
            </a:extLst>
          </p:cNvPr>
          <p:cNvSpPr txBox="1"/>
          <p:nvPr/>
        </p:nvSpPr>
        <p:spPr>
          <a:xfrm>
            <a:off x="2914" y="7323"/>
            <a:ext cx="4905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Estiven Andres Orozco Quintero – XRHC02-18 – DESARROLLO DE SOFTWARE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303AB8E-353E-4D43-A854-9F565D7DCEEE}"/>
              </a:ext>
            </a:extLst>
          </p:cNvPr>
          <p:cNvSpPr txBox="1"/>
          <p:nvPr/>
        </p:nvSpPr>
        <p:spPr>
          <a:xfrm>
            <a:off x="49855" y="633916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Martin Sokalski - https://assets.kpmg/content/dam/kpmg/ar/pdf/2020/como-controlar-la-inteligencia-artificial.pdf, https://bismark.net.co/analitica-de-datos/, https://dle.rae.es/inteligencia?m=form, https://www.bbc.com/mundo/noticias-50246831,https://home.kpmg/es/es/home/responsabilidad-corporativa/innovacion-transformacion/inteligencia-artificial-integridad-transparencia.html , </a:t>
            </a:r>
            <a:r>
              <a:rPr lang="es-CO" sz="10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http://ciencia.unam.mx/leer/952/-quien-regulara-la-inteligencia-artificial-</a:t>
            </a:r>
            <a:r>
              <a:rPr lang="es-CO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, Diego Slezak, Marc Cortes - https://www.ted.com/tedx, Marcos Merino - https://www.xataka.com/inteligencia-artificial, rpp -  https://rpp.pe/tecnologia/mas-tecnologia</a:t>
            </a:r>
          </a:p>
          <a:p>
            <a:endParaRPr lang="es-CO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Rectángulo: esquinas superiores redondeadas 43">
            <a:extLst>
              <a:ext uri="{FF2B5EF4-FFF2-40B4-BE49-F238E27FC236}">
                <a16:creationId xmlns:a16="http://schemas.microsoft.com/office/drawing/2014/main" id="{78E330F8-61C4-48BD-8F78-71ECF7F693C6}"/>
              </a:ext>
            </a:extLst>
          </p:cNvPr>
          <p:cNvSpPr/>
          <p:nvPr/>
        </p:nvSpPr>
        <p:spPr>
          <a:xfrm rot="5400000">
            <a:off x="1587171" y="990821"/>
            <a:ext cx="1467313" cy="4050169"/>
          </a:xfrm>
          <a:prstGeom prst="round2SameRect">
            <a:avLst>
              <a:gd name="adj1" fmla="val 9128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9AF29AF-14E2-4E43-8E60-C66F04228650}"/>
              </a:ext>
            </a:extLst>
          </p:cNvPr>
          <p:cNvSpPr/>
          <p:nvPr/>
        </p:nvSpPr>
        <p:spPr>
          <a:xfrm rot="5400000">
            <a:off x="1542500" y="2711996"/>
            <a:ext cx="1501410" cy="4050169"/>
          </a:xfrm>
          <a:prstGeom prst="round2SameRect">
            <a:avLst>
              <a:gd name="adj1" fmla="val 9128"/>
              <a:gd name="adj2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Rectángulo: esquinas superiores redondeadas 45">
            <a:extLst>
              <a:ext uri="{FF2B5EF4-FFF2-40B4-BE49-F238E27FC236}">
                <a16:creationId xmlns:a16="http://schemas.microsoft.com/office/drawing/2014/main" id="{0DE7D6C5-48FC-45C3-9F5A-DD31BC2D02DE}"/>
              </a:ext>
            </a:extLst>
          </p:cNvPr>
          <p:cNvSpPr/>
          <p:nvPr/>
        </p:nvSpPr>
        <p:spPr>
          <a:xfrm rot="5400000">
            <a:off x="9137515" y="990821"/>
            <a:ext cx="1467313" cy="4050169"/>
          </a:xfrm>
          <a:prstGeom prst="round2SameRect">
            <a:avLst>
              <a:gd name="adj1" fmla="val 0"/>
              <a:gd name="adj2" fmla="val 1265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Rectángulo: esquinas superiores redondeadas 46">
            <a:extLst>
              <a:ext uri="{FF2B5EF4-FFF2-40B4-BE49-F238E27FC236}">
                <a16:creationId xmlns:a16="http://schemas.microsoft.com/office/drawing/2014/main" id="{D8CB820B-3745-4570-9462-A3FA38DB2455}"/>
              </a:ext>
            </a:extLst>
          </p:cNvPr>
          <p:cNvSpPr/>
          <p:nvPr/>
        </p:nvSpPr>
        <p:spPr>
          <a:xfrm rot="5400000">
            <a:off x="9048974" y="2735016"/>
            <a:ext cx="1547451" cy="4050169"/>
          </a:xfrm>
          <a:prstGeom prst="round2SameRect">
            <a:avLst>
              <a:gd name="adj1" fmla="val 0"/>
              <a:gd name="adj2" fmla="val 1265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157A907-7D90-456C-8611-3F78ED265B7F}"/>
              </a:ext>
            </a:extLst>
          </p:cNvPr>
          <p:cNvCxnSpPr>
            <a:cxnSpLocks/>
            <a:endCxn id="45" idx="3"/>
          </p:cNvCxnSpPr>
          <p:nvPr/>
        </p:nvCxnSpPr>
        <p:spPr>
          <a:xfrm rot="10800000" flipV="1">
            <a:off x="4318290" y="4049283"/>
            <a:ext cx="1447864" cy="687798"/>
          </a:xfrm>
          <a:prstGeom prst="bentConnector3">
            <a:avLst>
              <a:gd name="adj1" fmla="val 529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50ED587A-127F-4E52-B1AA-692BA96B298C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330950" y="4053547"/>
            <a:ext cx="1466665" cy="706554"/>
          </a:xfrm>
          <a:prstGeom prst="bentConnector3">
            <a:avLst>
              <a:gd name="adj1" fmla="val 2808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: esquinas superiores redondeadas 25">
            <a:extLst>
              <a:ext uri="{FF2B5EF4-FFF2-40B4-BE49-F238E27FC236}">
                <a16:creationId xmlns:a16="http://schemas.microsoft.com/office/drawing/2014/main" id="{09D3F32D-B75E-438D-AD5F-9F124E1AF2B0}"/>
              </a:ext>
            </a:extLst>
          </p:cNvPr>
          <p:cNvSpPr/>
          <p:nvPr/>
        </p:nvSpPr>
        <p:spPr>
          <a:xfrm rot="5400000">
            <a:off x="8833623" y="-1069286"/>
            <a:ext cx="1602275" cy="4627168"/>
          </a:xfrm>
          <a:prstGeom prst="round2SameRect">
            <a:avLst>
              <a:gd name="adj1" fmla="val 0"/>
              <a:gd name="adj2" fmla="val 1265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BB45622-124B-4BE3-B301-AA33FA1E83B6}"/>
              </a:ext>
            </a:extLst>
          </p:cNvPr>
          <p:cNvSpPr txBox="1"/>
          <p:nvPr/>
        </p:nvSpPr>
        <p:spPr>
          <a:xfrm>
            <a:off x="1831167" y="4125439"/>
            <a:ext cx="2369647" cy="1269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Entender cómo puede influir esta tecnología en nuestra vida, </a:t>
            </a:r>
            <a:r>
              <a:rPr lang="es-CO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nos ayudara a crear conciencia </a:t>
            </a: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las consecuencias sociales y culturales, en un mundo donde todo es blanco o negro.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B81CA9D-2770-4817-AE5F-F2F05982FC2C}"/>
              </a:ext>
            </a:extLst>
          </p:cNvPr>
          <p:cNvSpPr txBox="1"/>
          <p:nvPr/>
        </p:nvSpPr>
        <p:spPr>
          <a:xfrm>
            <a:off x="1923527" y="634688"/>
            <a:ext cx="249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tecnología llego a un punto en el cual el ser humano no puede entender eh identificar un comportamiento adecuado , l</a:t>
            </a:r>
            <a:r>
              <a:rPr lang="es-CO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levando a generar dilemas ético-culturares complejos</a:t>
            </a: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4C5100F-8CB6-4EED-AC3A-DE17B8D5805D}"/>
              </a:ext>
            </a:extLst>
          </p:cNvPr>
          <p:cNvSpPr txBox="1"/>
          <p:nvPr/>
        </p:nvSpPr>
        <p:spPr>
          <a:xfrm>
            <a:off x="7892829" y="4082249"/>
            <a:ext cx="2343037" cy="1762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Podemos encontrarla en empresas a las que aspiras, la información que recibes en espacios publicitarios ,vehículos autónomos, reconocimiento facial, aprobación de créditos entre otros entre otros.</a:t>
            </a:r>
          </a:p>
          <a:p>
            <a:pPr algn="r"/>
            <a:endParaRPr lang="es-CO" sz="1200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EA4E1FD-1138-4C1B-83CC-D627119F6CC3}"/>
              </a:ext>
            </a:extLst>
          </p:cNvPr>
          <p:cNvCxnSpPr>
            <a:stCxn id="46" idx="1"/>
          </p:cNvCxnSpPr>
          <p:nvPr/>
        </p:nvCxnSpPr>
        <p:spPr>
          <a:xfrm flipH="1" flipV="1">
            <a:off x="7439238" y="3015905"/>
            <a:ext cx="406849" cy="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8B135244-BD23-4EF8-8E03-F7EF6CFC20A7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4345912" y="3015905"/>
            <a:ext cx="308167" cy="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570F413F-9A7D-42B6-A204-FBE87111598D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654077" y="1226203"/>
            <a:ext cx="1112077" cy="726884"/>
          </a:xfrm>
          <a:prstGeom prst="bentConnector3">
            <a:avLst>
              <a:gd name="adj1" fmla="val 99335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9DED82B4-E567-4EDE-980C-BA9B93575D8A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6368513" y="1244299"/>
            <a:ext cx="952665" cy="716582"/>
          </a:xfrm>
          <a:prstGeom prst="bentConnector3">
            <a:avLst>
              <a:gd name="adj1" fmla="val 99058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7E1C4F2-542A-4D11-90F5-FBCFEBDF6DFE}"/>
              </a:ext>
            </a:extLst>
          </p:cNvPr>
          <p:cNvSpPr txBox="1"/>
          <p:nvPr/>
        </p:nvSpPr>
        <p:spPr>
          <a:xfrm>
            <a:off x="1874256" y="2520979"/>
            <a:ext cx="2525953" cy="87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¿Es necesario determinar hasta donde pueden intervenir la tecnología en nuestro mundo?, ¿debemos parar?.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FAB1E717-0D1E-483B-AF1E-7E448A2D4C20}"/>
              </a:ext>
            </a:extLst>
          </p:cNvPr>
          <p:cNvSpPr txBox="1"/>
          <p:nvPr/>
        </p:nvSpPr>
        <p:spPr>
          <a:xfrm>
            <a:off x="8172747" y="2423071"/>
            <a:ext cx="2036534" cy="1269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importante llevar a cabo acciones tempranas, porque después las consecuencias son a largo plazo y llegara el momento en el cual el daño sea irreversible. 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95D0521E-0EE9-49CA-BB04-7D6135BCC7B3}"/>
              </a:ext>
            </a:extLst>
          </p:cNvPr>
          <p:cNvGrpSpPr/>
          <p:nvPr/>
        </p:nvGrpSpPr>
        <p:grpSpPr>
          <a:xfrm>
            <a:off x="439251" y="2366419"/>
            <a:ext cx="1317364" cy="1200105"/>
            <a:chOff x="316352" y="2381295"/>
            <a:chExt cx="1317364" cy="1200105"/>
          </a:xfrm>
        </p:grpSpPr>
        <p:pic>
          <p:nvPicPr>
            <p:cNvPr id="71" name="Imagen 70">
              <a:extLst>
                <a:ext uri="{FF2B5EF4-FFF2-40B4-BE49-F238E27FC236}">
                  <a16:creationId xmlns:a16="http://schemas.microsoft.com/office/drawing/2014/main" id="{32907379-03D7-4093-8C0A-C9B430DC41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9" t="10821" r="64891" b="19236"/>
            <a:stretch/>
          </p:blipFill>
          <p:spPr>
            <a:xfrm>
              <a:off x="316352" y="2381295"/>
              <a:ext cx="1317364" cy="1200105"/>
            </a:xfrm>
            <a:prstGeom prst="rect">
              <a:avLst/>
            </a:prstGeom>
          </p:spPr>
        </p:pic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90E9A52F-F438-47AC-B79B-A9842D35ED1E}"/>
                </a:ext>
              </a:extLst>
            </p:cNvPr>
            <p:cNvSpPr/>
            <p:nvPr/>
          </p:nvSpPr>
          <p:spPr>
            <a:xfrm>
              <a:off x="978132" y="2975702"/>
              <a:ext cx="351292" cy="348367"/>
            </a:xfrm>
            <a:prstGeom prst="ellipse">
              <a:avLst/>
            </a:prstGeom>
            <a:solidFill>
              <a:srgbClr val="53F5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2800" b="1" dirty="0"/>
                <a:t>?</a:t>
              </a:r>
            </a:p>
          </p:txBody>
        </p: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C3AED23E-DD38-4BD4-B4E0-6A1CEBDFF3D8}"/>
              </a:ext>
            </a:extLst>
          </p:cNvPr>
          <p:cNvGrpSpPr/>
          <p:nvPr/>
        </p:nvGrpSpPr>
        <p:grpSpPr>
          <a:xfrm>
            <a:off x="439251" y="454923"/>
            <a:ext cx="1313143" cy="1481011"/>
            <a:chOff x="302483" y="497014"/>
            <a:chExt cx="1313143" cy="1481011"/>
          </a:xfrm>
        </p:grpSpPr>
        <p:grpSp>
          <p:nvGrpSpPr>
            <p:cNvPr id="82" name="Grupo 81">
              <a:extLst>
                <a:ext uri="{FF2B5EF4-FFF2-40B4-BE49-F238E27FC236}">
                  <a16:creationId xmlns:a16="http://schemas.microsoft.com/office/drawing/2014/main" id="{3B2686CD-F138-466E-B828-6F3E45499FDE}"/>
                </a:ext>
              </a:extLst>
            </p:cNvPr>
            <p:cNvGrpSpPr/>
            <p:nvPr/>
          </p:nvGrpSpPr>
          <p:grpSpPr>
            <a:xfrm>
              <a:off x="302483" y="497014"/>
              <a:ext cx="1313143" cy="1481011"/>
              <a:chOff x="302483" y="497014"/>
              <a:chExt cx="1313143" cy="1481011"/>
            </a:xfrm>
          </p:grpSpPr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42B8808A-B30E-47FA-97CE-A05677311609}"/>
                  </a:ext>
                </a:extLst>
              </p:cNvPr>
              <p:cNvGrpSpPr/>
              <p:nvPr/>
            </p:nvGrpSpPr>
            <p:grpSpPr>
              <a:xfrm>
                <a:off x="302483" y="497014"/>
                <a:ext cx="1313143" cy="1405669"/>
                <a:chOff x="302483" y="497014"/>
                <a:chExt cx="1313143" cy="1405669"/>
              </a:xfrm>
            </p:grpSpPr>
            <p:pic>
              <p:nvPicPr>
                <p:cNvPr id="67" name="Imagen 66">
                  <a:extLst>
                    <a:ext uri="{FF2B5EF4-FFF2-40B4-BE49-F238E27FC236}">
                      <a16:creationId xmlns:a16="http://schemas.microsoft.com/office/drawing/2014/main" id="{68BBDA30-72C7-42DB-BF65-612A0A3EE5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6180" t="9700" r="36799" b="14889"/>
                <a:stretch/>
              </p:blipFill>
              <p:spPr>
                <a:xfrm>
                  <a:off x="302483" y="497014"/>
                  <a:ext cx="1313143" cy="1405669"/>
                </a:xfrm>
                <a:prstGeom prst="rect">
                  <a:avLst/>
                </a:prstGeom>
              </p:spPr>
            </p:pic>
            <p:sp>
              <p:nvSpPr>
                <p:cNvPr id="73" name="Elipse 72">
                  <a:extLst>
                    <a:ext uri="{FF2B5EF4-FFF2-40B4-BE49-F238E27FC236}">
                      <a16:creationId xmlns:a16="http://schemas.microsoft.com/office/drawing/2014/main" id="{20F0CB86-6F05-473E-944E-B2ADB1E24490}"/>
                    </a:ext>
                  </a:extLst>
                </p:cNvPr>
                <p:cNvSpPr/>
                <p:nvPr/>
              </p:nvSpPr>
              <p:spPr>
                <a:xfrm>
                  <a:off x="897256" y="782062"/>
                  <a:ext cx="154304" cy="155830"/>
                </a:xfrm>
                <a:prstGeom prst="ellipse">
                  <a:avLst/>
                </a:prstGeom>
                <a:solidFill>
                  <a:srgbClr val="53F5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sz="1400" dirty="0"/>
                </a:p>
              </p:txBody>
            </p:sp>
          </p:grpSp>
          <p:sp>
            <p:nvSpPr>
              <p:cNvPr id="79" name="Elipse 78">
                <a:extLst>
                  <a:ext uri="{FF2B5EF4-FFF2-40B4-BE49-F238E27FC236}">
                    <a16:creationId xmlns:a16="http://schemas.microsoft.com/office/drawing/2014/main" id="{627B12D0-1E80-43A5-859F-2632B0BD8E1C}"/>
                  </a:ext>
                </a:extLst>
              </p:cNvPr>
              <p:cNvSpPr/>
              <p:nvPr/>
            </p:nvSpPr>
            <p:spPr>
              <a:xfrm>
                <a:off x="564629" y="1186025"/>
                <a:ext cx="792000" cy="79200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ED8D3561-0F35-485C-821C-F40171DD8363}"/>
                  </a:ext>
                </a:extLst>
              </p:cNvPr>
              <p:cNvCxnSpPr>
                <a:stCxn id="79" idx="7"/>
                <a:endCxn id="79" idx="3"/>
              </p:cNvCxnSpPr>
              <p:nvPr/>
            </p:nvCxnSpPr>
            <p:spPr>
              <a:xfrm flipH="1">
                <a:off x="680615" y="1302011"/>
                <a:ext cx="560028" cy="56002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699AA9C6-F623-4DCD-994A-5D1A5AF288B2}"/>
                </a:ext>
              </a:extLst>
            </p:cNvPr>
            <p:cNvSpPr txBox="1"/>
            <p:nvPr/>
          </p:nvSpPr>
          <p:spPr>
            <a:xfrm>
              <a:off x="826771" y="730838"/>
              <a:ext cx="2952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000" b="1" dirty="0">
                  <a:solidFill>
                    <a:schemeClr val="bg1"/>
                  </a:solidFill>
                </a:rPr>
                <a:t>IA</a:t>
              </a:r>
              <a:endParaRPr lang="es-CO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710A113-5D0E-4DDD-A940-4A031EA59D1E}"/>
              </a:ext>
            </a:extLst>
          </p:cNvPr>
          <p:cNvSpPr txBox="1"/>
          <p:nvPr/>
        </p:nvSpPr>
        <p:spPr>
          <a:xfrm>
            <a:off x="7321224" y="493428"/>
            <a:ext cx="2830889" cy="156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Establecer derechos de intimidad y protección de datos, son vitales para conservar la libertad de asociación y recreación. 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s-CO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También regular las IA en cuanto el crecimiento y los papeles que tomaría en nuestra sociedad </a:t>
            </a:r>
          </a:p>
        </p:txBody>
      </p:sp>
      <p:pic>
        <p:nvPicPr>
          <p:cNvPr id="87" name="Imagen 86">
            <a:extLst>
              <a:ext uri="{FF2B5EF4-FFF2-40B4-BE49-F238E27FC236}">
                <a16:creationId xmlns:a16="http://schemas.microsoft.com/office/drawing/2014/main" id="{E485979F-84B2-4992-A3E0-E497541772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782" y="4271147"/>
            <a:ext cx="1054086" cy="1054086"/>
          </a:xfrm>
          <a:prstGeom prst="rect">
            <a:avLst/>
          </a:prstGeom>
        </p:spPr>
      </p:pic>
      <p:pic>
        <p:nvPicPr>
          <p:cNvPr id="95" name="Imagen 94">
            <a:extLst>
              <a:ext uri="{FF2B5EF4-FFF2-40B4-BE49-F238E27FC236}">
                <a16:creationId xmlns:a16="http://schemas.microsoft.com/office/drawing/2014/main" id="{7173FDC8-D5AA-4DBC-B34B-F74FA8C1DA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941" y="2521809"/>
            <a:ext cx="1072464" cy="1090337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9B3FF5B6-A4D7-40DF-98FE-884A1B2214C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9" r="19769"/>
          <a:stretch/>
        </p:blipFill>
        <p:spPr>
          <a:xfrm>
            <a:off x="10339978" y="670987"/>
            <a:ext cx="1460933" cy="1258497"/>
          </a:xfrm>
          <a:prstGeom prst="rect">
            <a:avLst/>
          </a:prstGeom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73C08820-DD8B-4C22-A123-8534141130C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41"/>
          <a:stretch/>
        </p:blipFill>
        <p:spPr>
          <a:xfrm>
            <a:off x="301425" y="4038054"/>
            <a:ext cx="1572831" cy="135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541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365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Steven Orozco 朱雀</dc:creator>
  <cp:lastModifiedBy>Steven Orozco 朱雀</cp:lastModifiedBy>
  <cp:revision>33</cp:revision>
  <dcterms:created xsi:type="dcterms:W3CDTF">2021-03-07T21:52:10Z</dcterms:created>
  <dcterms:modified xsi:type="dcterms:W3CDTF">2021-03-13T08:31:33Z</dcterms:modified>
</cp:coreProperties>
</file>