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5" r:id="rId7"/>
    <p:sldId id="270" r:id="rId8"/>
    <p:sldId id="271" r:id="rId9"/>
    <p:sldId id="275" r:id="rId10"/>
    <p:sldId id="274" r:id="rId11"/>
    <p:sldId id="273" r:id="rId12"/>
    <p:sldId id="272" r:id="rId13"/>
    <p:sldId id="276" r:id="rId14"/>
    <p:sldId id="277" r:id="rId15"/>
    <p:sldId id="278" r:id="rId16"/>
    <p:sldId id="279" r:id="rId17"/>
    <p:sldId id="280" r:id="rId18"/>
    <p:sldId id="260" r:id="rId19"/>
    <p:sldId id="264" r:id="rId2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B6D"/>
    <a:srgbClr val="1B1C6E"/>
    <a:srgbClr val="646464"/>
    <a:srgbClr val="F8BB0A"/>
    <a:srgbClr val="F9BC0C"/>
    <a:srgbClr val="FABB0C"/>
    <a:srgbClr val="323237"/>
    <a:srgbClr val="494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2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216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10/04/26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1680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10/04/26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453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10/04/26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5316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10/04/26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587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10/04/26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7590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10/04/26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892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10/04/26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5188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10/04/26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6967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10/04/26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511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10/04/26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7004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10/04/26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988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3F835-98FB-4C58-B9B5-425877DC01BC}" type="datetimeFigureOut">
              <a:rPr lang="es-CO" smtClean="0"/>
              <a:t>10/04/26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0175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87236" y="2572789"/>
            <a:ext cx="9144000" cy="856211"/>
          </a:xfrm>
        </p:spPr>
        <p:txBody>
          <a:bodyPr>
            <a:normAutofit/>
          </a:bodyPr>
          <a:lstStyle/>
          <a:p>
            <a:r>
              <a:rPr lang="es-CO" sz="5000" b="1" dirty="0">
                <a:solidFill>
                  <a:srgbClr val="1B1B6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Liderazgo y Negociación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525192"/>
            <a:ext cx="9144000" cy="501536"/>
          </a:xfrm>
        </p:spPr>
        <p:txBody>
          <a:bodyPr>
            <a:noAutofit/>
          </a:bodyPr>
          <a:lstStyle/>
          <a:p>
            <a:r>
              <a:rPr lang="es-ES" sz="1000" dirty="0">
                <a:solidFill>
                  <a:srgbClr val="646464"/>
                </a:solidFill>
                <a:latin typeface="Ubuntu" panose="020B0504030602030204" pitchFamily="34" charset="0"/>
              </a:rPr>
              <a:t>Esta Plantilla de Presentación Institucional, desarrollada por la Oficina de Comunicaciones de la Institución Universitaria Escolme, establece </a:t>
            </a:r>
            <a:r>
              <a:rPr lang="es-ES" sz="1000" b="1" dirty="0">
                <a:solidFill>
                  <a:srgbClr val="646464"/>
                </a:solidFill>
                <a:latin typeface="Ubuntu" panose="020B0504030602030204" pitchFamily="34" charset="0"/>
              </a:rPr>
              <a:t>lineamientos visuales y estructurales unificados para las presentaciones oficiales</a:t>
            </a:r>
            <a:r>
              <a:rPr lang="es-ES" sz="1000" dirty="0">
                <a:solidFill>
                  <a:srgbClr val="646464"/>
                </a:solidFill>
                <a:latin typeface="Ubuntu" panose="020B0504030602030204" pitchFamily="34" charset="0"/>
              </a:rPr>
              <a:t>. Su uso garantiza coherencia con la identidad institucional y asegura una comunicación clara, profesional y alineada con la imagen de la Institución.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5934638-8ECE-7641-6875-850EB76329A3}"/>
              </a:ext>
            </a:extLst>
          </p:cNvPr>
          <p:cNvSpPr txBox="1"/>
          <p:nvPr/>
        </p:nvSpPr>
        <p:spPr>
          <a:xfrm>
            <a:off x="7827819" y="4042756"/>
            <a:ext cx="32558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>
                <a:solidFill>
                  <a:srgbClr val="646464"/>
                </a:solidFill>
                <a:latin typeface="Ubuntu" panose="020B0504030602030204" pitchFamily="34" charset="0"/>
              </a:rPr>
              <a:t>Por </a:t>
            </a:r>
          </a:p>
          <a:p>
            <a:pPr algn="ctr"/>
            <a:r>
              <a:rPr lang="es-ES" sz="1400" dirty="0">
                <a:solidFill>
                  <a:srgbClr val="646464"/>
                </a:solidFill>
                <a:latin typeface="Ubuntu" panose="020B0504030602030204" pitchFamily="34" charset="0"/>
              </a:rPr>
              <a:t>Andrea Bustamante</a:t>
            </a:r>
          </a:p>
          <a:p>
            <a:pPr algn="ctr"/>
            <a:r>
              <a:rPr lang="es-ES" sz="1400" u="sng" dirty="0" err="1">
                <a:solidFill>
                  <a:srgbClr val="646464"/>
                </a:solidFill>
                <a:latin typeface="Ubuntu" panose="020B0504030602030204" pitchFamily="34" charset="0"/>
              </a:rPr>
              <a:t>jabustamantes@escolme.edu.co</a:t>
            </a:r>
            <a:endParaRPr lang="es-CO" sz="1400" u="sng" dirty="0"/>
          </a:p>
        </p:txBody>
      </p:sp>
    </p:spTree>
    <p:extLst>
      <p:ext uri="{BB962C8B-B14F-4D97-AF65-F5344CB8AC3E}">
        <p14:creationId xmlns:p14="http://schemas.microsoft.com/office/powerpoint/2010/main" val="291890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92004" y="1648691"/>
            <a:ext cx="3932237" cy="723207"/>
          </a:xfrm>
        </p:spPr>
        <p:txBody>
          <a:bodyPr>
            <a:normAutofit fontScale="90000"/>
          </a:bodyPr>
          <a:lstStyle/>
          <a:p>
            <a:pPr algn="l"/>
            <a:r>
              <a:rPr lang="es-CO" sz="5000" b="1" dirty="0">
                <a:solidFill>
                  <a:srgbClr val="1B1B6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Temática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896411" y="2880592"/>
            <a:ext cx="10399178" cy="232871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CO" b="1" dirty="0">
                <a:solidFill>
                  <a:srgbClr val="002060"/>
                </a:solidFill>
                <a:latin typeface="Arial,Bold"/>
              </a:rPr>
              <a:t>Unidad 1: Conceptos generales de Liderazgo </a:t>
            </a:r>
          </a:p>
          <a:p>
            <a:pPr>
              <a:lnSpc>
                <a:spcPct val="100000"/>
              </a:lnSpc>
            </a:pPr>
            <a:r>
              <a:rPr lang="es-CO" b="1" dirty="0">
                <a:solidFill>
                  <a:srgbClr val="002060"/>
                </a:solidFill>
                <a:latin typeface="Arial,Bold"/>
              </a:rPr>
              <a:t>Unidad 2: Liderazgo Gerencial</a:t>
            </a:r>
            <a:endParaRPr lang="es-CO" b="1" dirty="0">
              <a:solidFill>
                <a:srgbClr val="002060"/>
              </a:solidFill>
            </a:endParaRPr>
          </a:p>
          <a:p>
            <a:pPr>
              <a:lnSpc>
                <a:spcPct val="100000"/>
              </a:lnSpc>
            </a:pPr>
            <a:r>
              <a:rPr lang="es-CO" b="1" dirty="0">
                <a:solidFill>
                  <a:srgbClr val="002060"/>
                </a:solidFill>
                <a:latin typeface="Arial,Bold"/>
              </a:rPr>
              <a:t>Unidad 3: </a:t>
            </a:r>
            <a:r>
              <a:rPr lang="es-CO" b="1" dirty="0">
                <a:solidFill>
                  <a:srgbClr val="002060"/>
                </a:solidFill>
              </a:rPr>
              <a:t>Liderazgo Personal</a:t>
            </a:r>
          </a:p>
          <a:p>
            <a:pPr>
              <a:lnSpc>
                <a:spcPct val="100000"/>
              </a:lnSpc>
            </a:pPr>
            <a:r>
              <a:rPr lang="es-CO" b="1" dirty="0">
                <a:solidFill>
                  <a:srgbClr val="002060"/>
                </a:solidFill>
                <a:latin typeface="Arial,Bold"/>
              </a:rPr>
              <a:t>Unidad 4: </a:t>
            </a:r>
            <a:r>
              <a:rPr lang="es-CO" b="1" dirty="0">
                <a:solidFill>
                  <a:srgbClr val="002060"/>
                </a:solidFill>
              </a:rPr>
              <a:t>Negociación y coaching</a:t>
            </a:r>
          </a:p>
        </p:txBody>
      </p:sp>
    </p:spTree>
    <p:extLst>
      <p:ext uri="{BB962C8B-B14F-4D97-AF65-F5344CB8AC3E}">
        <p14:creationId xmlns:p14="http://schemas.microsoft.com/office/powerpoint/2010/main" val="1630036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84382" y="3034433"/>
            <a:ext cx="10515600" cy="1747429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CO" b="1" dirty="0">
                <a:solidFill>
                  <a:schemeClr val="bg1"/>
                </a:solidFill>
                <a:latin typeface="Arial,Bold"/>
              </a:rPr>
              <a:t>Unidad 1: </a:t>
            </a:r>
            <a:br>
              <a:rPr lang="es-CO" b="1" dirty="0">
                <a:solidFill>
                  <a:schemeClr val="bg1"/>
                </a:solidFill>
                <a:latin typeface="Arial,Bold"/>
              </a:rPr>
            </a:br>
            <a:r>
              <a:rPr lang="es-CO" b="1" dirty="0">
                <a:solidFill>
                  <a:schemeClr val="bg1"/>
                </a:solidFill>
                <a:latin typeface="Arial,Bold"/>
              </a:rPr>
              <a:t>Conceptos generales de Liderazgo</a:t>
            </a:r>
            <a:br>
              <a:rPr lang="es-CO" b="1" dirty="0">
                <a:solidFill>
                  <a:schemeClr val="bg1"/>
                </a:solidFill>
                <a:latin typeface="Arial,Bold"/>
              </a:rPr>
            </a:br>
            <a:r>
              <a:rPr lang="es-CO" sz="2000" b="1" dirty="0">
                <a:solidFill>
                  <a:schemeClr val="bg1"/>
                </a:solidFill>
                <a:latin typeface="Arial,Bold"/>
              </a:rPr>
              <a:t>https://</a:t>
            </a:r>
            <a:r>
              <a:rPr lang="es-CO" sz="2000" b="1" dirty="0" err="1">
                <a:solidFill>
                  <a:schemeClr val="bg1"/>
                </a:solidFill>
                <a:latin typeface="Arial,Bold"/>
              </a:rPr>
              <a:t>www.youtube.com</a:t>
            </a:r>
            <a:r>
              <a:rPr lang="es-CO" sz="2000" b="1" dirty="0">
                <a:solidFill>
                  <a:schemeClr val="bg1"/>
                </a:solidFill>
                <a:latin typeface="Arial,Bold"/>
              </a:rPr>
              <a:t>/</a:t>
            </a:r>
            <a:r>
              <a:rPr lang="es-CO" sz="2000" b="1" dirty="0" err="1">
                <a:solidFill>
                  <a:schemeClr val="bg1"/>
                </a:solidFill>
                <a:latin typeface="Arial,Bold"/>
              </a:rPr>
              <a:t>watch?v</a:t>
            </a:r>
            <a:r>
              <a:rPr lang="es-CO" sz="2000" b="1" dirty="0">
                <a:solidFill>
                  <a:schemeClr val="bg1"/>
                </a:solidFill>
                <a:latin typeface="Arial,Bold"/>
              </a:rPr>
              <a:t>=jW5KN4Kvpw0 </a:t>
            </a:r>
            <a:endParaRPr lang="es-CO" b="1" dirty="0">
              <a:solidFill>
                <a:schemeClr val="bg1"/>
              </a:solidFill>
              <a:latin typeface="Arial,Bold"/>
            </a:endParaRPr>
          </a:p>
        </p:txBody>
      </p:sp>
    </p:spTree>
    <p:extLst>
      <p:ext uri="{BB962C8B-B14F-4D97-AF65-F5344CB8AC3E}">
        <p14:creationId xmlns:p14="http://schemas.microsoft.com/office/powerpoint/2010/main" val="366384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7864764" y="1055111"/>
            <a:ext cx="3759200" cy="1034184"/>
          </a:xfrm>
        </p:spPr>
        <p:txBody>
          <a:bodyPr>
            <a:normAutofit/>
          </a:bodyPr>
          <a:lstStyle/>
          <a:p>
            <a:r>
              <a:rPr lang="es-CO" sz="3000" b="1" dirty="0">
                <a:solidFill>
                  <a:srgbClr val="1B1C6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Conceptualización</a:t>
            </a:r>
          </a:p>
        </p:txBody>
      </p:sp>
      <p:pic>
        <p:nvPicPr>
          <p:cNvPr id="2" name="Marcador de contenido 1">
            <a:extLst>
              <a:ext uri="{FF2B5EF4-FFF2-40B4-BE49-F238E27FC236}">
                <a16:creationId xmlns:a16="http://schemas.microsoft.com/office/drawing/2014/main" id="{E1C3ADA4-4402-BCFF-6191-ACE4BC8C2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80148" y="2216726"/>
            <a:ext cx="5180013" cy="358616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4A7F6F1-B315-6FF1-A9B3-26A6160091A3}"/>
              </a:ext>
            </a:extLst>
          </p:cNvPr>
          <p:cNvSpPr txBox="1"/>
          <p:nvPr/>
        </p:nvSpPr>
        <p:spPr>
          <a:xfrm>
            <a:off x="431839" y="241333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CO" sz="1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¿Qué es liderazgo? </a:t>
            </a:r>
          </a:p>
          <a:p>
            <a:pPr algn="ctr">
              <a:buNone/>
            </a:pPr>
            <a:r>
              <a:rPr lang="es-CO" sz="1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¿Quién es un líder? </a:t>
            </a:r>
          </a:p>
          <a:p>
            <a:pPr algn="ctr">
              <a:buNone/>
            </a:pPr>
            <a:r>
              <a:rPr lang="es-CO" sz="1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¿Cómo identificarlo? </a:t>
            </a:r>
          </a:p>
          <a:p>
            <a:pPr algn="ctr">
              <a:buNone/>
            </a:pPr>
            <a:r>
              <a:rPr lang="es-CO" sz="1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¿Qué diferencias existen entre un jefe y un líder? </a:t>
            </a:r>
          </a:p>
          <a:p>
            <a:pPr algn="ctr">
              <a:buNone/>
            </a:pPr>
            <a:r>
              <a:rPr lang="es-CO" sz="1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¿Puede un jefe ser un líder? </a:t>
            </a:r>
          </a:p>
          <a:p>
            <a:pPr algn="ctr">
              <a:buNone/>
            </a:pPr>
            <a:r>
              <a:rPr lang="es-CO" sz="1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¿Todos los lideres deben ser jefes? </a:t>
            </a:r>
          </a:p>
          <a:p>
            <a:pPr algn="ctr">
              <a:buNone/>
            </a:pPr>
            <a:r>
              <a:rPr lang="es-CO" sz="1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¿Todos los jefes deben ser lideres? </a:t>
            </a:r>
            <a:endParaRPr lang="es-CO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476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0A252C5-EC1F-7F6F-76BD-A111D7B139E4}"/>
              </a:ext>
            </a:extLst>
          </p:cNvPr>
          <p:cNvSpPr txBox="1"/>
          <p:nvPr/>
        </p:nvSpPr>
        <p:spPr>
          <a:xfrm>
            <a:off x="1860271" y="4820811"/>
            <a:ext cx="5501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>
                <a:solidFill>
                  <a:srgbClr val="FF0000"/>
                </a:solidFill>
              </a:rPr>
              <a:t>https://</a:t>
            </a:r>
            <a:r>
              <a:rPr lang="es-CO" b="1" dirty="0" err="1">
                <a:solidFill>
                  <a:srgbClr val="FF0000"/>
                </a:solidFill>
              </a:rPr>
              <a:t>www.youtube.com</a:t>
            </a:r>
            <a:r>
              <a:rPr lang="es-CO" b="1" dirty="0">
                <a:solidFill>
                  <a:srgbClr val="FF0000"/>
                </a:solidFill>
              </a:rPr>
              <a:t>/</a:t>
            </a:r>
            <a:r>
              <a:rPr lang="es-CO" b="1" dirty="0" err="1">
                <a:solidFill>
                  <a:srgbClr val="FF0000"/>
                </a:solidFill>
              </a:rPr>
              <a:t>watch?v</a:t>
            </a:r>
            <a:r>
              <a:rPr lang="es-CO" b="1" dirty="0">
                <a:solidFill>
                  <a:srgbClr val="FF0000"/>
                </a:solidFill>
              </a:rPr>
              <a:t>=UBMYA0ZjtxU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94FF470-6BF9-55D0-36B1-E43487078DA6}"/>
              </a:ext>
            </a:extLst>
          </p:cNvPr>
          <p:cNvSpPr txBox="1"/>
          <p:nvPr/>
        </p:nvSpPr>
        <p:spPr>
          <a:xfrm>
            <a:off x="189084" y="1894999"/>
            <a:ext cx="717300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liderazgo es la capacidad de influir, guiar y motivar a otras personas para alcanzar objetivos comunes. No se trata solo de “mandar”, sino de inspirar, tomar decisiones, generar confianza y sacar lo mejor de un equipo.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908C958-A98E-A733-6004-04825CA16E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48"/>
          <a:stretch>
            <a:fillRect/>
          </a:stretch>
        </p:blipFill>
        <p:spPr>
          <a:xfrm>
            <a:off x="7362092" y="874265"/>
            <a:ext cx="3315179" cy="530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1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C40D72E-EE34-679B-B120-CCA5836DA777}"/>
              </a:ext>
            </a:extLst>
          </p:cNvPr>
          <p:cNvSpPr txBox="1"/>
          <p:nvPr/>
        </p:nvSpPr>
        <p:spPr>
          <a:xfrm>
            <a:off x="940191" y="2154482"/>
            <a:ext cx="10311618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CO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CO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liderazgo comienza cuando decides ser la inspiración que buscas en otros.”</a:t>
            </a:r>
          </a:p>
          <a:p>
            <a:pPr algn="ctr">
              <a:buNone/>
            </a:pPr>
            <a:endParaRPr lang="es-CO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s-CO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www.youtube.com</a:t>
            </a: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CO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watch?v</a:t>
            </a: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=atjonjXCGh0</a:t>
            </a:r>
          </a:p>
        </p:txBody>
      </p:sp>
    </p:spTree>
    <p:extLst>
      <p:ext uri="{BB962C8B-B14F-4D97-AF65-F5344CB8AC3E}">
        <p14:creationId xmlns:p14="http://schemas.microsoft.com/office/powerpoint/2010/main" val="146325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D0130-0ED2-0885-B14F-51FBE6304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F2FE2C5A-55C4-0523-FA32-D4D2B3137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65441FF-DAEE-C8AB-68C6-9CD045DD3626}"/>
              </a:ext>
            </a:extLst>
          </p:cNvPr>
          <p:cNvSpPr txBox="1"/>
          <p:nvPr/>
        </p:nvSpPr>
        <p:spPr>
          <a:xfrm>
            <a:off x="2423298" y="3004450"/>
            <a:ext cx="156254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Arte de guiar a las personas para que trabajen con entusiasmo hacia una meta común.</a:t>
            </a:r>
          </a:p>
          <a:p>
            <a:pPr algn="just"/>
            <a:endParaRPr lang="es-CO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FCA993-D9D0-4B3B-3C9A-BD8A232B31C7}"/>
              </a:ext>
            </a:extLst>
          </p:cNvPr>
          <p:cNvSpPr txBox="1"/>
          <p:nvPr/>
        </p:nvSpPr>
        <p:spPr>
          <a:xfrm>
            <a:off x="8952079" y="3886718"/>
            <a:ext cx="30539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lang="es-CO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se trata solo de mandar o dirigir, sino de </a:t>
            </a: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construir una visión compartida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tomar decisiones estratégicas y fomentar el crecimiento de quienes forman parte del grupo.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FDE3CA6-E7C9-31E0-39EB-FC8704ABEA36}"/>
              </a:ext>
            </a:extLst>
          </p:cNvPr>
          <p:cNvSpPr txBox="1"/>
          <p:nvPr/>
        </p:nvSpPr>
        <p:spPr>
          <a:xfrm>
            <a:off x="3783378" y="438752"/>
            <a:ext cx="52199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Capacidad de influir, guiar, motivar e inspirar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otras personas o equipos para alcanzar objetivos comunes, generando confianza, compromiso y desarrollo tanto individual como colectivo.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122AC89-32FE-3347-22BD-BBB62C6B1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629" y="1802137"/>
            <a:ext cx="2552633" cy="503203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99F556C-4A9E-C8E0-6CFF-61A9A8BC9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584" y="2405842"/>
            <a:ext cx="3765783" cy="38246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888C254-89F8-D2CD-E56B-182738D8C1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8065" y="199477"/>
            <a:ext cx="3053936" cy="368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40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90C970-79E6-65CF-D242-DBEE063F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262B0B2-3655-822E-E4BC-12538590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CC45F6D-D811-BF93-1917-65E49FE9D5DD}"/>
              </a:ext>
            </a:extLst>
          </p:cNvPr>
          <p:cNvSpPr txBox="1"/>
          <p:nvPr/>
        </p:nvSpPr>
        <p:spPr>
          <a:xfrm>
            <a:off x="298337" y="1736679"/>
            <a:ext cx="116826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de rasgos: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 líder “nace” con ciertas cualidades (carisma, seguridad). </a:t>
            </a:r>
          </a:p>
          <a:p>
            <a:pPr algn="just"/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conductual: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 liderazgo se basa en comportamientos (cómo actúa el líder). </a:t>
            </a:r>
          </a:p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situacional: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 líder se adapta según el equipo y el contexto. </a:t>
            </a:r>
          </a:p>
          <a:p>
            <a:pPr algn="just"/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transformacional: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 líder inspira cambios y desarrollo en las personas. </a:t>
            </a:r>
          </a:p>
          <a:p>
            <a:pPr algn="just"/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transaccional: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basa en recompensas y cumplimiento de tareas.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D6A9570-5B9B-C9CA-6030-4344423A22CB}"/>
              </a:ext>
            </a:extLst>
          </p:cNvPr>
          <p:cNvSpPr txBox="1"/>
          <p:nvPr/>
        </p:nvSpPr>
        <p:spPr>
          <a:xfrm>
            <a:off x="6916616" y="596776"/>
            <a:ext cx="50643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Enfoques principales</a:t>
            </a:r>
            <a:endParaRPr lang="es-CO" sz="3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3D84BAA-F339-E8AF-92AF-A52CBBCBF055}"/>
              </a:ext>
            </a:extLst>
          </p:cNvPr>
          <p:cNvSpPr txBox="1"/>
          <p:nvPr/>
        </p:nvSpPr>
        <p:spPr>
          <a:xfrm>
            <a:off x="1969477" y="6076558"/>
            <a:ext cx="8253046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CO" sz="1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Hoy en día, el liderazgo más efectivo mezcla varios enfoques</a:t>
            </a: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577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C5EF9-5F8B-9261-323F-48697B30C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600630FE-1389-C0BB-CDC2-E6300EA48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62AE164-227F-F72B-1AB3-AE3515D8BADE}"/>
              </a:ext>
            </a:extLst>
          </p:cNvPr>
          <p:cNvSpPr txBox="1"/>
          <p:nvPr/>
        </p:nvSpPr>
        <p:spPr>
          <a:xfrm>
            <a:off x="257211" y="1904040"/>
            <a:ext cx="66828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CO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Autoritario: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decisiones rápidas, útil en crisis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Democrático: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fomenta participación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Laissez-faire: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autonomía total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Transformacional: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inspira y desarrolla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Transaccional: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enfocado en resultados y recompensas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Situacional: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adapta su estilo según la persona y el momento.</a:t>
            </a:r>
          </a:p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DD39BA9-7917-9EFD-D326-168D70165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815" y="1"/>
            <a:ext cx="5068185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C4F67C1-DB8A-2435-982C-7731BE72A9D7}"/>
              </a:ext>
            </a:extLst>
          </p:cNvPr>
          <p:cNvSpPr txBox="1"/>
          <p:nvPr/>
        </p:nvSpPr>
        <p:spPr>
          <a:xfrm>
            <a:off x="7737231" y="153812"/>
            <a:ext cx="4171507" cy="584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O" sz="3200" b="1" dirty="0">
                <a:latin typeface="Arial" panose="020B0604020202020204" pitchFamily="34" charset="0"/>
                <a:cs typeface="Arial" panose="020B0604020202020204" pitchFamily="34" charset="0"/>
              </a:rPr>
              <a:t>Estilos de liderazgo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8FA6454-93F6-36F3-3E91-CAB663B57D67}"/>
              </a:ext>
            </a:extLst>
          </p:cNvPr>
          <p:cNvSpPr txBox="1"/>
          <p:nvPr/>
        </p:nvSpPr>
        <p:spPr>
          <a:xfrm>
            <a:off x="1463040" y="5228422"/>
            <a:ext cx="10189698" cy="10772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CO" sz="32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 estilo tiene su momento. </a:t>
            </a:r>
          </a:p>
          <a:p>
            <a:pPr algn="ctr"/>
            <a:r>
              <a:rPr lang="es-CO" sz="32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buen líder sabe cuándo usar cada uno</a:t>
            </a:r>
            <a:r>
              <a:rPr lang="es-CO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8153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96BFC-24C4-8432-DC4F-43596D2C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AC194BDA-2BF2-60C5-E1FE-9203411E4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017418D-A67D-6E73-054D-1868F5A0902B}"/>
              </a:ext>
            </a:extLst>
          </p:cNvPr>
          <p:cNvSpPr txBox="1"/>
          <p:nvPr/>
        </p:nvSpPr>
        <p:spPr>
          <a:xfrm>
            <a:off x="274891" y="1718208"/>
            <a:ext cx="1080937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líder no solo nace, también se forma.</a:t>
            </a:r>
          </a:p>
          <a:p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Habilidades clave:</a:t>
            </a:r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Comunicación efectiva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Toma de decisiones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Resolución de conflictos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Inteligencia emocional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Motivación de equipos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Pensamiento estratégico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Delegación </a:t>
            </a:r>
          </a:p>
          <a:p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habilidad más poderosa hoy: saber conectar con las personas</a:t>
            </a:r>
            <a:r>
              <a:rPr lang="es-CO" dirty="0"/>
              <a:t>.</a:t>
            </a:r>
          </a:p>
          <a:p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1E6155F-C4E9-826E-CB9F-3F194210B63E}"/>
              </a:ext>
            </a:extLst>
          </p:cNvPr>
          <p:cNvSpPr txBox="1"/>
          <p:nvPr/>
        </p:nvSpPr>
        <p:spPr>
          <a:xfrm>
            <a:off x="6775939" y="386223"/>
            <a:ext cx="5017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600" b="1" dirty="0">
                <a:solidFill>
                  <a:srgbClr val="1B1C6E"/>
                </a:solidFill>
              </a:rPr>
              <a:t>Habilidades del liderazgo</a:t>
            </a:r>
          </a:p>
        </p:txBody>
      </p:sp>
    </p:spTree>
    <p:extLst>
      <p:ext uri="{BB962C8B-B14F-4D97-AF65-F5344CB8AC3E}">
        <p14:creationId xmlns:p14="http://schemas.microsoft.com/office/powerpoint/2010/main" val="3731698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5316D-5549-88DE-D774-1FAAB54C1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A2EDE354-1604-BA36-098A-90138DC3E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45F1408-7387-F48A-A1FE-528754A1BF7F}"/>
              </a:ext>
            </a:extLst>
          </p:cNvPr>
          <p:cNvSpPr txBox="1"/>
          <p:nvPr/>
        </p:nvSpPr>
        <p:spPr>
          <a:xfrm>
            <a:off x="5312609" y="1628883"/>
            <a:ext cx="52822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(</a:t>
            </a:r>
            <a:r>
              <a:rPr lang="es-CO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r>
              <a:rPr lang="es-CO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Planifica, organiza, controla procesos. Se enfoca en eficiencia.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DC04AF7-46AE-7C27-9DF6-09CDD62E9969}"/>
              </a:ext>
            </a:extLst>
          </p:cNvPr>
          <p:cNvSpPr txBox="1"/>
          <p:nvPr/>
        </p:nvSpPr>
        <p:spPr>
          <a:xfrm>
            <a:off x="7405140" y="545787"/>
            <a:ext cx="46238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4000" b="1" dirty="0">
                <a:solidFill>
                  <a:srgbClr val="1B1B6D"/>
                </a:solidFill>
              </a:rPr>
              <a:t>Gestión y liderazgo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25B0DC2-AA65-1490-CD78-0B8C2E6F495B}"/>
              </a:ext>
            </a:extLst>
          </p:cNvPr>
          <p:cNvSpPr txBox="1"/>
          <p:nvPr/>
        </p:nvSpPr>
        <p:spPr>
          <a:xfrm>
            <a:off x="2173669" y="5548651"/>
            <a:ext cx="8628185" cy="95410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s-CO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“La gestión hace que las cosas funcionen, el liderazgo hace que las personas quieran hacerlas.”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B9F0B0D-C6F7-4294-A502-EB226C6B26A3}"/>
              </a:ext>
            </a:extLst>
          </p:cNvPr>
          <p:cNvSpPr txBox="1"/>
          <p:nvPr/>
        </p:nvSpPr>
        <p:spPr>
          <a:xfrm>
            <a:off x="5519646" y="3788446"/>
            <a:ext cx="52822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Liderazgo:</a:t>
            </a: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Inspira, motiva, genera visión. Se enfoca en las personas.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4797C95-2E20-BE06-B905-2A1E22CA3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16" y="1613612"/>
            <a:ext cx="4394808" cy="380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239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A266C8-20A8-4BAD-984C-7D8BEC690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765221C1-74F2-F4C6-843B-CCB452B86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C1484D5-DC9A-976C-011F-578A2D984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812" y="666274"/>
            <a:ext cx="9146998" cy="589535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11EF81B-7410-E15E-D45F-B4392DB2040E}"/>
              </a:ext>
            </a:extLst>
          </p:cNvPr>
          <p:cNvSpPr txBox="1"/>
          <p:nvPr/>
        </p:nvSpPr>
        <p:spPr>
          <a:xfrm>
            <a:off x="5922722" y="415819"/>
            <a:ext cx="5559744" cy="120032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No es lo mismo jefe que líder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Un jefe: ordena </a:t>
            </a:r>
          </a:p>
          <a:p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Un líder: guía e inspira </a:t>
            </a:r>
          </a:p>
        </p:txBody>
      </p:sp>
    </p:spTree>
    <p:extLst>
      <p:ext uri="{BB962C8B-B14F-4D97-AF65-F5344CB8AC3E}">
        <p14:creationId xmlns:p14="http://schemas.microsoft.com/office/powerpoint/2010/main" val="3570231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B1564-9EA2-D4AA-134A-6F93376EE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41FB246-BBE8-31C9-0EBE-BC4DC2D42DC2}"/>
              </a:ext>
            </a:extLst>
          </p:cNvPr>
          <p:cNvSpPr txBox="1"/>
          <p:nvPr/>
        </p:nvSpPr>
        <p:spPr>
          <a:xfrm>
            <a:off x="169889" y="2723425"/>
            <a:ext cx="1202211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¿Quién es un líder?</a:t>
            </a:r>
          </a:p>
          <a:p>
            <a:pPr algn="ctr"/>
            <a:r>
              <a:rPr lang="es-CO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s-CO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www.youtube.com</a:t>
            </a:r>
            <a:r>
              <a:rPr lang="es-CO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CO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watch?v</a:t>
            </a:r>
            <a:r>
              <a:rPr lang="es-CO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=ByJ5THW9V_s</a:t>
            </a:r>
          </a:p>
        </p:txBody>
      </p:sp>
    </p:spTree>
    <p:extLst>
      <p:ext uri="{BB962C8B-B14F-4D97-AF65-F5344CB8AC3E}">
        <p14:creationId xmlns:p14="http://schemas.microsoft.com/office/powerpoint/2010/main" val="579872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60565-8F58-6855-7542-AD462486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36D4A91-BD94-092D-E4AE-8ABFCDDE9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05A0EAA-D2A5-C774-C314-7DE8E6785B2C}"/>
              </a:ext>
            </a:extLst>
          </p:cNvPr>
          <p:cNvSpPr txBox="1"/>
          <p:nvPr/>
        </p:nvSpPr>
        <p:spPr>
          <a:xfrm>
            <a:off x="208395" y="1951672"/>
            <a:ext cx="1152890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líder se reconoce más por su comportamiento que por su título: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personas lo escuchan y lo siguen voluntariamente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 confianza y respeto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ejemplo con sus acciones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Sabe comunicar y escuchar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 incluso en momentos difíciles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Influye en resultados y en el ambiente del equipo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gente quiere trabajar con él/ella, no solo por obligación…</a:t>
            </a:r>
            <a:endParaRPr lang="es-CO" sz="2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80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47028-BA89-05BB-259D-5D2010CF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5539BC62-5496-EBDA-A495-0192C82FD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AA14EBC-3CCF-CAFF-3654-D01EA9A01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0"/>
            <a:ext cx="10728959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EFD68E1-2E7F-C961-7353-878C6C426F7B}"/>
              </a:ext>
            </a:extLst>
          </p:cNvPr>
          <p:cNvSpPr txBox="1"/>
          <p:nvPr/>
        </p:nvSpPr>
        <p:spPr>
          <a:xfrm>
            <a:off x="314793" y="4769822"/>
            <a:ext cx="8199619" cy="132343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líder es aquella persona que inspira, orienta y moviliza a otros hacia una meta, logrando que den lo mejor de sí.</a:t>
            </a:r>
          </a:p>
          <a:p>
            <a:pPr algn="ctr"/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necesariamente es quien manda, sino quien </a:t>
            </a: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impacta positivamente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los demás.</a:t>
            </a:r>
          </a:p>
        </p:txBody>
      </p:sp>
    </p:spTree>
    <p:extLst>
      <p:ext uri="{BB962C8B-B14F-4D97-AF65-F5344CB8AC3E}">
        <p14:creationId xmlns:p14="http://schemas.microsoft.com/office/powerpoint/2010/main" val="3826050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1AC657-B07E-C051-75A8-C5CF2BEB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2D53C71-817E-5649-A608-3BAB72BC0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306B1D1-ECF7-F2E2-7C32-F285E3918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762383"/>
              </p:ext>
            </p:extLst>
          </p:nvPr>
        </p:nvGraphicFramePr>
        <p:xfrm>
          <a:off x="1099607" y="2219294"/>
          <a:ext cx="10515600" cy="2743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5843453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273419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Líder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598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Impone autoridad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Inspira confianza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141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 órdenes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Guía y orienta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654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enfoca en tareas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enfoca en personas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621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Desarrolla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869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Busca obediencia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 compromiso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0177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5A40DFFF-E724-0738-7E05-9B976C96E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169" y="689109"/>
            <a:ext cx="4867038" cy="461665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El jefe dirige, el líder transforma</a:t>
            </a:r>
            <a:endParaRPr kumimoji="0" lang="es-CO" altLang="es-CO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49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994BE8-0AAD-81FE-E45D-F1365235B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EE2D68F7-8031-B56D-835B-6D184C740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7369F9F-0FF4-42D8-95C3-F5C47AC84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44" y="1683280"/>
            <a:ext cx="541269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b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¿Puede un jefe ser un líder?</a:t>
            </a:r>
          </a:p>
          <a:p>
            <a:pPr algn="just"/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jefe se convierte en líder cuando:</a:t>
            </a:r>
          </a:p>
          <a:p>
            <a:pPr algn="just"/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Deja de solo mandar y empieza a inspirar, escucha a su equipo, desarrolla a las personas y lidera con el ejemplo.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0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9CD36E2-BF20-C3E7-BCDE-1A03202786E8}"/>
              </a:ext>
            </a:extLst>
          </p:cNvPr>
          <p:cNvSpPr txBox="1"/>
          <p:nvPr/>
        </p:nvSpPr>
        <p:spPr>
          <a:xfrm>
            <a:off x="178744" y="4359112"/>
            <a:ext cx="541269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¿Puede un jefe ser un líder?</a:t>
            </a:r>
          </a:p>
          <a:p>
            <a:pPr>
              <a:buNone/>
            </a:pP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jefe se convierte en líder cuando:</a:t>
            </a:r>
          </a:p>
          <a:p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Deja de solo mandar y empieza a inspirar, escucha a su equipo, desarrolla a las personas y lidera con el ejemplo.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AB22B7A-EAA3-BAAF-94C8-76D06E88B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01407"/>
            <a:ext cx="5917256" cy="394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50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3"/>
          <p:cNvSpPr>
            <a:spLocks noGrp="1"/>
          </p:cNvSpPr>
          <p:nvPr>
            <p:ph type="title"/>
          </p:nvPr>
        </p:nvSpPr>
        <p:spPr>
          <a:xfrm>
            <a:off x="1002916" y="3237633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CO" sz="5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a ti qué te inspira?</a:t>
            </a:r>
            <a:br>
              <a:rPr lang="es-CO" sz="5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s-CO" sz="31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https://</a:t>
            </a:r>
            <a:r>
              <a:rPr lang="es-CO" sz="3100" b="1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www.youtube.com</a:t>
            </a:r>
            <a:r>
              <a:rPr lang="es-CO" sz="31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s-CO" sz="3100" b="1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watch?v</a:t>
            </a:r>
            <a:r>
              <a:rPr lang="es-CO" sz="31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</a:t>
            </a:r>
            <a:r>
              <a:rPr lang="es-CO" sz="3100" b="1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xIaIWNQGlnE</a:t>
            </a:r>
            <a:endParaRPr lang="es-CO" sz="54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224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3360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</TotalTime>
  <Words>835</Words>
  <Application>Microsoft Macintosh PowerPoint</Application>
  <PresentationFormat>Panorámica</PresentationFormat>
  <Paragraphs>100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Arial</vt:lpstr>
      <vt:lpstr>Arial,Bold</vt:lpstr>
      <vt:lpstr>Calibri</vt:lpstr>
      <vt:lpstr>Calibri Light</vt:lpstr>
      <vt:lpstr>Tahoma</vt:lpstr>
      <vt:lpstr>Ubuntu</vt:lpstr>
      <vt:lpstr>Tema de Office</vt:lpstr>
      <vt:lpstr>Liderazgo y Negociación</vt:lpstr>
      <vt:lpstr>Temática</vt:lpstr>
      <vt:lpstr>Unidad 1:  Conceptos generales de Liderazgo https://www.youtube.com/watch?v=jW5KN4Kvpw0 </vt:lpstr>
      <vt:lpstr>Conceptualización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Y a ti qué te inspira? https://www.youtube.com/watch?v=xIaIWNQGlnE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PRESENTACIÓN</dc:title>
  <dc:creator>Oficina de Comunicaciones Escolme</dc:creator>
  <cp:keywords>PLANTILLA</cp:keywords>
  <cp:lastModifiedBy>Andrea Bustamante</cp:lastModifiedBy>
  <cp:revision>41</cp:revision>
  <dcterms:created xsi:type="dcterms:W3CDTF">2026-02-09T16:13:10Z</dcterms:created>
  <dcterms:modified xsi:type="dcterms:W3CDTF">2026-04-10T17:16:51Z</dcterms:modified>
</cp:coreProperties>
</file>