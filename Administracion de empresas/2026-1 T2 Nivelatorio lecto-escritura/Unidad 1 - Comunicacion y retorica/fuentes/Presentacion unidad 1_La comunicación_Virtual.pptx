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6" r:id="rId2"/>
    <p:sldMasterId id="2147483670" r:id="rId3"/>
  </p:sldMasterIdLst>
  <p:notesMasterIdLst>
    <p:notesMasterId r:id="rId23"/>
  </p:notesMasterIdLst>
  <p:sldIdLst>
    <p:sldId id="282" r:id="rId4"/>
    <p:sldId id="275" r:id="rId5"/>
    <p:sldId id="277" r:id="rId6"/>
    <p:sldId id="296" r:id="rId7"/>
    <p:sldId id="297" r:id="rId8"/>
    <p:sldId id="298" r:id="rId9"/>
    <p:sldId id="299" r:id="rId10"/>
    <p:sldId id="278" r:id="rId11"/>
    <p:sldId id="300" r:id="rId12"/>
    <p:sldId id="301" r:id="rId13"/>
    <p:sldId id="302" r:id="rId14"/>
    <p:sldId id="289" r:id="rId15"/>
    <p:sldId id="294" r:id="rId16"/>
    <p:sldId id="293" r:id="rId17"/>
    <p:sldId id="295" r:id="rId18"/>
    <p:sldId id="292" r:id="rId19"/>
    <p:sldId id="290" r:id="rId20"/>
    <p:sldId id="303" r:id="rId21"/>
    <p:sldId id="291" r:id="rId2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 autoAdjust="0"/>
    <p:restoredTop sz="94674"/>
  </p:normalViewPr>
  <p:slideViewPr>
    <p:cSldViewPr snapToGrid="0" snapToObjects="1">
      <p:cViewPr varScale="1">
        <p:scale>
          <a:sx n="43" d="100"/>
          <a:sy n="43" d="100"/>
        </p:scale>
        <p:origin x="42" y="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AB03E-25CA-4E39-AFC6-DFCA932AF2A3}" type="datetimeFigureOut">
              <a:rPr lang="es-CO" smtClean="0"/>
              <a:t>13/04/2026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76CDB-9350-4F60-AC05-6F46308C4918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100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49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64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27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86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19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79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36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17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0216" y="2451449"/>
            <a:ext cx="624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solidFill>
                  <a:prstClr val="white"/>
                </a:solidFill>
                <a:cs typeface="Arial" panose="020B0604020202020204" pitchFamily="34" charset="0"/>
              </a:rPr>
              <a:t>La Comunicación    </a:t>
            </a:r>
          </a:p>
        </p:txBody>
      </p:sp>
      <p:pic>
        <p:nvPicPr>
          <p:cNvPr id="1026" name="Picture 2" descr="Resultado de imagen para comunicac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616" y="2451449"/>
            <a:ext cx="5286344" cy="278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40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797956" y="2563937"/>
            <a:ext cx="71028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Objetivo</a:t>
            </a:r>
          </a:p>
          <a:p>
            <a:endParaRPr lang="es-CO" sz="280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2800" dirty="0">
                <a:solidFill>
                  <a:schemeClr val="bg1"/>
                </a:solidFill>
              </a:rPr>
              <a:t>Reconocer la estructura de la comunicación como elemento que exige el desarrollo de habilidades escriturales y retóricas.</a:t>
            </a:r>
            <a:endParaRPr lang="es-CO" sz="2800" b="1" dirty="0">
              <a:solidFill>
                <a:schemeClr val="bg1"/>
              </a:solidFill>
              <a:latin typeface="Bradley Hand ITC" panose="03070402050302030203" pitchFamily="66" charset="0"/>
            </a:endParaRPr>
          </a:p>
          <a:p>
            <a:endParaRPr lang="es-CO" sz="2800" b="1" dirty="0">
              <a:solidFill>
                <a:prstClr val="white"/>
              </a:solidFill>
              <a:latin typeface="Bradley Hand ITC" panose="03070402050302030203" pitchFamily="66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84261">
            <a:off x="1553696" y="2444039"/>
            <a:ext cx="2680668" cy="26806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63575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190764" y="1053699"/>
            <a:ext cx="95939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>
                <a:solidFill>
                  <a:srgbClr val="002060"/>
                </a:solidFill>
              </a:rPr>
              <a:t>“</a:t>
            </a:r>
            <a:r>
              <a:rPr lang="es-ES" sz="3600" dirty="0">
                <a:solidFill>
                  <a:srgbClr val="002060"/>
                </a:solidFill>
              </a:rPr>
              <a:t>Aprender lengua significa aprender a usarla, a comunicarse o, si ya se domina algo, aprender a comunicarse mejor y en  situaciones más complejas”    (Daniel </a:t>
            </a:r>
            <a:r>
              <a:rPr lang="es-ES" sz="3600" dirty="0" err="1">
                <a:solidFill>
                  <a:srgbClr val="002060"/>
                </a:solidFill>
              </a:rPr>
              <a:t>Cassany</a:t>
            </a:r>
            <a:r>
              <a:rPr lang="es-ES" sz="3600" dirty="0">
                <a:solidFill>
                  <a:srgbClr val="002060"/>
                </a:solidFill>
              </a:rPr>
              <a:t>).</a:t>
            </a:r>
            <a:endParaRPr lang="es-CO" sz="3600" dirty="0">
              <a:solidFill>
                <a:srgbClr val="002060"/>
              </a:solidFill>
            </a:endParaRPr>
          </a:p>
        </p:txBody>
      </p:sp>
      <p:pic>
        <p:nvPicPr>
          <p:cNvPr id="4" name="Picture 4" descr="Debate pendiente: el rol del Lenguaje - Asociación de Contribuyentes del  Per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1" y="2802005"/>
            <a:ext cx="3321050" cy="329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806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4 CuadroTexto">
            <a:extLst>
              <a:ext uri="{FF2B5EF4-FFF2-40B4-BE49-F238E27FC236}">
                <a16:creationId xmlns:a16="http://schemas.microsoft.com/office/drawing/2014/main" id="{88C783A6-FC4D-950A-542A-41ABD3A12647}"/>
              </a:ext>
            </a:extLst>
          </p:cNvPr>
          <p:cNvSpPr txBox="1"/>
          <p:nvPr/>
        </p:nvSpPr>
        <p:spPr>
          <a:xfrm>
            <a:off x="3772988" y="552217"/>
            <a:ext cx="4572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4000" b="1" dirty="0">
                <a:solidFill>
                  <a:srgbClr val="002060"/>
                </a:solidFill>
              </a:rPr>
              <a:t>Historia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0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13674" y="1624074"/>
            <a:ext cx="3007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2060"/>
                </a:solidFill>
              </a:rPr>
              <a:t>Comunicación</a:t>
            </a:r>
            <a:r>
              <a:rPr lang="es-CO" sz="2400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913674" y="2307158"/>
            <a:ext cx="9593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>
                <a:solidFill>
                  <a:srgbClr val="002060"/>
                </a:solidFill>
              </a:rPr>
              <a:t>Es el proceso de transmisión de información entre un emisor y un receptor que decodifica e interpreta un determinado mensaje. 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3772988" y="552217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dirty="0">
                <a:solidFill>
                  <a:srgbClr val="002060"/>
                </a:solidFill>
              </a:rPr>
              <a:t>Conceptualización</a:t>
            </a:r>
          </a:p>
        </p:txBody>
      </p:sp>
    </p:spTree>
    <p:extLst>
      <p:ext uri="{BB962C8B-B14F-4D97-AF65-F5344CB8AC3E}">
        <p14:creationId xmlns:p14="http://schemas.microsoft.com/office/powerpoint/2010/main" val="395384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640503" y="1602667"/>
            <a:ext cx="10902282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800" b="1" dirty="0">
                <a:solidFill>
                  <a:srgbClr val="002060"/>
                </a:solidFill>
              </a:rPr>
              <a:t>Emisor: </a:t>
            </a:r>
            <a:r>
              <a:rPr lang="es-CO" sz="2800" dirty="0">
                <a:solidFill>
                  <a:srgbClr val="002060"/>
                </a:solidFill>
              </a:rPr>
              <a:t>es el individuo que empieza el proceso de comunicación, codifica y envía un mensaje a otra persona.</a:t>
            </a:r>
            <a:endParaRPr lang="en-US" sz="2800">
              <a:solidFill>
                <a:srgbClr val="002060"/>
              </a:solidFill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cs typeface="Calibri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</a:rPr>
              <a:t>Receptor:</a:t>
            </a:r>
            <a:r>
              <a:rPr lang="es-CO" sz="2800" dirty="0">
                <a:solidFill>
                  <a:srgbClr val="002060"/>
                </a:solidFill>
              </a:rPr>
              <a:t> es quien recibe y decodifica el mensaje que recibe de parte del emisor.</a:t>
            </a:r>
            <a:endParaRPr lang="es-CO" sz="2800"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cs typeface="Calibri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</a:rPr>
              <a:t>Código:</a:t>
            </a:r>
            <a:r>
              <a:rPr lang="es-CO" sz="2800" dirty="0">
                <a:solidFill>
                  <a:srgbClr val="002060"/>
                </a:solidFill>
              </a:rPr>
              <a:t> son los signos o símbolos empleados por el emisor para crear el mensaje, y que son conocidos por el receptor para su interpretación o decodificación. Por ejemplo, un idioma, un lenguaje de señas, un sistema de símbolos, etc.</a:t>
            </a:r>
            <a:endParaRPr lang="es-CO" sz="2800" dirty="0"/>
          </a:p>
        </p:txBody>
      </p:sp>
      <p:sp>
        <p:nvSpPr>
          <p:cNvPr id="5" name="4 CuadroTexto"/>
          <p:cNvSpPr txBox="1"/>
          <p:nvPr/>
        </p:nvSpPr>
        <p:spPr>
          <a:xfrm>
            <a:off x="3772988" y="552217"/>
            <a:ext cx="45720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4000" b="1" dirty="0">
                <a:solidFill>
                  <a:srgbClr val="002060"/>
                </a:solidFill>
              </a:rPr>
              <a:t>Elementos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9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554239" y="1027573"/>
            <a:ext cx="10902282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800" b="1" dirty="0">
                <a:solidFill>
                  <a:srgbClr val="002060"/>
                </a:solidFill>
                <a:cs typeface="Calibri"/>
              </a:rPr>
              <a:t>Mensaje:</a:t>
            </a:r>
            <a:r>
              <a:rPr lang="es-CO" sz="2800" dirty="0">
                <a:solidFill>
                  <a:srgbClr val="002060"/>
                </a:solidFill>
                <a:cs typeface="Calibri"/>
              </a:rPr>
              <a:t> es la información o contenido que el emisor va a compartir con el receptor.</a:t>
            </a:r>
            <a:endParaRPr lang="en-US" sz="2800">
              <a:solidFill>
                <a:srgbClr val="002060"/>
              </a:solidFill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cs typeface="Calibri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cs typeface="Calibri"/>
              </a:rPr>
              <a:t>Canal de comunicación: </a:t>
            </a:r>
            <a:r>
              <a:rPr lang="es-CO" sz="2800" dirty="0">
                <a:solidFill>
                  <a:srgbClr val="002060"/>
                </a:solidFill>
                <a:cs typeface="Calibri"/>
              </a:rPr>
              <a:t>es el medio físico empleado por el emisor para enviar el mensaje. Por ejemplo, el aire en la comunicación oral, los medios digitales, el papel, un teléfono móvil, etc.</a:t>
            </a:r>
            <a:endParaRPr lang="es-CO"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ea typeface="+mn-lt"/>
              <a:cs typeface="+mn-lt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Retroalimentación o </a:t>
            </a:r>
            <a:r>
              <a:rPr lang="es-CO" sz="2800" b="1" err="1">
                <a:solidFill>
                  <a:srgbClr val="002060"/>
                </a:solidFill>
                <a:ea typeface="+mn-lt"/>
                <a:cs typeface="+mn-lt"/>
              </a:rPr>
              <a:t>feedback</a:t>
            </a:r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es la respuesta que envía el receptor al emisor y viceversa. Esto garantiza la eficacia del proceso comunicativo.</a:t>
            </a:r>
          </a:p>
          <a:p>
            <a:pPr algn="just"/>
            <a:endParaRPr lang="es-CO" sz="2800" dirty="0">
              <a:solidFill>
                <a:srgbClr val="002060"/>
              </a:solidFill>
              <a:cs typeface="Calibri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cs typeface="Calibri"/>
              </a:rPr>
              <a:t>Contextos: </a:t>
            </a:r>
            <a:r>
              <a:rPr lang="es-CO" sz="2800" dirty="0">
                <a:solidFill>
                  <a:srgbClr val="002060"/>
                </a:solidFill>
                <a:cs typeface="Calibri"/>
              </a:rPr>
              <a:t>elementos condicionadores o determinantes(objetos o circunstancias históricas, culturales y sociales).</a:t>
            </a:r>
          </a:p>
        </p:txBody>
      </p:sp>
    </p:spTree>
    <p:extLst>
      <p:ext uri="{BB962C8B-B14F-4D97-AF65-F5344CB8AC3E}">
        <p14:creationId xmlns:p14="http://schemas.microsoft.com/office/powerpoint/2010/main" val="177311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632892" y="777035"/>
            <a:ext cx="7406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>
                <a:solidFill>
                  <a:srgbClr val="002060"/>
                </a:solidFill>
              </a:rPr>
              <a:t>Estructura de la comunicación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30794" y="1968863"/>
            <a:ext cx="10448834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400" dirty="0">
                <a:solidFill>
                  <a:srgbClr val="002060"/>
                </a:solidFill>
              </a:rPr>
              <a:t>Es un conjunto de elementos interrelacionados, es decir; un elemento determina el funcionamiento de otro y si uno de estos falla, haría disfuncional el proceso.</a:t>
            </a:r>
          </a:p>
          <a:p>
            <a:pPr algn="just"/>
            <a:endParaRPr lang="es-CO" sz="2400" dirty="0">
              <a:solidFill>
                <a:srgbClr val="002060"/>
              </a:solidFill>
            </a:endParaRPr>
          </a:p>
          <a:p>
            <a:pPr algn="just"/>
            <a:r>
              <a:rPr lang="es-CO" sz="2400" dirty="0">
                <a:solidFill>
                  <a:srgbClr val="002060"/>
                </a:solidFill>
              </a:rPr>
              <a:t>Emisor, receptor, mensaje, código y canal son algunos de los elementos de la estructura de la comunicación, haciendo posible que la información se entregue y llegue de la manera indicada siempre y cuando, se haga uso de las habilidades comunicativas para garantizar conocimiento, confianza y convicción en lo que se expresa y se entrega a otros.</a:t>
            </a:r>
          </a:p>
        </p:txBody>
      </p:sp>
      <p:pic>
        <p:nvPicPr>
          <p:cNvPr id="1026" name="Picture 2" descr="Qué es la comunicación? Proceso y elementos de la comunicación 🗣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591" y="4701398"/>
            <a:ext cx="2838734" cy="1596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39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496730" y="1372630"/>
            <a:ext cx="10902282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Intención de comunicar: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el gerente (emisor) de una empresa tiene que comunicar a los demás empleados (receptores) las nuevas reglas de seguridad implantados en las instalaciones de trabajo.</a:t>
            </a:r>
            <a:endParaRPr lang="en-US" dirty="0"/>
          </a:p>
          <a:p>
            <a:pPr algn="just"/>
            <a:endParaRPr lang="es-CO" sz="2800" dirty="0">
              <a:solidFill>
                <a:srgbClr val="002060"/>
              </a:solidFill>
              <a:ea typeface="+mn-lt"/>
              <a:cs typeface="+mn-lt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Codificación del mensaje: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el emisor prepara el contenido usando como código del mensaje en lenguaje oral, en un idioma común entre los participantes.</a:t>
            </a:r>
            <a:endParaRPr lang="es-CO" dirty="0"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ea typeface="+mn-lt"/>
              <a:cs typeface="+mn-lt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Selección del canal de comunicación: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el emisor seleccionó como canal de comunicación la conexión a Internet.</a:t>
            </a:r>
            <a:endParaRPr lang="es-CO" dirty="0">
              <a:cs typeface="Calibri"/>
            </a:endParaRPr>
          </a:p>
        </p:txBody>
      </p:sp>
      <p:sp>
        <p:nvSpPr>
          <p:cNvPr id="4" name="2 CuadroTexto">
            <a:extLst>
              <a:ext uri="{FF2B5EF4-FFF2-40B4-BE49-F238E27FC236}">
                <a16:creationId xmlns:a16="http://schemas.microsoft.com/office/drawing/2014/main" id="{AB248D42-ACAB-CE84-11F2-A4A5B7D1E009}"/>
              </a:ext>
            </a:extLst>
          </p:cNvPr>
          <p:cNvSpPr txBox="1"/>
          <p:nvPr/>
        </p:nvSpPr>
        <p:spPr>
          <a:xfrm>
            <a:off x="4243155" y="302582"/>
            <a:ext cx="313656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4000" b="1" dirty="0">
                <a:solidFill>
                  <a:srgbClr val="002060"/>
                </a:solidFill>
              </a:rPr>
              <a:t>Por ejemplo</a:t>
            </a:r>
          </a:p>
        </p:txBody>
      </p:sp>
    </p:spTree>
    <p:extLst>
      <p:ext uri="{BB962C8B-B14F-4D97-AF65-F5344CB8AC3E}">
        <p14:creationId xmlns:p14="http://schemas.microsoft.com/office/powerpoint/2010/main" val="12481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352956" y="1444517"/>
            <a:ext cx="11333602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Transmisión del mensaje: 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el mensaje será transmitido a través de una videollamada.</a:t>
            </a:r>
            <a:endParaRPr lang="en-US" dirty="0"/>
          </a:p>
          <a:p>
            <a:pPr algn="just"/>
            <a:endParaRPr lang="es-CO" sz="2800" dirty="0">
              <a:solidFill>
                <a:srgbClr val="002060"/>
              </a:solidFill>
              <a:ea typeface="+mn-lt"/>
              <a:cs typeface="+mn-lt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Recepción del mensaje: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el mensaje será recibido por todos los participantes (receptores) una vez que estén conectados en la videollamada a la hora pautada.</a:t>
            </a:r>
            <a:endParaRPr lang="en-US" dirty="0"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ea typeface="+mn-lt"/>
              <a:cs typeface="+mn-lt"/>
            </a:endParaRPr>
          </a:p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Decodificación del mensaje: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los receptores decodifican e interpretan el mensaje recibido, y comprenden su contenido y significado.</a:t>
            </a:r>
            <a:endParaRPr lang="es-CO">
              <a:cs typeface="Calibri"/>
            </a:endParaRPr>
          </a:p>
          <a:p>
            <a:pPr algn="just"/>
            <a:endParaRPr lang="es-CO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178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309824" y="2206517"/>
            <a:ext cx="11333602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800" b="1" dirty="0">
                <a:solidFill>
                  <a:srgbClr val="002060"/>
                </a:solidFill>
                <a:ea typeface="+mn-lt"/>
                <a:cs typeface="+mn-lt"/>
              </a:rPr>
              <a:t>Respuesta del receptor:</a:t>
            </a:r>
            <a:r>
              <a:rPr lang="es-CO" sz="2800" dirty="0">
                <a:solidFill>
                  <a:srgbClr val="002060"/>
                </a:solidFill>
                <a:ea typeface="+mn-lt"/>
                <a:cs typeface="+mn-lt"/>
              </a:rPr>
              <a:t> finalmente, los receptores compartirán sus opiniones, dando lugar a la retroalimentación e intercambio de mensajes entre los participantes del proceso comunicativo. De esta manera, el proceso de comunicación fue eficaz y eficiente.</a:t>
            </a:r>
            <a:endParaRPr lang="es-CO" dirty="0">
              <a:cs typeface="Calibri"/>
            </a:endParaRPr>
          </a:p>
          <a:p>
            <a:pPr algn="just"/>
            <a:endParaRPr lang="es-CO" sz="2800" dirty="0">
              <a:solidFill>
                <a:srgbClr val="00206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756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560320" y="619760"/>
            <a:ext cx="7396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b="1" dirty="0">
                <a:solidFill>
                  <a:srgbClr val="002060"/>
                </a:solidFill>
              </a:rPr>
              <a:t>Elementos fundamentales para ser un buen comunicador 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8214246" y="2465856"/>
            <a:ext cx="36478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charset="0"/>
              <a:buChar char="•"/>
            </a:pPr>
            <a:r>
              <a:rPr lang="es-CO" sz="2000" dirty="0">
                <a:solidFill>
                  <a:srgbClr val="002060"/>
                </a:solidFill>
              </a:rPr>
              <a:t>Expresión corporal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CO" sz="2000" dirty="0">
                <a:solidFill>
                  <a:srgbClr val="002060"/>
                </a:solidFill>
              </a:rPr>
              <a:t>Coherencia entre lo que piensa, dice y hace.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CO" sz="2000" dirty="0">
                <a:solidFill>
                  <a:srgbClr val="002060"/>
                </a:solidFill>
              </a:rPr>
              <a:t>Manejo de la voz (tono y volumen)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CO" sz="2000" dirty="0">
                <a:solidFill>
                  <a:srgbClr val="002060"/>
                </a:solidFill>
              </a:rPr>
              <a:t>Conocimiento sobre el tema que va a compartir 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CO" sz="2000" dirty="0">
                <a:solidFill>
                  <a:srgbClr val="002060"/>
                </a:solidFill>
              </a:rPr>
              <a:t>Evitar vacíos comunicacionales.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CO" sz="2000" dirty="0">
                <a:solidFill>
                  <a:srgbClr val="002060"/>
                </a:solidFill>
              </a:rPr>
              <a:t>Hacer buen uso de la </a:t>
            </a:r>
            <a:r>
              <a:rPr lang="es-CO" sz="2000" b="1" dirty="0">
                <a:solidFill>
                  <a:srgbClr val="002060"/>
                </a:solidFill>
              </a:rPr>
              <a:t>retórica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64463" y="2489199"/>
            <a:ext cx="45917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b="1" dirty="0">
                <a:solidFill>
                  <a:srgbClr val="002060"/>
                </a:solidFill>
              </a:rPr>
              <a:t>¿Qué es la retórica?: </a:t>
            </a:r>
            <a:r>
              <a:rPr lang="es-CO" sz="2000" dirty="0">
                <a:solidFill>
                  <a:srgbClr val="002060"/>
                </a:solidFill>
              </a:rPr>
              <a:t>es una disciplina que proporciona las herramientas y técnicas para expresarse de la mejor manera posible, de modo que tanto el lenguaje como el discurso sean lo suficientemente eficaces para deleitar, persuadir o conmover.</a:t>
            </a:r>
          </a:p>
          <a:p>
            <a:pPr algn="just"/>
            <a:endParaRPr lang="es-CO" sz="2000" dirty="0">
              <a:solidFill>
                <a:srgbClr val="002060"/>
              </a:solidFill>
            </a:endParaRPr>
          </a:p>
          <a:p>
            <a:pPr algn="just"/>
            <a:r>
              <a:rPr lang="es-CO" sz="2000" dirty="0">
                <a:solidFill>
                  <a:srgbClr val="002060"/>
                </a:solidFill>
              </a:rPr>
              <a:t>Otorga al discurso belleza y elocuencia.</a:t>
            </a:r>
          </a:p>
        </p:txBody>
      </p:sp>
      <p:pic>
        <p:nvPicPr>
          <p:cNvPr id="4098" name="Picture 2" descr="Resultado de imagen para retor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09225">
            <a:off x="5296863" y="2822308"/>
            <a:ext cx="2476698" cy="215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512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810707" y="3915218"/>
            <a:ext cx="10448834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400" dirty="0">
                <a:solidFill>
                  <a:srgbClr val="002060"/>
                </a:solidFill>
              </a:rPr>
              <a:t>No todas las personas tienen estas habilidades; sin embargo, se hace necesario desarrollarlas cuando se habla de pensamiento superior y es en este punto donde aparece el estudiante, al estar en un proceso de formación que lo invita a trascender al pensamiento crítico y al argumento desde el conocimiento y no desde la falacia.</a:t>
            </a:r>
            <a:endParaRPr lang="es-CO" sz="2400" b="1" dirty="0">
              <a:solidFill>
                <a:srgbClr val="002060"/>
              </a:solidFill>
              <a:latin typeface="Bradley Hand ITC" panose="03070402050302030203" pitchFamily="66" charset="0"/>
            </a:endParaRPr>
          </a:p>
        </p:txBody>
      </p:sp>
      <p:pic>
        <p:nvPicPr>
          <p:cNvPr id="2050" name="Picture 2" descr="Cómo mejorar la comunicación entre empresas y clien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868" y="1106414"/>
            <a:ext cx="2948192" cy="238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273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646389" y="250702"/>
            <a:ext cx="464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 dirty="0">
                <a:solidFill>
                  <a:srgbClr val="002060"/>
                </a:solidFill>
                <a:cs typeface="Arial" panose="020B0604020202020204" pitchFamily="34" charset="0"/>
              </a:rPr>
              <a:t>La retórica 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500743" y="1534573"/>
            <a:ext cx="6077477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O" sz="2000" dirty="0">
                <a:solidFill>
                  <a:srgbClr val="002060"/>
                </a:solidFill>
                <a:cs typeface="Arial"/>
              </a:rPr>
              <a:t>Teniendo en cuenta el proceso educativo en que se encuentra el estudiante de formación superior, se identifica la necesidad de entender qué significa la retórica y lo que esto implica para quienes como profesionales  deberían tener un gran </a:t>
            </a:r>
            <a:r>
              <a:rPr lang="es-CO" sz="2000" b="1" dirty="0">
                <a:solidFill>
                  <a:srgbClr val="002060"/>
                </a:solidFill>
                <a:cs typeface="Arial"/>
              </a:rPr>
              <a:t>dominio de la palabra</a:t>
            </a:r>
            <a:r>
              <a:rPr lang="es-CO" sz="2000" dirty="0">
                <a:solidFill>
                  <a:srgbClr val="002060"/>
                </a:solidFill>
                <a:cs typeface="Arial"/>
              </a:rPr>
              <a:t> ─ periodistas, profesores, políticos, abogados, administradores, profesionales en mercadeo, etc.</a:t>
            </a:r>
          </a:p>
          <a:p>
            <a:pPr algn="just"/>
            <a:endParaRPr lang="es-CO" sz="20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algn="just"/>
            <a:r>
              <a:rPr lang="es-CO" sz="2000" dirty="0">
                <a:solidFill>
                  <a:srgbClr val="002060"/>
                </a:solidFill>
                <a:cs typeface="Arial" panose="020B0604020202020204" pitchFamily="34" charset="0"/>
              </a:rPr>
              <a:t>La retórica no es una disciplina esotérica reservada a unos cuantos genios o iniciados. Es una técnica, como cualquier otra, con reglas y procedimientos que cualquiera puede aprender.</a:t>
            </a:r>
            <a:endParaRPr lang="es-CO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081307" y="6019321"/>
            <a:ext cx="654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O" b="1" dirty="0">
                <a:solidFill>
                  <a:srgbClr val="002060"/>
                </a:solidFill>
              </a:rPr>
              <a:t>Nota: </a:t>
            </a:r>
            <a:r>
              <a:rPr lang="es-CO" dirty="0">
                <a:solidFill>
                  <a:srgbClr val="002060"/>
                </a:solidFill>
                <a:cs typeface="Arial" panose="020B0604020202020204" pitchFamily="34" charset="0"/>
              </a:rPr>
              <a:t>ampliar información en documento de apoyo #3</a:t>
            </a:r>
            <a:endParaRPr lang="es-CO" dirty="0"/>
          </a:p>
        </p:txBody>
      </p:sp>
      <p:pic>
        <p:nvPicPr>
          <p:cNvPr id="3074" name="Picture 2" descr="Retórica, Oratoria y Liderazgo - Magis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937" y="1645264"/>
            <a:ext cx="4763069" cy="330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079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357801" y="1514708"/>
            <a:ext cx="63656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solidFill>
                  <a:srgbClr val="002060"/>
                </a:solidFill>
                <a:cs typeface="Arial" panose="020B0604020202020204" pitchFamily="34" charset="0"/>
              </a:rPr>
              <a:t>Comprende tres partes:</a:t>
            </a:r>
          </a:p>
          <a:p>
            <a:pPr algn="just"/>
            <a:endParaRPr lang="es-CO" sz="20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lvl="0" algn="just"/>
            <a:r>
              <a:rPr lang="es-CO" sz="2000" b="1" dirty="0">
                <a:solidFill>
                  <a:srgbClr val="002060"/>
                </a:solidFill>
                <a:cs typeface="Arial" panose="020B0604020202020204" pitchFamily="34" charset="0"/>
              </a:rPr>
              <a:t>La invención (</a:t>
            </a:r>
            <a:r>
              <a:rPr lang="es-CO" sz="2000" b="1" i="1" dirty="0" err="1">
                <a:solidFill>
                  <a:srgbClr val="002060"/>
                </a:solidFill>
                <a:cs typeface="Arial" panose="020B0604020202020204" pitchFamily="34" charset="0"/>
              </a:rPr>
              <a:t>inventio</a:t>
            </a:r>
            <a:r>
              <a:rPr lang="es-CO" sz="2000" b="1" dirty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r>
              <a:rPr lang="es-CO" sz="2000" dirty="0">
                <a:solidFill>
                  <a:srgbClr val="002060"/>
                </a:solidFill>
                <a:cs typeface="Arial" panose="020B0604020202020204" pitchFamily="34" charset="0"/>
              </a:rPr>
              <a:t>: fase de preparación en la cual el escritor u orador busca las ideas que quiere transmitir y los temas que desea abordar.</a:t>
            </a:r>
          </a:p>
          <a:p>
            <a:pPr lvl="0" algn="just"/>
            <a:endParaRPr lang="es-CO" sz="20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lvl="0" algn="just"/>
            <a:r>
              <a:rPr lang="es-CO" sz="2000" b="1" dirty="0">
                <a:solidFill>
                  <a:srgbClr val="002060"/>
                </a:solidFill>
                <a:cs typeface="Arial" panose="020B0604020202020204" pitchFamily="34" charset="0"/>
              </a:rPr>
              <a:t>La disposición (</a:t>
            </a:r>
            <a:r>
              <a:rPr lang="es-CO" sz="2000" b="1" i="1" dirty="0" err="1">
                <a:solidFill>
                  <a:srgbClr val="002060"/>
                </a:solidFill>
                <a:cs typeface="Arial" panose="020B0604020202020204" pitchFamily="34" charset="0"/>
              </a:rPr>
              <a:t>dispositio</a:t>
            </a:r>
            <a:r>
              <a:rPr lang="es-CO" sz="2000" b="1" dirty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r>
              <a:rPr lang="es-CO" sz="2000" dirty="0">
                <a:solidFill>
                  <a:srgbClr val="002060"/>
                </a:solidFill>
                <a:cs typeface="Arial" panose="020B0604020202020204" pitchFamily="34" charset="0"/>
              </a:rPr>
              <a:t>: fase en la que se organizan y se disponen las ideas. Aquí se define la </a:t>
            </a:r>
            <a:r>
              <a:rPr lang="es-CO" sz="2000" i="1" dirty="0">
                <a:solidFill>
                  <a:srgbClr val="002060"/>
                </a:solidFill>
                <a:cs typeface="Arial" panose="020B0604020202020204" pitchFamily="34" charset="0"/>
              </a:rPr>
              <a:t>"arquitectura textual"</a:t>
            </a:r>
            <a:r>
              <a:rPr lang="es-CO" sz="2000" dirty="0">
                <a:solidFill>
                  <a:srgbClr val="002060"/>
                </a:solidFill>
                <a:cs typeface="Arial" panose="020B0604020202020204" pitchFamily="34" charset="0"/>
              </a:rPr>
              <a:t> o estructura retórica de la composición (escrito, presentación, discurso, etc.). Lo más recomendable es estructurar la composición en partes.</a:t>
            </a:r>
          </a:p>
          <a:p>
            <a:pPr lvl="0" algn="just"/>
            <a:endParaRPr lang="es-CO" sz="20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algn="just"/>
            <a:r>
              <a:rPr lang="es-CO" sz="2000" b="1" dirty="0">
                <a:solidFill>
                  <a:srgbClr val="002060"/>
                </a:solidFill>
              </a:rPr>
              <a:t>La elocución (</a:t>
            </a:r>
            <a:r>
              <a:rPr lang="es-CO" sz="2000" b="1" i="1" dirty="0" err="1">
                <a:solidFill>
                  <a:srgbClr val="002060"/>
                </a:solidFill>
              </a:rPr>
              <a:t>elocutio</a:t>
            </a:r>
            <a:r>
              <a:rPr lang="es-CO" sz="2000" b="1" dirty="0">
                <a:solidFill>
                  <a:srgbClr val="002060"/>
                </a:solidFill>
              </a:rPr>
              <a:t>): </a:t>
            </a:r>
            <a:r>
              <a:rPr lang="es-CO" sz="2000" dirty="0">
                <a:solidFill>
                  <a:srgbClr val="002060"/>
                </a:solidFill>
              </a:rPr>
              <a:t>en esta etapa el autor tiene que ocuparse principalmente del estilo que quiere imprimirle a la composición</a:t>
            </a:r>
            <a:r>
              <a:rPr lang="es-CO" sz="2000" dirty="0"/>
              <a:t>.</a:t>
            </a:r>
            <a:endParaRPr lang="es-CO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  <p:pic>
        <p:nvPicPr>
          <p:cNvPr id="6" name="Picture 2" descr="Retórica, Oratoria y Liderazgo - Magis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84" y="2109288"/>
            <a:ext cx="4763069" cy="330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073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189514" y="736155"/>
            <a:ext cx="56279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b="1" dirty="0">
                <a:solidFill>
                  <a:srgbClr val="002060"/>
                </a:solidFill>
                <a:cs typeface="Arial" panose="020B0604020202020204" pitchFamily="34" charset="0"/>
              </a:rPr>
              <a:t>Falacias del discurso</a:t>
            </a:r>
            <a:r>
              <a:rPr lang="es-CO" sz="2400" b="1" dirty="0"/>
              <a:t> 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881741" y="2004880"/>
            <a:ext cx="99060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>
                <a:solidFill>
                  <a:srgbClr val="002060"/>
                </a:solidFill>
              </a:rPr>
              <a:t>Si bien, en el ámbito popular una falacia es un engaño o una creencia falsa, una falacia en lógica es un error en el razonamiento; es decir, una argumentación incorrecta porque existe un fallo en el proceso. Como consecuencia, las premisas dejan de justificar la conclusión.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881741" y="3995867"/>
            <a:ext cx="100910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b="1" dirty="0">
                <a:solidFill>
                  <a:srgbClr val="002060"/>
                </a:solidFill>
              </a:rPr>
              <a:t>MENTIRA Y FALACIA</a:t>
            </a:r>
            <a:r>
              <a:rPr lang="es-CO" sz="2400" dirty="0">
                <a:solidFill>
                  <a:srgbClr val="002060"/>
                </a:solidFill>
              </a:rPr>
              <a:t>: hay que distinguirlas, pues mentir es faltar a la verdad, presentar lo falso como verdadero o lo verdadero como falso; una falacia, es una manipulación de nuestra creencia respecto a los hechos. El que miente es el que niega los hechos y el falaz el que manipula nuestra creencia respecto a ellos.</a:t>
            </a:r>
          </a:p>
        </p:txBody>
      </p:sp>
    </p:spTree>
    <p:extLst>
      <p:ext uri="{BB962C8B-B14F-4D97-AF65-F5344CB8AC3E}">
        <p14:creationId xmlns:p14="http://schemas.microsoft.com/office/powerpoint/2010/main" val="2757687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h3.googleusercontent.com/yPfXMr1m0pswjaxd1nTboLy3apd46aCnt2K8eZC6PA9JZw0lwSJE7iSVOF4S0pqgHRJHXekRj8dF8x9zgcmzh2C-tLex_kMLSzSLUlF3JwcNN7-jCNhDbtM3abZX1rIswaibR4DQCw5OJDoMY5GN3VLW9QtWG7xYxV2d1xidzF7GGswDL6iKDLHhUJj6LiE26Emc5toH6v75_j5d98N6DVIrQr8jXxFnuP_vaehcJykmTNf7O8qpL13yaKUEmP88G3YkAPUhVWUx0_zh8rDAwbLDP7N5mmVKzs66blvNxqurs0Bw351p6IYFrGlA0ZsgJiaBXP6P4_niOhBrjjAuyPh5A2867DZSVFHeAp3J4DVE9p9TRmtxZw8BO0WlBAqZDzRSBTcwTmMd5tlcogZ0illA2vXzQ1sP0yJ_m3Jv33RRATb3zSDX0hG_gYLk0elO99awhSUqIMfHdtZKjkuZQDZfi9cmGVGIzQ0sOszZBHrHyMBSRaq7x2W2pJdeFtT2KXnysZfU2go8etRRFdsAxKBLvVV5N1lDyWV4KXEHqY7SLUOrJlJPSbnyJVeVpDfSo0I9wgDoqeHjDNmijBS9a38iSn1VppOnkKMubSM7=w596-h745-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456" y="139563"/>
            <a:ext cx="8384319" cy="642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046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22B8021-065A-A168-6D0C-7439E5DE666A}"/>
              </a:ext>
            </a:extLst>
          </p:cNvPr>
          <p:cNvSpPr txBox="1"/>
          <p:nvPr/>
        </p:nvSpPr>
        <p:spPr>
          <a:xfrm>
            <a:off x="4871884" y="666867"/>
            <a:ext cx="1784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Actividad</a:t>
            </a:r>
            <a:endParaRPr lang="es-CO" sz="32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2ED7029-49B4-78B2-A689-1B5951EA9C1D}"/>
              </a:ext>
            </a:extLst>
          </p:cNvPr>
          <p:cNvSpPr txBox="1"/>
          <p:nvPr/>
        </p:nvSpPr>
        <p:spPr>
          <a:xfrm>
            <a:off x="899160" y="1318010"/>
            <a:ext cx="10332720" cy="5316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INSTRUCCIONES: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Conformar un equipo de máximo cuatro personas y realizar un ejercicio de consulta y análisis sobre la estructura básica de la comunicación, los tipos de comunicación, qué implican los vacíos comunicativos, las falacias en la comunicación y las interferencias en el proceso de la comunicación. </a:t>
            </a:r>
          </a:p>
          <a:p>
            <a:pPr marL="457200" algn="just">
              <a:lnSpc>
                <a:spcPct val="107000"/>
              </a:lnSpc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Construir un documento con aplicación de las Normas APA en citas de textos e imágenes, referencias. Este documento debe contar con las siguientes partes:</a:t>
            </a:r>
          </a:p>
          <a:p>
            <a:pPr marL="457200">
              <a:lnSpc>
                <a:spcPct val="107000"/>
              </a:lnSpc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Portada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Introducción.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Tabla de contenido.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Contenido de al menos cuatro páginas.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Conclusiones. Cada uno de los integrantes del grupo debe aportar una.</a:t>
            </a:r>
          </a:p>
          <a:p>
            <a:pPr marL="342900" lvl="0" indent="-342900" algn="just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Referencias.</a:t>
            </a:r>
          </a:p>
          <a:p>
            <a:pPr marL="457200">
              <a:lnSpc>
                <a:spcPct val="107000"/>
              </a:lnSpc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Subir a la plataforma el archivo.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48027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3007360" y="2946400"/>
            <a:ext cx="62484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500" b="1" dirty="0">
                <a:solidFill>
                  <a:prstClr val="white"/>
                </a:solidFill>
              </a:rPr>
              <a:t>Gracias  </a:t>
            </a:r>
          </a:p>
        </p:txBody>
      </p:sp>
    </p:spTree>
    <p:extLst>
      <p:ext uri="{BB962C8B-B14F-4D97-AF65-F5344CB8AC3E}">
        <p14:creationId xmlns:p14="http://schemas.microsoft.com/office/powerpoint/2010/main" val="304195145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4276</TotalTime>
  <Words>1139</Words>
  <Application>Microsoft Office PowerPoint</Application>
  <PresentationFormat>Panorámica</PresentationFormat>
  <Paragraphs>79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Bradley Hand ITC</vt:lpstr>
      <vt:lpstr>Calibri</vt:lpstr>
      <vt:lpstr>presentacion</vt:lpstr>
      <vt:lpstr>1_presentacion</vt:lpstr>
      <vt:lpstr>2_presentacion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COLEGIATURA-Profesional Biblioteca</cp:lastModifiedBy>
  <cp:revision>211</cp:revision>
  <dcterms:created xsi:type="dcterms:W3CDTF">2017-06-13T14:58:26Z</dcterms:created>
  <dcterms:modified xsi:type="dcterms:W3CDTF">2026-04-13T19:46:13Z</dcterms:modified>
</cp:coreProperties>
</file>