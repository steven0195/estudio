
<file path=[Content_Types].xml><?xml version="1.0" encoding="utf-8"?>
<Types xmlns="http://schemas.openxmlformats.org/package/2006/content-types">
  <Default Extension="avif" ContentType="image/avi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8" r:id="rId3"/>
    <p:sldId id="260" r:id="rId4"/>
    <p:sldId id="277" r:id="rId5"/>
    <p:sldId id="278" r:id="rId6"/>
    <p:sldId id="279" r:id="rId7"/>
    <p:sldId id="280" r:id="rId8"/>
    <p:sldId id="281" r:id="rId9"/>
    <p:sldId id="282" r:id="rId10"/>
    <p:sldId id="264" r:id="rId11"/>
    <p:sldId id="265" r:id="rId12"/>
    <p:sldId id="284" r:id="rId13"/>
    <p:sldId id="266" r:id="rId14"/>
    <p:sldId id="288" r:id="rId15"/>
    <p:sldId id="286" r:id="rId16"/>
    <p:sldId id="287" r:id="rId17"/>
    <p:sldId id="285" r:id="rId18"/>
    <p:sldId id="289" r:id="rId19"/>
    <p:sldId id="290" r:id="rId20"/>
    <p:sldId id="291" r:id="rId21"/>
    <p:sldId id="292" r:id="rId22"/>
    <p:sldId id="293" r:id="rId23"/>
    <p:sldId id="269" r:id="rId24"/>
    <p:sldId id="270" r:id="rId25"/>
    <p:sldId id="283" r:id="rId26"/>
    <p:sldId id="294" r:id="rId27"/>
    <p:sldId id="295" r:id="rId28"/>
    <p:sldId id="296" r:id="rId29"/>
    <p:sldId id="276" r:id="rId30"/>
  </p:sldIdLst>
  <p:sldSz cx="12192000" cy="6858000"/>
  <p:notesSz cx="6858000" cy="9144000"/>
  <p:embeddedFontLst>
    <p:embeddedFont>
      <p:font typeface="Raleway" pitchFamily="2" charset="0"/>
      <p:regular r:id="rId32"/>
      <p:bold r:id="rId33"/>
      <p:italic r:id="rId34"/>
      <p:boldItalic r:id="rId35"/>
    </p:embeddedFont>
    <p:embeddedFont>
      <p:font typeface="Tahoma" panose="020B0604030504040204" pitchFamily="34" charset="0"/>
      <p:regular r:id="rId36"/>
      <p:bold r:id="rId37"/>
    </p:embeddedFont>
    <p:embeddedFont>
      <p:font typeface="Ubuntu" panose="020B050403060203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W8Nn7g2uxkXfYkdwMO63xZguA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E5E500-92D1-42A5-B163-0FBA0BB4C5D9}">
  <a:tblStyle styleId="{D4E5E500-92D1-42A5-B163-0FBA0BB4C5D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8" autoAdjust="0"/>
    <p:restoredTop sz="94660"/>
  </p:normalViewPr>
  <p:slideViewPr>
    <p:cSldViewPr snapToGrid="0">
      <p:cViewPr varScale="1">
        <p:scale>
          <a:sx n="84" d="100"/>
          <a:sy n="84" d="100"/>
        </p:scale>
        <p:origin x="3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444F202-7757-FED6-5E26-FE97689EFFEE}"/>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C545AB31-69A5-A9F2-D5E4-8A0480B7B7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3483F530-E53D-2B12-8020-9C4DC18B97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4233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FCCD6CB-9DA5-2302-D775-860ACD62A5E2}"/>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A2188C2F-578E-CB09-9AF5-17317A7E98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2E12D7C3-7D1E-A77D-118F-AB339CE9E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82345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FCCD6CB-9DA5-2302-D775-860ACD62A5E2}"/>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A2188C2F-578E-CB09-9AF5-17317A7E98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2E12D7C3-7D1E-A77D-118F-AB339CE9E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2762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2C0B954-EDA3-6E27-959C-ED00F81196F0}"/>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881A094F-ECEF-B0D2-4C90-6A46E9D531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9D014DCF-79AC-1477-B389-19CD9AD2E9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7309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4051CA5-A28C-20EF-B1EB-9F1650E712C0}"/>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8736D1D0-056E-03F1-C90B-C7918BFA4C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88441840-A59E-5BD1-48DE-7D2CFB4DD6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5274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87EE890-9236-E389-7B2E-694D231E01A1}"/>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16A8A8D0-5A8F-4637-727F-F1F858D3EA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46C74355-245F-CACC-E629-ECA1DB289B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1591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E8A8356F-22DE-86A6-E2D9-62714A68E688}"/>
            </a:ext>
          </a:extLst>
        </p:cNvPr>
        <p:cNvGrpSpPr/>
        <p:nvPr/>
      </p:nvGrpSpPr>
      <p:grpSpPr>
        <a:xfrm>
          <a:off x="0" y="0"/>
          <a:ext cx="0" cy="0"/>
          <a:chOff x="0" y="0"/>
          <a:chExt cx="0" cy="0"/>
        </a:xfrm>
      </p:grpSpPr>
      <p:sp>
        <p:nvSpPr>
          <p:cNvPr id="144" name="Google Shape;144;p9:notes">
            <a:extLst>
              <a:ext uri="{FF2B5EF4-FFF2-40B4-BE49-F238E27FC236}">
                <a16:creationId xmlns:a16="http://schemas.microsoft.com/office/drawing/2014/main" id="{FFAD2ED6-1142-721A-3942-3D877D728C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9:notes">
            <a:extLst>
              <a:ext uri="{FF2B5EF4-FFF2-40B4-BE49-F238E27FC236}">
                <a16:creationId xmlns:a16="http://schemas.microsoft.com/office/drawing/2014/main" id="{F456ACA4-D3E6-BB6B-8C8C-442FC09DA3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077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54FB9EB7-F7AB-DA15-AB03-B58C4F0A5061}"/>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69FB6631-BAD5-D444-6F85-42063937DC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AF94DE6C-7D6D-0F7A-7D7F-F97E39809C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5045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87D5B34E-00E6-1598-265A-243C5B3C1DF5}"/>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A208BAB8-9B90-D6A4-0A0D-6E71640E23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8EF4AA84-74C9-D04B-8A3C-2829D2D0C3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8141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2E00F9DD-6952-6232-175D-AB7D4DB6C54C}"/>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36AC8F37-8E2F-5EE4-D432-1E9BA9181E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19A006E9-A04C-DB11-423C-6D149BEA56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9503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4B7EF26E-47AF-C059-EDDE-09B3A03F2E0C}"/>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B5016007-CB30-8498-E93E-0A601F4D3E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A068E6D5-9418-3059-A37F-F0C978C35E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2085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FFB8D3B3-8603-CC9D-072A-3E9C777D1C0F}"/>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EC0236DA-20ED-21B1-74FC-4488CB8BDA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03A01D80-8700-A24C-9986-5EEC23F680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2712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F2860B29-C96F-A2DD-F2C7-83DC9D0D777E}"/>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FBC46FF2-B521-6C59-C0BE-F747C17BC1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B0D7F48C-A32C-DCF8-8421-237389E2A5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3663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BB7B4546-08AC-D2DA-9741-2815D5D8BDEB}"/>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69A5D8ED-0EF0-973C-967D-AAE77FA9BB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E680F6BF-7387-A5BE-6E9F-DD554AC1DF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81034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9C38570F-51D8-D11C-FD9A-ECB248D7058B}"/>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2055DD54-639D-9FF1-227C-74FC5543F3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09D34C80-2318-958F-563E-3E437F754E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65118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56566832-6039-0A7F-DFFD-E5A47A2DCD3A}"/>
            </a:ext>
          </a:extLst>
        </p:cNvPr>
        <p:cNvGrpSpPr/>
        <p:nvPr/>
      </p:nvGrpSpPr>
      <p:grpSpPr>
        <a:xfrm>
          <a:off x="0" y="0"/>
          <a:ext cx="0" cy="0"/>
          <a:chOff x="0" y="0"/>
          <a:chExt cx="0" cy="0"/>
        </a:xfrm>
      </p:grpSpPr>
      <p:sp>
        <p:nvSpPr>
          <p:cNvPr id="150" name="Google Shape;150;p11:notes">
            <a:extLst>
              <a:ext uri="{FF2B5EF4-FFF2-40B4-BE49-F238E27FC236}">
                <a16:creationId xmlns:a16="http://schemas.microsoft.com/office/drawing/2014/main" id="{DFF7FD9E-7272-3CE3-055B-956039D098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a:extLst>
              <a:ext uri="{FF2B5EF4-FFF2-40B4-BE49-F238E27FC236}">
                <a16:creationId xmlns:a16="http://schemas.microsoft.com/office/drawing/2014/main" id="{F13759F0-54F7-49E1-6D51-B9DDECF1EA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84586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8714cf8a32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8714cf8a3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8714cf8a32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g38714cf8a32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1246DA7-1E0A-23E8-AADB-833B0B668EB5}"/>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E06F0AFA-F8E1-C2AA-9119-F3740EDFA6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BED3F6A3-CDDF-6FF8-12D6-8AF0AA8727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5926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802C7A0-9B18-BFE8-C96E-94AE64CCE176}"/>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5869A4C9-BE4E-3363-B2D0-F16C6DBB22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66C54621-9A31-27B5-821F-278134668D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48853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24C1EE4D-B95E-EE5F-F25D-B0A569D36956}"/>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07388711-E59C-77A8-4578-3FB189FFAF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3524A61C-0E75-5755-26EE-B4C8E8920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33218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F7517A8-573B-FD4A-C14D-022318BF4DCF}"/>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87FAF19F-816B-2270-46C9-C48300D744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5:notes">
            <a:extLst>
              <a:ext uri="{FF2B5EF4-FFF2-40B4-BE49-F238E27FC236}">
                <a16:creationId xmlns:a16="http://schemas.microsoft.com/office/drawing/2014/main" id="{958C2D15-B667-23F3-CD1F-90763FC150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2210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3" name="Google Shape;26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a:spLocks noGrp="1"/>
          </p:cNvSpPr>
          <p:nvPr>
            <p:ph type="pic" idx="2"/>
          </p:nvPr>
        </p:nvSpPr>
        <p:spPr>
          <a:xfrm>
            <a:off x="5183188" y="987425"/>
            <a:ext cx="6172200" cy="4873625"/>
          </a:xfrm>
          <a:prstGeom prst="rect">
            <a:avLst/>
          </a:prstGeom>
          <a:noFill/>
          <a:ln>
            <a:noFill/>
          </a:ln>
        </p:spPr>
      </p:sp>
      <p:sp>
        <p:nvSpPr>
          <p:cNvPr id="20" name="Google Shape;20;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 name="Google Shape;2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24"/>
        <p:cNvGrpSpPr/>
        <p:nvPr/>
      </p:nvGrpSpPr>
      <p:grpSpPr>
        <a:xfrm>
          <a:off x="0" y="0"/>
          <a:ext cx="0" cy="0"/>
          <a:chOff x="0" y="0"/>
          <a:chExt cx="0" cy="0"/>
        </a:xfrm>
      </p:grpSpPr>
      <p:sp>
        <p:nvSpPr>
          <p:cNvPr id="25" name="Google Shape;25;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5"/>
        <p:cNvGrpSpPr/>
        <p:nvPr/>
      </p:nvGrpSpPr>
      <p:grpSpPr>
        <a:xfrm>
          <a:off x="0" y="0"/>
          <a:ext cx="0" cy="0"/>
          <a:chOff x="0" y="0"/>
          <a:chExt cx="0" cy="0"/>
        </a:xfrm>
      </p:grpSpPr>
      <p:sp>
        <p:nvSpPr>
          <p:cNvPr id="36" name="Google Shape;36;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1"/>
        <p:cNvGrpSpPr/>
        <p:nvPr/>
      </p:nvGrpSpPr>
      <p:grpSpPr>
        <a:xfrm>
          <a:off x="0" y="0"/>
          <a:ext cx="0" cy="0"/>
          <a:chOff x="0" y="0"/>
          <a:chExt cx="0" cy="0"/>
        </a:xfrm>
      </p:grpSpPr>
      <p:sp>
        <p:nvSpPr>
          <p:cNvPr id="42" name="Google Shape;4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7"/>
        <p:cNvGrpSpPr/>
        <p:nvPr/>
      </p:nvGrpSpPr>
      <p:grpSpPr>
        <a:xfrm>
          <a:off x="0" y="0"/>
          <a:ext cx="0" cy="0"/>
          <a:chOff x="0" y="0"/>
          <a:chExt cx="0" cy="0"/>
        </a:xfrm>
      </p:grpSpPr>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AC5UoZfomU8?feature=oembed" TargetMode="External"/><Relationship Id="rId5" Type="http://schemas.openxmlformats.org/officeDocument/2006/relationships/image" Target="../media/image6.jpe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avif"/></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avif"/></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video" Target="https://www.youtube.com/embed/sLlosZrHlLI?feature=oembed" TargetMode="External"/><Relationship Id="rId5" Type="http://schemas.openxmlformats.org/officeDocument/2006/relationships/image" Target="../media/image15.jpeg"/><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590805"/>
            <a:ext cx="9144000" cy="213329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1B1B6D"/>
              </a:buClr>
              <a:buSzPts val="5000"/>
              <a:buFont typeface="Tahoma"/>
              <a:buNone/>
            </a:pPr>
            <a:r>
              <a:rPr lang="es-ES" sz="5000" b="1" dirty="0">
                <a:solidFill>
                  <a:srgbClr val="1B1B6D"/>
                </a:solidFill>
                <a:latin typeface="Tahoma"/>
                <a:ea typeface="Tahoma"/>
                <a:cs typeface="Tahoma"/>
                <a:sym typeface="Tahoma"/>
              </a:rPr>
              <a:t>GESTIÓN DEL CAMBIO EN LAS ORGANIZACIÓNES</a:t>
            </a:r>
            <a:endParaRPr sz="5000" b="1" dirty="0">
              <a:solidFill>
                <a:srgbClr val="1B1B6D"/>
              </a:solidFill>
              <a:latin typeface="Tahoma"/>
              <a:ea typeface="Tahoma"/>
              <a:cs typeface="Tahoma"/>
              <a:sym typeface="Tahoma"/>
            </a:endParaRPr>
          </a:p>
        </p:txBody>
      </p:sp>
      <p:sp>
        <p:nvSpPr>
          <p:cNvPr id="85" name="Google Shape;85;p1"/>
          <p:cNvSpPr txBox="1">
            <a:spLocks noGrp="1"/>
          </p:cNvSpPr>
          <p:nvPr>
            <p:ph type="subTitle" idx="1"/>
          </p:nvPr>
        </p:nvSpPr>
        <p:spPr>
          <a:xfrm>
            <a:off x="1524000" y="4161161"/>
            <a:ext cx="9144000" cy="1001627"/>
          </a:xfrm>
          <a:prstGeom prst="rect">
            <a:avLst/>
          </a:prstGeom>
          <a:noFill/>
          <a:ln>
            <a:noFill/>
          </a:ln>
        </p:spPr>
        <p:txBody>
          <a:bodyPr spcFirstLastPara="1" wrap="square" lIns="91425" tIns="45700" rIns="91425" bIns="45700" anchor="t" anchorCtr="0">
            <a:noAutofit/>
          </a:bodyPr>
          <a:lstStyle/>
          <a:p>
            <a:pPr marL="0" indent="0" algn="l">
              <a:lnSpc>
                <a:spcPct val="100000"/>
              </a:lnSpc>
              <a:spcBef>
                <a:spcPts val="0"/>
              </a:spcBef>
              <a:buSzPts val="1100"/>
            </a:pPr>
            <a:r>
              <a:rPr lang="es-MX" sz="2800" dirty="0">
                <a:solidFill>
                  <a:srgbClr val="595959"/>
                </a:solidFill>
                <a:latin typeface="Arial"/>
                <a:cs typeface="Arial"/>
              </a:rPr>
              <a:t>"Nuestra industria no respeta la tradición, solo respeta la innovación. Para que el cambio ocurra, debemos pasar de una cultura de 'sabelotodo' a una cultura de 'apréndelo-todo'"</a:t>
            </a:r>
            <a:r>
              <a:rPr lang="es-ES" sz="2800" dirty="0">
                <a:solidFill>
                  <a:srgbClr val="595959"/>
                </a:solidFill>
                <a:latin typeface="Arial"/>
                <a:cs typeface="Arial"/>
                <a:sym typeface="Arial"/>
              </a:rPr>
              <a:t>      </a:t>
            </a:r>
            <a:r>
              <a:rPr lang="es-CO" sz="2800" dirty="0">
                <a:solidFill>
                  <a:srgbClr val="595959"/>
                </a:solidFill>
                <a:latin typeface="Arial"/>
                <a:cs typeface="Arial"/>
              </a:rPr>
              <a:t>Satya Nadella</a:t>
            </a:r>
            <a:endParaRPr sz="2800" dirty="0">
              <a:solidFill>
                <a:srgbClr val="595959"/>
              </a:solidFill>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884382" y="3034433"/>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000"/>
              <a:buFont typeface="Tahoma"/>
              <a:buNone/>
            </a:pPr>
            <a:r>
              <a:rPr lang="es-ES" sz="3000" b="1" dirty="0">
                <a:solidFill>
                  <a:schemeClr val="lt1"/>
                </a:solidFill>
                <a:latin typeface="Tahoma"/>
                <a:ea typeface="Tahoma"/>
                <a:cs typeface="Tahoma"/>
                <a:sym typeface="Tahoma"/>
              </a:rPr>
              <a:t>MOTIVACIONES NECESIDADES ENTORNO TENDENCIAS</a:t>
            </a:r>
            <a:br>
              <a:rPr lang="es-ES" sz="3000" b="1" dirty="0">
                <a:solidFill>
                  <a:schemeClr val="lt1"/>
                </a:solidFill>
                <a:latin typeface="Tahoma"/>
                <a:ea typeface="Tahoma"/>
                <a:cs typeface="Tahoma"/>
                <a:sym typeface="Tahoma"/>
              </a:rPr>
            </a:br>
            <a:r>
              <a:rPr lang="es-ES" sz="3000" b="1" dirty="0">
                <a:solidFill>
                  <a:schemeClr val="lt1"/>
                </a:solidFill>
                <a:latin typeface="Tahoma"/>
                <a:ea typeface="Tahoma"/>
                <a:cs typeface="Tahoma"/>
                <a:sym typeface="Tahoma"/>
              </a:rPr>
              <a:t>MODELOS ORGANIZACIONALES</a:t>
            </a:r>
            <a:endParaRPr sz="3000" b="1" dirty="0">
              <a:solidFill>
                <a:schemeClr val="lt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p:cNvGrpSpPr/>
        <p:nvPr/>
      </p:nvGrpSpPr>
      <p:grpSpPr>
        <a:xfrm>
          <a:off x="0" y="0"/>
          <a:ext cx="0" cy="0"/>
          <a:chOff x="0" y="0"/>
          <a:chExt cx="0" cy="0"/>
        </a:xfrm>
      </p:grpSpPr>
      <p:sp>
        <p:nvSpPr>
          <p:cNvPr id="112" name="Google Shape;112;p5"/>
          <p:cNvSpPr txBox="1">
            <a:spLocks noGrp="1"/>
          </p:cNvSpPr>
          <p:nvPr>
            <p:ph type="title"/>
          </p:nvPr>
        </p:nvSpPr>
        <p:spPr>
          <a:xfrm>
            <a:off x="156694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MODELO DE LEWIN</a:t>
            </a:r>
            <a:endParaRPr sz="3000" b="1" dirty="0">
              <a:solidFill>
                <a:srgbClr val="1B1C6E"/>
              </a:solidFill>
              <a:latin typeface="Tahoma"/>
              <a:ea typeface="Tahoma"/>
              <a:cs typeface="Tahoma"/>
              <a:sym typeface="Tahoma"/>
            </a:endParaRPr>
          </a:p>
        </p:txBody>
      </p:sp>
      <p:sp>
        <p:nvSpPr>
          <p:cNvPr id="113" name="Google Shape;113;p5"/>
          <p:cNvSpPr txBox="1"/>
          <p:nvPr/>
        </p:nvSpPr>
        <p:spPr>
          <a:xfrm>
            <a:off x="446839" y="1939259"/>
            <a:ext cx="5230091" cy="4351338"/>
          </a:xfrm>
          <a:prstGeom prst="rect">
            <a:avLst/>
          </a:prstGeom>
          <a:noFill/>
          <a:ln>
            <a:noFill/>
          </a:ln>
        </p:spPr>
        <p:txBody>
          <a:bodyPr spcFirstLastPara="1" wrap="square" lIns="91425" tIns="45700" rIns="91425" bIns="45700" anchor="t" anchorCtr="0">
            <a:normAutofit/>
          </a:bodyPr>
          <a:lstStyle/>
          <a:p>
            <a:r>
              <a:rPr lang="es-MX" sz="1600" dirty="0">
                <a:solidFill>
                  <a:srgbClr val="646464"/>
                </a:solidFill>
                <a:latin typeface="Ubuntu"/>
              </a:rPr>
              <a:t>Este modelo es uno de los más a</a:t>
            </a:r>
            <a:r>
              <a:rPr lang="es-MX" sz="1600" b="1" dirty="0">
                <a:solidFill>
                  <a:srgbClr val="646464"/>
                </a:solidFill>
                <a:latin typeface="Ubuntu"/>
              </a:rPr>
              <a:t>ntiguos y clásicos </a:t>
            </a:r>
            <a:r>
              <a:rPr lang="es-MX" sz="1600" dirty="0">
                <a:solidFill>
                  <a:srgbClr val="646464"/>
                </a:solidFill>
                <a:latin typeface="Ubuntu"/>
              </a:rPr>
              <a:t>en el campo del cambio organizacional. Fue propuesto por Kurt Lewin en 1947 y se basa en la idea de que la transformación pasa por tres etapas:</a:t>
            </a:r>
          </a:p>
          <a:p>
            <a:endParaRPr lang="es-MX" sz="1600" dirty="0">
              <a:solidFill>
                <a:srgbClr val="646464"/>
              </a:solidFill>
              <a:latin typeface="Ubuntu"/>
            </a:endParaRPr>
          </a:p>
          <a:p>
            <a:pPr>
              <a:buFont typeface="Arial" panose="020B0604020202020204" pitchFamily="34" charset="0"/>
              <a:buChar char="•"/>
            </a:pPr>
            <a:r>
              <a:rPr lang="es-MX" sz="1600" b="1" dirty="0">
                <a:solidFill>
                  <a:srgbClr val="646464"/>
                </a:solidFill>
                <a:latin typeface="Ubuntu"/>
              </a:rPr>
              <a:t>Descongelamiento: </a:t>
            </a:r>
            <a:r>
              <a:rPr lang="es-MX" sz="1600" dirty="0">
                <a:solidFill>
                  <a:srgbClr val="646464"/>
                </a:solidFill>
                <a:latin typeface="Ubuntu"/>
              </a:rPr>
              <a:t>consiste en crear conciencia de la necesidad de cambiar y reducir las fuerzas que mantienen el status quo. </a:t>
            </a:r>
          </a:p>
          <a:p>
            <a:endParaRPr lang="es-MX" sz="1600" dirty="0">
              <a:solidFill>
                <a:srgbClr val="646464"/>
              </a:solidFill>
              <a:latin typeface="Ubuntu"/>
            </a:endParaRPr>
          </a:p>
          <a:p>
            <a:pPr>
              <a:buFont typeface="Arial" panose="020B0604020202020204" pitchFamily="34" charset="0"/>
              <a:buChar char="•"/>
            </a:pPr>
            <a:r>
              <a:rPr lang="es-MX" sz="1600" b="1" dirty="0">
                <a:solidFill>
                  <a:srgbClr val="646464"/>
                </a:solidFill>
                <a:latin typeface="Ubuntu"/>
              </a:rPr>
              <a:t>Movimiento</a:t>
            </a:r>
            <a:r>
              <a:rPr lang="es-MX" sz="1600" dirty="0">
                <a:solidFill>
                  <a:srgbClr val="646464"/>
                </a:solidFill>
                <a:latin typeface="Ubuntu"/>
              </a:rPr>
              <a:t>: radica en implementar las acciones que conducen al cambio deseado y desarrollar las nuevas habilidades, conocimientos y actitudes requeridas. </a:t>
            </a:r>
          </a:p>
          <a:p>
            <a:endParaRPr lang="es-MX" sz="1600" dirty="0">
              <a:solidFill>
                <a:srgbClr val="646464"/>
              </a:solidFill>
              <a:latin typeface="Ubuntu"/>
            </a:endParaRPr>
          </a:p>
          <a:p>
            <a:pPr>
              <a:buFont typeface="Arial" panose="020B0604020202020204" pitchFamily="34" charset="0"/>
              <a:buChar char="•"/>
            </a:pPr>
            <a:r>
              <a:rPr lang="es-MX" sz="1600" b="1" dirty="0" err="1">
                <a:solidFill>
                  <a:srgbClr val="646464"/>
                </a:solidFill>
                <a:latin typeface="Ubuntu"/>
              </a:rPr>
              <a:t>Recongelamiento</a:t>
            </a:r>
            <a:r>
              <a:rPr lang="es-MX" sz="1600" b="1" dirty="0">
                <a:solidFill>
                  <a:srgbClr val="646464"/>
                </a:solidFill>
                <a:latin typeface="Ubuntu"/>
              </a:rPr>
              <a:t>: </a:t>
            </a:r>
            <a:r>
              <a:rPr lang="es-MX" sz="1600" dirty="0">
                <a:solidFill>
                  <a:srgbClr val="646464"/>
                </a:solidFill>
                <a:latin typeface="Ubuntu"/>
              </a:rPr>
              <a:t>Se basa en consolidar y estabilizar el nuevo estado alcanzado y reforzar las nuevas conductas.</a:t>
            </a:r>
          </a:p>
        </p:txBody>
      </p:sp>
      <p:pic>
        <p:nvPicPr>
          <p:cNvPr id="3" name="Imagen 2">
            <a:extLst>
              <a:ext uri="{FF2B5EF4-FFF2-40B4-BE49-F238E27FC236}">
                <a16:creationId xmlns:a16="http://schemas.microsoft.com/office/drawing/2014/main" id="{72EDA39E-A809-1604-4CBC-E573CF305D74}"/>
              </a:ext>
            </a:extLst>
          </p:cNvPr>
          <p:cNvPicPr>
            <a:picLocks noChangeAspect="1"/>
          </p:cNvPicPr>
          <p:nvPr/>
        </p:nvPicPr>
        <p:blipFill>
          <a:blip r:embed="rId4"/>
          <a:stretch>
            <a:fillRect/>
          </a:stretch>
        </p:blipFill>
        <p:spPr>
          <a:xfrm>
            <a:off x="6968503" y="1939259"/>
            <a:ext cx="4734586" cy="34199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E8B7C42B-5D14-FDC9-9B39-411F0ABFD24E}"/>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E98C3634-2F1F-E121-30CB-9C7DE10D89C0}"/>
              </a:ext>
            </a:extLst>
          </p:cNvPr>
          <p:cNvSpPr txBox="1">
            <a:spLocks noGrp="1"/>
          </p:cNvSpPr>
          <p:nvPr>
            <p:ph type="title"/>
          </p:nvPr>
        </p:nvSpPr>
        <p:spPr>
          <a:xfrm>
            <a:off x="156694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MODELO DE ADKAR</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30C101ED-0DAD-A033-99F9-02F39CB0C292}"/>
              </a:ext>
            </a:extLst>
          </p:cNvPr>
          <p:cNvSpPr txBox="1"/>
          <p:nvPr/>
        </p:nvSpPr>
        <p:spPr>
          <a:xfrm>
            <a:off x="446839" y="1939259"/>
            <a:ext cx="5230091" cy="4351338"/>
          </a:xfrm>
          <a:prstGeom prst="rect">
            <a:avLst/>
          </a:prstGeom>
          <a:noFill/>
          <a:ln>
            <a:noFill/>
          </a:ln>
        </p:spPr>
        <p:txBody>
          <a:bodyPr spcFirstLastPara="1" wrap="square" lIns="91425" tIns="45700" rIns="91425" bIns="45700" anchor="t" anchorCtr="0">
            <a:normAutofit fontScale="92500" lnSpcReduction="20000"/>
          </a:bodyPr>
          <a:lstStyle/>
          <a:p>
            <a:r>
              <a:rPr lang="es-MX" sz="1600" dirty="0">
                <a:solidFill>
                  <a:srgbClr val="646464"/>
                </a:solidFill>
                <a:latin typeface="Ubuntu"/>
              </a:rPr>
              <a:t>Fue desarrollado por Jeff Hiatt en 2003 y se enfoca en el aspecto humano del cambio organizacional. Su nombre proviene de las iniciales de las cinco fases que componen el modelo:</a:t>
            </a:r>
          </a:p>
          <a:p>
            <a:pPr>
              <a:buFont typeface="Arial" panose="020B0604020202020204" pitchFamily="34" charset="0"/>
              <a:buChar char="•"/>
            </a:pPr>
            <a:endParaRPr lang="es-MX" sz="1600" dirty="0">
              <a:solidFill>
                <a:srgbClr val="646464"/>
              </a:solidFill>
              <a:latin typeface="Ubuntu"/>
            </a:endParaRPr>
          </a:p>
          <a:p>
            <a:pPr>
              <a:buFont typeface="Arial" panose="020B0604020202020204" pitchFamily="34" charset="0"/>
              <a:buChar char="•"/>
            </a:pPr>
            <a:r>
              <a:rPr lang="es-MX" sz="1600" b="1" dirty="0" err="1">
                <a:solidFill>
                  <a:srgbClr val="646464"/>
                </a:solidFill>
                <a:latin typeface="Ubuntu"/>
              </a:rPr>
              <a:t>Awareness</a:t>
            </a:r>
            <a:r>
              <a:rPr lang="es-MX" sz="1600" b="1" dirty="0">
                <a:solidFill>
                  <a:srgbClr val="646464"/>
                </a:solidFill>
                <a:latin typeface="Ubuntu"/>
              </a:rPr>
              <a:t> (Conciencia): </a:t>
            </a:r>
            <a:r>
              <a:rPr lang="es-MX" sz="1600" dirty="0">
                <a:solidFill>
                  <a:srgbClr val="646464"/>
                </a:solidFill>
                <a:latin typeface="Ubuntu"/>
              </a:rPr>
              <a:t>Se refiere a la comprensión de la razón y el propósito del cambio, así como de los beneficios y riesgos que implica. </a:t>
            </a:r>
          </a:p>
          <a:p>
            <a:endParaRPr lang="es-MX" sz="1600" dirty="0">
              <a:solidFill>
                <a:srgbClr val="646464"/>
              </a:solidFill>
              <a:latin typeface="Ubuntu"/>
            </a:endParaRPr>
          </a:p>
          <a:p>
            <a:pPr>
              <a:buFont typeface="Arial" panose="020B0604020202020204" pitchFamily="34" charset="0"/>
              <a:buChar char="•"/>
            </a:pPr>
            <a:r>
              <a:rPr lang="es-MX" sz="1600" b="1" dirty="0" err="1">
                <a:solidFill>
                  <a:srgbClr val="646464"/>
                </a:solidFill>
                <a:latin typeface="Ubuntu"/>
              </a:rPr>
              <a:t>Desire</a:t>
            </a:r>
            <a:r>
              <a:rPr lang="es-MX" sz="1600" b="1" dirty="0">
                <a:solidFill>
                  <a:srgbClr val="646464"/>
                </a:solidFill>
                <a:latin typeface="Ubuntu"/>
              </a:rPr>
              <a:t> (Deseo): </a:t>
            </a:r>
            <a:r>
              <a:rPr lang="es-MX" sz="1600" dirty="0">
                <a:solidFill>
                  <a:srgbClr val="646464"/>
                </a:solidFill>
                <a:latin typeface="Ubuntu"/>
              </a:rPr>
              <a:t>Consiste en la voluntad y el compromiso de participar e impulsar el cambio. </a:t>
            </a:r>
          </a:p>
          <a:p>
            <a:endParaRPr lang="es-MX" sz="1600" dirty="0">
              <a:solidFill>
                <a:srgbClr val="646464"/>
              </a:solidFill>
              <a:latin typeface="Ubuntu"/>
            </a:endParaRPr>
          </a:p>
          <a:p>
            <a:pPr>
              <a:buFont typeface="Arial" panose="020B0604020202020204" pitchFamily="34" charset="0"/>
              <a:buChar char="•"/>
            </a:pPr>
            <a:r>
              <a:rPr lang="es-MX" sz="1600" b="1" dirty="0" err="1">
                <a:solidFill>
                  <a:srgbClr val="646464"/>
                </a:solidFill>
                <a:latin typeface="Ubuntu"/>
              </a:rPr>
              <a:t>Knowledge</a:t>
            </a:r>
            <a:r>
              <a:rPr lang="es-MX" sz="1600" b="1" dirty="0">
                <a:solidFill>
                  <a:srgbClr val="646464"/>
                </a:solidFill>
                <a:latin typeface="Ubuntu"/>
              </a:rPr>
              <a:t> (Conocimiento</a:t>
            </a:r>
            <a:r>
              <a:rPr lang="es-MX" sz="1600" dirty="0">
                <a:solidFill>
                  <a:srgbClr val="646464"/>
                </a:solidFill>
                <a:latin typeface="Ubuntu"/>
              </a:rPr>
              <a:t>): Se trata de la información y la capacitación necesarias para realizar el cambio. </a:t>
            </a:r>
          </a:p>
          <a:p>
            <a:endParaRPr lang="es-MX" sz="1600" dirty="0">
              <a:solidFill>
                <a:srgbClr val="646464"/>
              </a:solidFill>
              <a:latin typeface="Ubuntu"/>
            </a:endParaRPr>
          </a:p>
          <a:p>
            <a:pPr>
              <a:buFont typeface="Arial" panose="020B0604020202020204" pitchFamily="34" charset="0"/>
              <a:buChar char="•"/>
            </a:pPr>
            <a:r>
              <a:rPr lang="es-MX" sz="1600" b="1" dirty="0" err="1">
                <a:solidFill>
                  <a:srgbClr val="646464"/>
                </a:solidFill>
                <a:latin typeface="Ubuntu"/>
              </a:rPr>
              <a:t>Ability</a:t>
            </a:r>
            <a:r>
              <a:rPr lang="es-MX" sz="1600" dirty="0">
                <a:solidFill>
                  <a:srgbClr val="646464"/>
                </a:solidFill>
                <a:latin typeface="Ubuntu"/>
              </a:rPr>
              <a:t> (Habilidad): Es la capacidad de poner en práctica el conocimiento adquirido y realizar las nuevas tareas o funciones. </a:t>
            </a:r>
          </a:p>
          <a:p>
            <a:endParaRPr lang="es-MX" sz="1600" dirty="0">
              <a:solidFill>
                <a:srgbClr val="646464"/>
              </a:solidFill>
              <a:latin typeface="Ubuntu"/>
            </a:endParaRPr>
          </a:p>
          <a:p>
            <a:pPr>
              <a:buFont typeface="Arial" panose="020B0604020202020204" pitchFamily="34" charset="0"/>
              <a:buChar char="•"/>
            </a:pPr>
            <a:r>
              <a:rPr lang="es-MX" sz="1600" b="1" dirty="0" err="1">
                <a:solidFill>
                  <a:srgbClr val="646464"/>
                </a:solidFill>
                <a:latin typeface="Ubuntu"/>
              </a:rPr>
              <a:t>Reinforcement</a:t>
            </a:r>
            <a:r>
              <a:rPr lang="es-MX" sz="1600" b="1" dirty="0">
                <a:solidFill>
                  <a:srgbClr val="646464"/>
                </a:solidFill>
                <a:latin typeface="Ubuntu"/>
              </a:rPr>
              <a:t> (Refuerzo): Se </a:t>
            </a:r>
            <a:r>
              <a:rPr lang="es-MX" sz="1600" dirty="0">
                <a:solidFill>
                  <a:srgbClr val="646464"/>
                </a:solidFill>
                <a:latin typeface="Ubuntu"/>
              </a:rPr>
              <a:t>basa en la consolidación y el mantenimiento del cambio logrado. </a:t>
            </a:r>
          </a:p>
        </p:txBody>
      </p:sp>
      <p:pic>
        <p:nvPicPr>
          <p:cNvPr id="4" name="Imagen 3">
            <a:extLst>
              <a:ext uri="{FF2B5EF4-FFF2-40B4-BE49-F238E27FC236}">
                <a16:creationId xmlns:a16="http://schemas.microsoft.com/office/drawing/2014/main" id="{11E7B607-771F-1A22-CFD8-81F1D2D31E3B}"/>
              </a:ext>
            </a:extLst>
          </p:cNvPr>
          <p:cNvPicPr>
            <a:picLocks noChangeAspect="1"/>
          </p:cNvPicPr>
          <p:nvPr/>
        </p:nvPicPr>
        <p:blipFill>
          <a:blip r:embed="rId4"/>
          <a:stretch>
            <a:fillRect/>
          </a:stretch>
        </p:blipFill>
        <p:spPr>
          <a:xfrm>
            <a:off x="6793239" y="1314450"/>
            <a:ext cx="4951922" cy="4421359"/>
          </a:xfrm>
          <a:prstGeom prst="rect">
            <a:avLst/>
          </a:prstGeom>
        </p:spPr>
      </p:pic>
    </p:spTree>
    <p:extLst>
      <p:ext uri="{BB962C8B-B14F-4D97-AF65-F5344CB8AC3E}">
        <p14:creationId xmlns:p14="http://schemas.microsoft.com/office/powerpoint/2010/main" val="1145591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111">
          <a:extLst>
            <a:ext uri="{FF2B5EF4-FFF2-40B4-BE49-F238E27FC236}">
              <a16:creationId xmlns:a16="http://schemas.microsoft.com/office/drawing/2014/main" id="{1CEA6964-6FB8-0131-498E-EE4F2E04EBE4}"/>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D28DA61B-16D0-6044-CDF1-DED836FC995F}"/>
              </a:ext>
            </a:extLst>
          </p:cNvPr>
          <p:cNvSpPr txBox="1">
            <a:spLocks noGrp="1"/>
          </p:cNvSpPr>
          <p:nvPr>
            <p:ph type="title"/>
          </p:nvPr>
        </p:nvSpPr>
        <p:spPr>
          <a:xfrm>
            <a:off x="156694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MODELO DEL EMPUJON</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4CAA9322-4F0B-991C-C3B0-6B625BD3A3EC}"/>
              </a:ext>
            </a:extLst>
          </p:cNvPr>
          <p:cNvSpPr txBox="1"/>
          <p:nvPr/>
        </p:nvSpPr>
        <p:spPr>
          <a:xfrm>
            <a:off x="446839" y="1939259"/>
            <a:ext cx="5230091" cy="4351338"/>
          </a:xfrm>
          <a:prstGeom prst="rect">
            <a:avLst/>
          </a:prstGeom>
          <a:noFill/>
          <a:ln>
            <a:noFill/>
          </a:ln>
        </p:spPr>
        <p:txBody>
          <a:bodyPr spcFirstLastPara="1" wrap="square" lIns="91425" tIns="45700" rIns="91425" bIns="45700" anchor="t" anchorCtr="0">
            <a:normAutofit fontScale="77500" lnSpcReduction="20000"/>
          </a:bodyPr>
          <a:lstStyle/>
          <a:p>
            <a:r>
              <a:rPr lang="es-MX" sz="1800" dirty="0">
                <a:solidFill>
                  <a:srgbClr val="646464"/>
                </a:solidFill>
                <a:latin typeface="Ubuntu"/>
              </a:rPr>
              <a:t>El modelo del empujón (</a:t>
            </a:r>
            <a:r>
              <a:rPr lang="es-MX" sz="1800" dirty="0" err="1">
                <a:solidFill>
                  <a:srgbClr val="646464"/>
                </a:solidFill>
                <a:latin typeface="Ubuntu"/>
              </a:rPr>
              <a:t>nudge</a:t>
            </a:r>
            <a:r>
              <a:rPr lang="es-MX" sz="1800" dirty="0">
                <a:solidFill>
                  <a:srgbClr val="646464"/>
                </a:solidFill>
                <a:latin typeface="Ubuntu"/>
              </a:rPr>
              <a:t>) fue popularizado por Richard </a:t>
            </a:r>
            <a:r>
              <a:rPr lang="es-MX" sz="1800" dirty="0" err="1">
                <a:solidFill>
                  <a:srgbClr val="646464"/>
                </a:solidFill>
                <a:latin typeface="Ubuntu"/>
              </a:rPr>
              <a:t>Thaler</a:t>
            </a:r>
            <a:r>
              <a:rPr lang="es-MX" sz="1800" dirty="0">
                <a:solidFill>
                  <a:srgbClr val="646464"/>
                </a:solidFill>
                <a:latin typeface="Ubuntu"/>
              </a:rPr>
              <a:t> y Cass Sunstein en 2008. Este se basa en la aplicación de principios de economía conductual para influir en las decisiones y comportamientos de las personas. </a:t>
            </a:r>
          </a:p>
          <a:p>
            <a:endParaRPr lang="es-MX" sz="1800" dirty="0">
              <a:solidFill>
                <a:srgbClr val="646464"/>
              </a:solidFill>
              <a:latin typeface="Ubuntu"/>
            </a:endParaRPr>
          </a:p>
          <a:p>
            <a:r>
              <a:rPr lang="es-MX" sz="1800" dirty="0">
                <a:solidFill>
                  <a:srgbClr val="646464"/>
                </a:solidFill>
                <a:latin typeface="Ubuntu"/>
              </a:rPr>
              <a:t>Un empujón es una intervención sutil que altera el contexto o el diseño de las opciones disponibles para favorecer una determinada elección. En este modelo no se limita la libertad ni se imponen incentivos o castigos.</a:t>
            </a:r>
          </a:p>
          <a:p>
            <a:r>
              <a:rPr lang="es-MX" sz="1800" dirty="0">
                <a:solidFill>
                  <a:srgbClr val="646464"/>
                </a:solidFill>
                <a:latin typeface="Ubuntu"/>
              </a:rPr>
              <a:t>Así bien, se puede aplicar al cambio organizacional para facilitar la adopción de nuevas conductas por parte de los empleados, clientes o proveedores. Algunos ejemplos de empujones son:</a:t>
            </a:r>
          </a:p>
          <a:p>
            <a:endParaRPr lang="es-MX" sz="1800" dirty="0">
              <a:solidFill>
                <a:srgbClr val="646464"/>
              </a:solidFill>
              <a:latin typeface="Ubuntu"/>
            </a:endParaRPr>
          </a:p>
          <a:p>
            <a:pPr>
              <a:buFont typeface="Arial" panose="020B0604020202020204" pitchFamily="34" charset="0"/>
              <a:buChar char="•"/>
            </a:pPr>
            <a:r>
              <a:rPr lang="es-MX" sz="1800" b="1" dirty="0">
                <a:solidFill>
                  <a:srgbClr val="646464"/>
                </a:solidFill>
                <a:latin typeface="Ubuntu"/>
              </a:rPr>
              <a:t>Simplificar</a:t>
            </a:r>
            <a:r>
              <a:rPr lang="es-MX" sz="1800" dirty="0">
                <a:solidFill>
                  <a:srgbClr val="646464"/>
                </a:solidFill>
                <a:latin typeface="Ubuntu"/>
              </a:rPr>
              <a:t>: reducir la complejidad o la cantidad de opciones para facilitar la toma de decisiones.</a:t>
            </a:r>
          </a:p>
          <a:p>
            <a:endParaRPr lang="es-MX" sz="1800" b="1" dirty="0">
              <a:solidFill>
                <a:srgbClr val="646464"/>
              </a:solidFill>
              <a:latin typeface="Ubuntu"/>
            </a:endParaRPr>
          </a:p>
          <a:p>
            <a:pPr>
              <a:buFont typeface="Arial" panose="020B0604020202020204" pitchFamily="34" charset="0"/>
              <a:buChar char="•"/>
            </a:pPr>
            <a:r>
              <a:rPr lang="es-MX" sz="1800" b="1" dirty="0">
                <a:solidFill>
                  <a:srgbClr val="646464"/>
                </a:solidFill>
                <a:latin typeface="Ubuntu"/>
              </a:rPr>
              <a:t>Predeterminar</a:t>
            </a:r>
            <a:r>
              <a:rPr lang="es-MX" sz="1800" dirty="0">
                <a:solidFill>
                  <a:srgbClr val="646464"/>
                </a:solidFill>
                <a:latin typeface="Ubuntu"/>
              </a:rPr>
              <a:t>: establecer una opción por defecto que sea la más conveniente o deseable para el cambio.</a:t>
            </a:r>
          </a:p>
          <a:p>
            <a:endParaRPr lang="es-MX" sz="1800" dirty="0">
              <a:solidFill>
                <a:srgbClr val="646464"/>
              </a:solidFill>
              <a:latin typeface="Ubuntu"/>
            </a:endParaRPr>
          </a:p>
          <a:p>
            <a:pPr>
              <a:buFont typeface="Arial" panose="020B0604020202020204" pitchFamily="34" charset="0"/>
              <a:buChar char="•"/>
            </a:pPr>
            <a:r>
              <a:rPr lang="es-MX" sz="1800" b="1" dirty="0">
                <a:solidFill>
                  <a:srgbClr val="646464"/>
                </a:solidFill>
                <a:latin typeface="Ubuntu"/>
              </a:rPr>
              <a:t>Informar: </a:t>
            </a:r>
            <a:r>
              <a:rPr lang="es-MX" sz="1800" dirty="0">
                <a:solidFill>
                  <a:srgbClr val="646464"/>
                </a:solidFill>
                <a:latin typeface="Ubuntu"/>
              </a:rPr>
              <a:t>proporcionar información relevante, clara y oportuna que ayude a evaluar las opciones y sus consecuencias.</a:t>
            </a:r>
          </a:p>
          <a:p>
            <a:pPr>
              <a:buFont typeface="Arial" panose="020B0604020202020204" pitchFamily="34" charset="0"/>
              <a:buChar char="•"/>
            </a:pPr>
            <a:r>
              <a:rPr lang="es-MX" sz="1600" dirty="0">
                <a:solidFill>
                  <a:srgbClr val="646464"/>
                </a:solidFill>
                <a:latin typeface="Ubuntu"/>
              </a:rPr>
              <a:t>.</a:t>
            </a:r>
          </a:p>
        </p:txBody>
      </p:sp>
      <p:pic>
        <p:nvPicPr>
          <p:cNvPr id="2" name="Elementos multimedia en línea 1" title="Nudge - En Espanol - Helping People Make Better Choices">
            <a:hlinkClick r:id="" action="ppaction://media"/>
            <a:extLst>
              <a:ext uri="{FF2B5EF4-FFF2-40B4-BE49-F238E27FC236}">
                <a16:creationId xmlns:a16="http://schemas.microsoft.com/office/drawing/2014/main" id="{51EA1095-4D1E-E37D-501A-924EF0AD0150}"/>
              </a:ext>
            </a:extLst>
          </p:cNvPr>
          <p:cNvPicPr>
            <a:picLocks noRot="1" noChangeAspect="1"/>
          </p:cNvPicPr>
          <p:nvPr>
            <a:videoFile r:link="rId1"/>
          </p:nvPr>
        </p:nvPicPr>
        <p:blipFill>
          <a:blip r:embed="rId5"/>
          <a:stretch>
            <a:fillRect/>
          </a:stretch>
        </p:blipFill>
        <p:spPr>
          <a:xfrm>
            <a:off x="6156613" y="1850231"/>
            <a:ext cx="5588548" cy="3157537"/>
          </a:xfrm>
          <a:prstGeom prst="rect">
            <a:avLst/>
          </a:prstGeom>
        </p:spPr>
      </p:pic>
    </p:spTree>
    <p:extLst>
      <p:ext uri="{BB962C8B-B14F-4D97-AF65-F5344CB8AC3E}">
        <p14:creationId xmlns:p14="http://schemas.microsoft.com/office/powerpoint/2010/main" val="280692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1CEA6964-6FB8-0131-498E-EE4F2E04EBE4}"/>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D28DA61B-16D0-6044-CDF1-DED836FC995F}"/>
              </a:ext>
            </a:extLst>
          </p:cNvPr>
          <p:cNvSpPr txBox="1">
            <a:spLocks noGrp="1"/>
          </p:cNvSpPr>
          <p:nvPr>
            <p:ph type="title"/>
          </p:nvPr>
        </p:nvSpPr>
        <p:spPr>
          <a:xfrm>
            <a:off x="156694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MODELO DE BRIDGES</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4CAA9322-4F0B-991C-C3B0-6B625BD3A3EC}"/>
              </a:ext>
            </a:extLst>
          </p:cNvPr>
          <p:cNvSpPr txBox="1"/>
          <p:nvPr/>
        </p:nvSpPr>
        <p:spPr>
          <a:xfrm>
            <a:off x="446839" y="1939259"/>
            <a:ext cx="5230091" cy="4351338"/>
          </a:xfrm>
          <a:prstGeom prst="rect">
            <a:avLst/>
          </a:prstGeom>
          <a:noFill/>
          <a:ln>
            <a:noFill/>
          </a:ln>
        </p:spPr>
        <p:txBody>
          <a:bodyPr spcFirstLastPara="1" wrap="square" lIns="91425" tIns="45700" rIns="91425" bIns="45700" anchor="t" anchorCtr="0">
            <a:normAutofit/>
          </a:bodyPr>
          <a:lstStyle/>
          <a:p>
            <a:r>
              <a:rPr lang="es-MX" dirty="0">
                <a:solidFill>
                  <a:srgbClr val="646464"/>
                </a:solidFill>
                <a:latin typeface="Ubuntu"/>
              </a:rPr>
              <a:t>El modelo de Bridges fue creado por William Bridges en 1991 y se centra en el aspecto emocional del cambio organizacional.</a:t>
            </a:r>
          </a:p>
          <a:p>
            <a:endParaRPr lang="es-MX" dirty="0">
              <a:solidFill>
                <a:srgbClr val="646464"/>
              </a:solidFill>
              <a:latin typeface="Ubuntu"/>
            </a:endParaRPr>
          </a:p>
          <a:p>
            <a:r>
              <a:rPr lang="es-MX" dirty="0">
                <a:solidFill>
                  <a:srgbClr val="646464"/>
                </a:solidFill>
                <a:latin typeface="Ubuntu"/>
              </a:rPr>
              <a:t>Básicamente sostiene que el cambio implica una transición psicológica que pasa por tres etapas:</a:t>
            </a:r>
          </a:p>
          <a:p>
            <a:endParaRPr lang="es-MX" dirty="0">
              <a:solidFill>
                <a:srgbClr val="646464"/>
              </a:solidFill>
              <a:latin typeface="Ubuntu"/>
            </a:endParaRPr>
          </a:p>
          <a:p>
            <a:pPr>
              <a:buFont typeface="Arial" panose="020B0604020202020204" pitchFamily="34" charset="0"/>
              <a:buChar char="•"/>
            </a:pPr>
            <a:r>
              <a:rPr lang="es-MX" b="1" dirty="0">
                <a:solidFill>
                  <a:srgbClr val="646464"/>
                </a:solidFill>
                <a:latin typeface="Ubuntu"/>
              </a:rPr>
              <a:t>Finalización: </a:t>
            </a:r>
            <a:r>
              <a:rPr lang="es-MX" dirty="0">
                <a:solidFill>
                  <a:srgbClr val="646464"/>
                </a:solidFill>
                <a:latin typeface="Ubuntu"/>
              </a:rPr>
              <a:t>Es la etapa en la que se produce la pérdida o el abandono del estado anterior. </a:t>
            </a:r>
          </a:p>
          <a:p>
            <a:endParaRPr lang="es-MX" dirty="0">
              <a:solidFill>
                <a:srgbClr val="646464"/>
              </a:solidFill>
              <a:latin typeface="Ubuntu"/>
            </a:endParaRPr>
          </a:p>
          <a:p>
            <a:pPr>
              <a:buFont typeface="Arial" panose="020B0604020202020204" pitchFamily="34" charset="0"/>
              <a:buChar char="•"/>
            </a:pPr>
            <a:r>
              <a:rPr lang="es-MX" b="1" dirty="0">
                <a:solidFill>
                  <a:srgbClr val="646464"/>
                </a:solidFill>
                <a:latin typeface="Ubuntu"/>
              </a:rPr>
              <a:t>Zona neutral: </a:t>
            </a:r>
            <a:r>
              <a:rPr lang="es-MX" dirty="0">
                <a:solidFill>
                  <a:srgbClr val="646464"/>
                </a:solidFill>
                <a:latin typeface="Ubuntu"/>
              </a:rPr>
              <a:t>Es en donde se origina la incertidumbre y el desajuste entre el estado anterior y el nuevo. </a:t>
            </a:r>
          </a:p>
          <a:p>
            <a:endParaRPr lang="es-MX" dirty="0">
              <a:solidFill>
                <a:srgbClr val="646464"/>
              </a:solidFill>
              <a:latin typeface="Ubuntu"/>
            </a:endParaRPr>
          </a:p>
          <a:p>
            <a:pPr>
              <a:buFont typeface="Arial" panose="020B0604020202020204" pitchFamily="34" charset="0"/>
              <a:buChar char="•"/>
            </a:pPr>
            <a:r>
              <a:rPr lang="es-MX" b="1" dirty="0">
                <a:solidFill>
                  <a:srgbClr val="646464"/>
                </a:solidFill>
                <a:latin typeface="Ubuntu"/>
              </a:rPr>
              <a:t>Nuevo comienzo: </a:t>
            </a:r>
            <a:r>
              <a:rPr lang="es-MX" dirty="0">
                <a:solidFill>
                  <a:srgbClr val="646464"/>
                </a:solidFill>
                <a:latin typeface="Ubuntu"/>
              </a:rPr>
              <a:t>De aquí se causa la adaptación y la integración al nuevo estado.</a:t>
            </a:r>
          </a:p>
        </p:txBody>
      </p:sp>
      <p:pic>
        <p:nvPicPr>
          <p:cNvPr id="4" name="Imagen 3">
            <a:extLst>
              <a:ext uri="{FF2B5EF4-FFF2-40B4-BE49-F238E27FC236}">
                <a16:creationId xmlns:a16="http://schemas.microsoft.com/office/drawing/2014/main" id="{E40FE09A-0763-2B9A-FE58-087B645EBD8D}"/>
              </a:ext>
            </a:extLst>
          </p:cNvPr>
          <p:cNvPicPr>
            <a:picLocks noChangeAspect="1"/>
          </p:cNvPicPr>
          <p:nvPr/>
        </p:nvPicPr>
        <p:blipFill>
          <a:blip r:embed="rId4"/>
          <a:stretch>
            <a:fillRect/>
          </a:stretch>
        </p:blipFill>
        <p:spPr>
          <a:xfrm>
            <a:off x="6582712" y="1314450"/>
            <a:ext cx="5325218" cy="3534268"/>
          </a:xfrm>
          <a:prstGeom prst="rect">
            <a:avLst/>
          </a:prstGeom>
        </p:spPr>
      </p:pic>
    </p:spTree>
    <p:extLst>
      <p:ext uri="{BB962C8B-B14F-4D97-AF65-F5344CB8AC3E}">
        <p14:creationId xmlns:p14="http://schemas.microsoft.com/office/powerpoint/2010/main" val="3865698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6A5B3ED9-5244-64E7-D715-4A6B8F5B53AE}"/>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93D05007-AF5A-E61D-BC13-B2CFC1C65D6D}"/>
              </a:ext>
            </a:extLst>
          </p:cNvPr>
          <p:cNvSpPr txBox="1">
            <a:spLocks noGrp="1"/>
          </p:cNvSpPr>
          <p:nvPr>
            <p:ph type="title"/>
          </p:nvPr>
        </p:nvSpPr>
        <p:spPr>
          <a:xfrm>
            <a:off x="156694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MODELO DE KOTTER</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5EBFF3AC-6D3F-428F-139C-C47B42454C1D}"/>
              </a:ext>
            </a:extLst>
          </p:cNvPr>
          <p:cNvSpPr txBox="1"/>
          <p:nvPr/>
        </p:nvSpPr>
        <p:spPr>
          <a:xfrm>
            <a:off x="446839" y="1939259"/>
            <a:ext cx="5230091" cy="4351338"/>
          </a:xfrm>
          <a:prstGeom prst="rect">
            <a:avLst/>
          </a:prstGeom>
          <a:noFill/>
          <a:ln>
            <a:noFill/>
          </a:ln>
        </p:spPr>
        <p:txBody>
          <a:bodyPr spcFirstLastPara="1" wrap="square" lIns="91425" tIns="45700" rIns="91425" bIns="45700" anchor="t" anchorCtr="0">
            <a:normAutofit/>
          </a:bodyPr>
          <a:lstStyle/>
          <a:p>
            <a:r>
              <a:rPr lang="es-MX" sz="1600" dirty="0">
                <a:solidFill>
                  <a:srgbClr val="646464"/>
                </a:solidFill>
                <a:latin typeface="Ubuntu"/>
              </a:rPr>
              <a:t>Por último, este modelo fue propuesto por John Kotter en 1996 y consiste en su experiencia como consultor e investigador del cambio organizacional.</a:t>
            </a:r>
          </a:p>
          <a:p>
            <a:endParaRPr lang="es-MX" sz="1600" dirty="0">
              <a:solidFill>
                <a:srgbClr val="646464"/>
              </a:solidFill>
              <a:latin typeface="Ubuntu"/>
            </a:endParaRPr>
          </a:p>
          <a:p>
            <a:r>
              <a:rPr lang="es-MX" sz="1600" dirty="0">
                <a:solidFill>
                  <a:srgbClr val="646464"/>
                </a:solidFill>
                <a:latin typeface="Ubuntu"/>
              </a:rPr>
              <a:t>Este modelo se enfoca en ocho pasos que deben seguirse secuencialmente para lograr un cambio exitoso:</a:t>
            </a:r>
          </a:p>
          <a:p>
            <a:endParaRPr lang="es-MX" sz="1600" dirty="0">
              <a:solidFill>
                <a:srgbClr val="646464"/>
              </a:solidFill>
              <a:latin typeface="Ubuntu"/>
            </a:endParaRPr>
          </a:p>
          <a:p>
            <a:pPr>
              <a:buFont typeface="Arial"/>
              <a:buChar char="•"/>
            </a:pPr>
            <a:r>
              <a:rPr lang="es-MX" sz="1600" b="1" dirty="0">
                <a:solidFill>
                  <a:srgbClr val="646464"/>
                </a:solidFill>
                <a:latin typeface="Ubuntu"/>
              </a:rPr>
              <a:t>Crear un sentido de urgencia</a:t>
            </a:r>
            <a:r>
              <a:rPr lang="es-MX" sz="1600" dirty="0">
                <a:solidFill>
                  <a:srgbClr val="646464"/>
                </a:solidFill>
                <a:latin typeface="Ubuntu"/>
              </a:rPr>
              <a:t>: Se trata de generar conciencia sobre la necesidad y la importancia del cambio, así como también sobre las oportunidades y amenazas que implica. </a:t>
            </a:r>
          </a:p>
          <a:p>
            <a:endParaRPr lang="es-MX" sz="1600" dirty="0">
              <a:solidFill>
                <a:srgbClr val="646464"/>
              </a:solidFill>
              <a:latin typeface="Ubuntu"/>
            </a:endParaRPr>
          </a:p>
          <a:p>
            <a:pPr>
              <a:buFont typeface="Arial"/>
              <a:buChar char="•"/>
            </a:pPr>
            <a:r>
              <a:rPr lang="es-MX" sz="1600" b="1" dirty="0">
                <a:solidFill>
                  <a:srgbClr val="646464"/>
                </a:solidFill>
                <a:latin typeface="Ubuntu"/>
              </a:rPr>
              <a:t>Formar una coalición poderosa: </a:t>
            </a:r>
            <a:r>
              <a:rPr lang="es-MX" sz="1600" dirty="0">
                <a:solidFill>
                  <a:srgbClr val="646464"/>
                </a:solidFill>
                <a:latin typeface="Ubuntu"/>
              </a:rPr>
              <a:t>Consiste en reunir a un grupo de personas influyentes y comprometidas con el cambio, que puedan liderarlo y apoyarlo. </a:t>
            </a:r>
          </a:p>
        </p:txBody>
      </p:sp>
      <p:pic>
        <p:nvPicPr>
          <p:cNvPr id="3" name="Imagen 2">
            <a:extLst>
              <a:ext uri="{FF2B5EF4-FFF2-40B4-BE49-F238E27FC236}">
                <a16:creationId xmlns:a16="http://schemas.microsoft.com/office/drawing/2014/main" id="{131238AA-CE73-B6CF-8D27-F7529B738211}"/>
              </a:ext>
            </a:extLst>
          </p:cNvPr>
          <p:cNvPicPr>
            <a:picLocks noChangeAspect="1"/>
          </p:cNvPicPr>
          <p:nvPr/>
        </p:nvPicPr>
        <p:blipFill>
          <a:blip r:embed="rId4"/>
          <a:stretch>
            <a:fillRect/>
          </a:stretch>
        </p:blipFill>
        <p:spPr>
          <a:xfrm>
            <a:off x="7365668" y="662320"/>
            <a:ext cx="4207208" cy="5543873"/>
          </a:xfrm>
          <a:prstGeom prst="rect">
            <a:avLst/>
          </a:prstGeom>
        </p:spPr>
      </p:pic>
    </p:spTree>
    <p:extLst>
      <p:ext uri="{BB962C8B-B14F-4D97-AF65-F5344CB8AC3E}">
        <p14:creationId xmlns:p14="http://schemas.microsoft.com/office/powerpoint/2010/main" val="1883363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892AF67C-9B14-5575-6078-21892433F261}"/>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CC273E3D-4762-A8AF-2F64-57DBD8DCD4A6}"/>
              </a:ext>
            </a:extLst>
          </p:cNvPr>
          <p:cNvSpPr txBox="1">
            <a:spLocks noGrp="1"/>
          </p:cNvSpPr>
          <p:nvPr>
            <p:ph type="title"/>
          </p:nvPr>
        </p:nvSpPr>
        <p:spPr>
          <a:xfrm>
            <a:off x="156694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MODELO DE KOTTER</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9C701FE3-63AB-03A4-DFD4-283646F816D6}"/>
              </a:ext>
            </a:extLst>
          </p:cNvPr>
          <p:cNvSpPr txBox="1"/>
          <p:nvPr/>
        </p:nvSpPr>
        <p:spPr>
          <a:xfrm>
            <a:off x="446839" y="1939259"/>
            <a:ext cx="5230091" cy="4351338"/>
          </a:xfrm>
          <a:prstGeom prst="rect">
            <a:avLst/>
          </a:prstGeom>
          <a:noFill/>
          <a:ln>
            <a:noFill/>
          </a:ln>
        </p:spPr>
        <p:txBody>
          <a:bodyPr spcFirstLastPara="1" wrap="square" lIns="91425" tIns="45700" rIns="91425" bIns="45700" anchor="t" anchorCtr="0">
            <a:normAutofit lnSpcReduction="10000"/>
          </a:bodyPr>
          <a:lstStyle/>
          <a:p>
            <a:endParaRPr lang="es-MX" sz="1600" dirty="0">
              <a:solidFill>
                <a:srgbClr val="646464"/>
              </a:solidFill>
              <a:latin typeface="Ubuntu"/>
            </a:endParaRPr>
          </a:p>
          <a:p>
            <a:pPr>
              <a:buFont typeface="Arial" panose="020B0604020202020204" pitchFamily="34" charset="0"/>
              <a:buChar char="•"/>
            </a:pPr>
            <a:r>
              <a:rPr lang="es-MX" sz="1600" b="1" dirty="0">
                <a:solidFill>
                  <a:srgbClr val="646464"/>
                </a:solidFill>
                <a:latin typeface="Ubuntu"/>
              </a:rPr>
              <a:t>Desarrollar una visión y una estrategia</a:t>
            </a:r>
            <a:r>
              <a:rPr lang="es-MX" sz="1600" dirty="0">
                <a:solidFill>
                  <a:srgbClr val="646464"/>
                </a:solidFill>
                <a:latin typeface="Ubuntu"/>
              </a:rPr>
              <a:t>: Se basa en definir el propósito, los valores, los principios y las metas del cambio, al igual que el plan para alcanzarlos.</a:t>
            </a:r>
          </a:p>
          <a:p>
            <a:endParaRPr lang="es-MX" sz="1600" dirty="0">
              <a:solidFill>
                <a:srgbClr val="646464"/>
              </a:solidFill>
              <a:latin typeface="Ubuntu"/>
            </a:endParaRPr>
          </a:p>
          <a:p>
            <a:pPr>
              <a:buFont typeface="Arial" panose="020B0604020202020204" pitchFamily="34" charset="0"/>
              <a:buChar char="•"/>
            </a:pPr>
            <a:r>
              <a:rPr lang="es-MX" sz="1600" b="1" dirty="0">
                <a:solidFill>
                  <a:srgbClr val="646464"/>
                </a:solidFill>
                <a:latin typeface="Ubuntu"/>
              </a:rPr>
              <a:t>Comunicar la visión del cambio: </a:t>
            </a:r>
            <a:r>
              <a:rPr lang="es-MX" sz="1600" dirty="0">
                <a:solidFill>
                  <a:srgbClr val="646464"/>
                </a:solidFill>
                <a:latin typeface="Ubuntu"/>
              </a:rPr>
              <a:t>Se refiere a difundir y transmitir la visión y la estrategia del cambio a todos los niveles de la organización, utilizando diferentes medios y canales. </a:t>
            </a:r>
          </a:p>
          <a:p>
            <a:endParaRPr lang="es-MX" sz="1600" dirty="0">
              <a:solidFill>
                <a:srgbClr val="646464"/>
              </a:solidFill>
              <a:latin typeface="Ubuntu"/>
            </a:endParaRPr>
          </a:p>
          <a:p>
            <a:endParaRPr lang="es-MX" sz="1600" dirty="0">
              <a:solidFill>
                <a:srgbClr val="646464"/>
              </a:solidFill>
              <a:latin typeface="Ubuntu"/>
            </a:endParaRPr>
          </a:p>
          <a:p>
            <a:endParaRPr lang="es-MX" sz="1600" b="1" dirty="0">
              <a:solidFill>
                <a:srgbClr val="646464"/>
              </a:solidFill>
              <a:latin typeface="Ubuntu"/>
            </a:endParaRPr>
          </a:p>
          <a:p>
            <a:pPr>
              <a:buFont typeface="Arial" panose="020B0604020202020204" pitchFamily="34" charset="0"/>
              <a:buChar char="•"/>
            </a:pPr>
            <a:r>
              <a:rPr lang="es-MX" sz="1600" b="1" dirty="0">
                <a:solidFill>
                  <a:srgbClr val="646464"/>
                </a:solidFill>
                <a:latin typeface="Ubuntu"/>
              </a:rPr>
              <a:t>Empoderar a los empleados para actuar sobre el cambio: </a:t>
            </a:r>
            <a:r>
              <a:rPr lang="es-MX" sz="1600" dirty="0">
                <a:solidFill>
                  <a:srgbClr val="646464"/>
                </a:solidFill>
                <a:latin typeface="Ubuntu"/>
              </a:rPr>
              <a:t>Busca eliminar los obstáculos y las barreras que impiden o dificultan el cambio. Del mismo modo, facilita los recursos y las condiciones necesarias para su implementación</a:t>
            </a:r>
            <a:r>
              <a:rPr lang="es-MX" dirty="0">
                <a:solidFill>
                  <a:srgbClr val="1D0000"/>
                </a:solidFill>
                <a:latin typeface="Raleway" pitchFamily="2" charset="0"/>
              </a:rPr>
              <a:t>.</a:t>
            </a:r>
          </a:p>
          <a:p>
            <a:pPr>
              <a:buFont typeface="Arial"/>
              <a:buChar char="•"/>
            </a:pPr>
            <a:r>
              <a:rPr lang="es-MX" dirty="0">
                <a:solidFill>
                  <a:srgbClr val="646464"/>
                </a:solidFill>
                <a:latin typeface="Ubuntu"/>
              </a:rPr>
              <a:t>. </a:t>
            </a:r>
          </a:p>
        </p:txBody>
      </p:sp>
      <p:pic>
        <p:nvPicPr>
          <p:cNvPr id="3" name="Imagen 2">
            <a:extLst>
              <a:ext uri="{FF2B5EF4-FFF2-40B4-BE49-F238E27FC236}">
                <a16:creationId xmlns:a16="http://schemas.microsoft.com/office/drawing/2014/main" id="{35872D81-9288-1FE9-A475-560C2A7BC40B}"/>
              </a:ext>
            </a:extLst>
          </p:cNvPr>
          <p:cNvPicPr>
            <a:picLocks noChangeAspect="1"/>
          </p:cNvPicPr>
          <p:nvPr/>
        </p:nvPicPr>
        <p:blipFill>
          <a:blip r:embed="rId4"/>
          <a:stretch>
            <a:fillRect/>
          </a:stretch>
        </p:blipFill>
        <p:spPr>
          <a:xfrm>
            <a:off x="7365668" y="662320"/>
            <a:ext cx="4207208" cy="5543873"/>
          </a:xfrm>
          <a:prstGeom prst="rect">
            <a:avLst/>
          </a:prstGeom>
        </p:spPr>
      </p:pic>
    </p:spTree>
    <p:extLst>
      <p:ext uri="{BB962C8B-B14F-4D97-AF65-F5344CB8AC3E}">
        <p14:creationId xmlns:p14="http://schemas.microsoft.com/office/powerpoint/2010/main" val="3566158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3E56F146-8623-F0FF-59EC-4EF1474B2837}"/>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207F453F-7C49-40B5-570A-F3F53EE22D46}"/>
              </a:ext>
            </a:extLst>
          </p:cNvPr>
          <p:cNvSpPr txBox="1">
            <a:spLocks noGrp="1"/>
          </p:cNvSpPr>
          <p:nvPr>
            <p:ph type="title"/>
          </p:nvPr>
        </p:nvSpPr>
        <p:spPr>
          <a:xfrm>
            <a:off x="1532655" y="662320"/>
            <a:ext cx="5401558" cy="65213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MODELO DE LAS 7-S MCKINSEY</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BAEB8D46-8C17-108F-2FF4-CD704375E3FC}"/>
              </a:ext>
            </a:extLst>
          </p:cNvPr>
          <p:cNvSpPr txBox="1"/>
          <p:nvPr/>
        </p:nvSpPr>
        <p:spPr>
          <a:xfrm>
            <a:off x="446839" y="1939259"/>
            <a:ext cx="5230091" cy="4351338"/>
          </a:xfrm>
          <a:prstGeom prst="rect">
            <a:avLst/>
          </a:prstGeom>
          <a:noFill/>
          <a:ln>
            <a:noFill/>
          </a:ln>
        </p:spPr>
        <p:txBody>
          <a:bodyPr spcFirstLastPara="1" wrap="square" lIns="91425" tIns="45700" rIns="91425" bIns="45700" anchor="t" anchorCtr="0">
            <a:normAutofit/>
          </a:bodyPr>
          <a:lstStyle/>
          <a:p>
            <a:r>
              <a:rPr lang="es-MX" sz="1600" dirty="0">
                <a:solidFill>
                  <a:srgbClr val="646464"/>
                </a:solidFill>
                <a:latin typeface="Ubuntu"/>
              </a:rPr>
              <a:t>El Marco de las 7-S de McKinsey es un modelo integral desarrollado por consultores de McKinsey &amp; Company. Está diseñado para ayudar a las organizaciones a lograr alineación y coherencia durante períodos de cambio mediante el análisis de siete elementos internos críticos e interrelacionados.</a:t>
            </a:r>
          </a:p>
          <a:p>
            <a:endParaRPr lang="es-MX" sz="1600" dirty="0">
              <a:solidFill>
                <a:srgbClr val="646464"/>
              </a:solidFill>
              <a:latin typeface="Ubuntu"/>
            </a:endParaRPr>
          </a:p>
          <a:p>
            <a:r>
              <a:rPr lang="es-MX" sz="1600" dirty="0">
                <a:solidFill>
                  <a:srgbClr val="646464"/>
                </a:solidFill>
                <a:latin typeface="Ubuntu"/>
              </a:rPr>
              <a:t>El principio central del modelo es que la </a:t>
            </a:r>
            <a:r>
              <a:rPr lang="es-MX" sz="1600" b="1" dirty="0">
                <a:solidFill>
                  <a:srgbClr val="646464"/>
                </a:solidFill>
                <a:latin typeface="Ubuntu"/>
              </a:rPr>
              <a:t>verdadera transformación requiere un equilibrio entre estrategia, estructura y cultura,</a:t>
            </a:r>
            <a:r>
              <a:rPr lang="es-MX" sz="1600" dirty="0">
                <a:solidFill>
                  <a:srgbClr val="646464"/>
                </a:solidFill>
                <a:latin typeface="Ubuntu"/>
              </a:rPr>
              <a:t> no solo actualizaciones de procesos. Lo que distingue a este modelo es el énfasis igual que pone tanto en los elementos duros (que son tangibles y fáciles de definir) como en los elementos blandos (que son menos tangibles pero cruciales para el éxito a largo plazo).</a:t>
            </a:r>
          </a:p>
          <a:p>
            <a:pPr>
              <a:buFont typeface="Arial"/>
              <a:buChar char="•"/>
            </a:pPr>
            <a:r>
              <a:rPr lang="es-MX" dirty="0">
                <a:solidFill>
                  <a:srgbClr val="646464"/>
                </a:solidFill>
                <a:latin typeface="Ubuntu"/>
              </a:rPr>
              <a:t>. </a:t>
            </a:r>
          </a:p>
        </p:txBody>
      </p:sp>
      <p:pic>
        <p:nvPicPr>
          <p:cNvPr id="1026" name="Picture 2" descr="Marco de las 7-S de McKinsey">
            <a:extLst>
              <a:ext uri="{FF2B5EF4-FFF2-40B4-BE49-F238E27FC236}">
                <a16:creationId xmlns:a16="http://schemas.microsoft.com/office/drawing/2014/main" id="{1FD2FCC6-7B0B-C281-EE22-3116FACB10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3023" y="978458"/>
            <a:ext cx="5230091" cy="4901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180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1"/>
        <p:cNvGrpSpPr/>
        <p:nvPr/>
      </p:nvGrpSpPr>
      <p:grpSpPr>
        <a:xfrm>
          <a:off x="0" y="0"/>
          <a:ext cx="0" cy="0"/>
          <a:chOff x="0" y="0"/>
          <a:chExt cx="0" cy="0"/>
        </a:xfrm>
      </p:grpSpPr>
      <p:sp>
        <p:nvSpPr>
          <p:cNvPr id="142" name="Google Shape;142;p8"/>
          <p:cNvSpPr txBox="1">
            <a:spLocks noGrp="1"/>
          </p:cNvSpPr>
          <p:nvPr>
            <p:ph type="title"/>
          </p:nvPr>
        </p:nvSpPr>
        <p:spPr>
          <a:xfrm>
            <a:off x="884382" y="3034433"/>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000"/>
              <a:buFont typeface="Tahoma"/>
              <a:buNone/>
            </a:pPr>
            <a:r>
              <a:rPr lang="es-ES" sz="3000" b="1" dirty="0">
                <a:solidFill>
                  <a:schemeClr val="lt1"/>
                </a:solidFill>
                <a:latin typeface="Tahoma"/>
                <a:ea typeface="Tahoma"/>
                <a:cs typeface="Tahoma"/>
                <a:sym typeface="Tahoma"/>
              </a:rPr>
              <a:t>FASES DEL CAMBIO</a:t>
            </a:r>
            <a:endParaRPr sz="3000" b="1" dirty="0">
              <a:solidFill>
                <a:schemeClr val="lt1"/>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p:cNvGrpSpPr/>
        <p:nvPr/>
      </p:nvGrpSpPr>
      <p:grpSpPr>
        <a:xfrm>
          <a:off x="0" y="0"/>
          <a:ext cx="0" cy="0"/>
          <a:chOff x="0" y="0"/>
          <a:chExt cx="0" cy="0"/>
        </a:xfrm>
      </p:grpSpPr>
      <p:sp>
        <p:nvSpPr>
          <p:cNvPr id="5" name="Google Shape;113;p5">
            <a:extLst>
              <a:ext uri="{FF2B5EF4-FFF2-40B4-BE49-F238E27FC236}">
                <a16:creationId xmlns:a16="http://schemas.microsoft.com/office/drawing/2014/main" id="{194C5A94-4DB1-0413-AA3D-C618A20C6330}"/>
              </a:ext>
            </a:extLst>
          </p:cNvPr>
          <p:cNvSpPr txBox="1"/>
          <p:nvPr/>
        </p:nvSpPr>
        <p:spPr>
          <a:xfrm>
            <a:off x="7890627" y="2096421"/>
            <a:ext cx="5230091" cy="4351338"/>
          </a:xfrm>
          <a:prstGeom prst="rect">
            <a:avLst/>
          </a:prstGeom>
          <a:noFill/>
          <a:ln>
            <a:noFill/>
          </a:ln>
        </p:spPr>
        <p:txBody>
          <a:bodyPr spcFirstLastPara="1" wrap="square" lIns="91425" tIns="45700" rIns="91425" bIns="45700" anchor="t" anchorCtr="0">
            <a:normAutofit/>
          </a:bodyPr>
          <a:lstStyle/>
          <a:p>
            <a:pPr marL="514350" indent="-514350" algn="just">
              <a:lnSpc>
                <a:spcPct val="200000"/>
              </a:lnSpc>
              <a:buFont typeface="+mj-lt"/>
              <a:buAutoNum type="arabicParenR"/>
            </a:pPr>
            <a:r>
              <a:rPr lang="es-MX" sz="1600" dirty="0">
                <a:solidFill>
                  <a:srgbClr val="646464"/>
                </a:solidFill>
                <a:latin typeface="Ubuntu"/>
              </a:rPr>
              <a:t>INICIO </a:t>
            </a:r>
          </a:p>
          <a:p>
            <a:pPr marL="514350" indent="-514350" algn="just">
              <a:lnSpc>
                <a:spcPct val="200000"/>
              </a:lnSpc>
              <a:buFont typeface="+mj-lt"/>
              <a:buAutoNum type="arabicParenR"/>
            </a:pPr>
            <a:r>
              <a:rPr lang="es-MX" sz="1600" dirty="0">
                <a:solidFill>
                  <a:srgbClr val="646464"/>
                </a:solidFill>
                <a:latin typeface="Ubuntu"/>
              </a:rPr>
              <a:t>PLANIFICACIÓN </a:t>
            </a:r>
          </a:p>
          <a:p>
            <a:pPr marL="514350" indent="-514350" algn="just">
              <a:lnSpc>
                <a:spcPct val="200000"/>
              </a:lnSpc>
              <a:buFont typeface="+mj-lt"/>
              <a:buAutoNum type="arabicParenR"/>
            </a:pPr>
            <a:r>
              <a:rPr lang="es-MX" sz="1600" dirty="0">
                <a:solidFill>
                  <a:srgbClr val="646464"/>
                </a:solidFill>
                <a:latin typeface="Ubuntu"/>
              </a:rPr>
              <a:t>ADQUISICIÓN</a:t>
            </a:r>
          </a:p>
          <a:p>
            <a:pPr marL="514350" indent="-514350" algn="just">
              <a:lnSpc>
                <a:spcPct val="200000"/>
              </a:lnSpc>
              <a:buFont typeface="+mj-lt"/>
              <a:buAutoNum type="arabicParenR"/>
            </a:pPr>
            <a:r>
              <a:rPr lang="es-MX" sz="1600" dirty="0">
                <a:solidFill>
                  <a:srgbClr val="646464"/>
                </a:solidFill>
                <a:latin typeface="Ubuntu"/>
              </a:rPr>
              <a:t>EJECUCIÓN</a:t>
            </a:r>
          </a:p>
          <a:p>
            <a:pPr marL="514350" indent="-514350" algn="just">
              <a:lnSpc>
                <a:spcPct val="200000"/>
              </a:lnSpc>
              <a:buFont typeface="+mj-lt"/>
              <a:buAutoNum type="arabicParenR"/>
            </a:pPr>
            <a:r>
              <a:rPr lang="es-MX" sz="1600" dirty="0">
                <a:solidFill>
                  <a:srgbClr val="646464"/>
                </a:solidFill>
                <a:latin typeface="Ubuntu"/>
              </a:rPr>
              <a:t>FINALIZACIÓN</a:t>
            </a:r>
          </a:p>
          <a:p>
            <a:pPr marL="514350" indent="-514350" algn="just">
              <a:lnSpc>
                <a:spcPct val="200000"/>
              </a:lnSpc>
              <a:buFont typeface="+mj-lt"/>
              <a:buAutoNum type="arabicParenR"/>
            </a:pPr>
            <a:r>
              <a:rPr lang="es-MX" sz="1600" dirty="0">
                <a:solidFill>
                  <a:srgbClr val="646464"/>
                </a:solidFill>
                <a:latin typeface="Ubuntu"/>
              </a:rPr>
              <a:t>ESTABILIZACIÓN  </a:t>
            </a:r>
          </a:p>
          <a:p>
            <a:pPr>
              <a:buFont typeface="Arial"/>
              <a:buChar char="•"/>
            </a:pPr>
            <a:r>
              <a:rPr lang="es-MX" dirty="0">
                <a:solidFill>
                  <a:srgbClr val="646464"/>
                </a:solidFill>
                <a:latin typeface="Ubuntu"/>
              </a:rPr>
              <a:t>. </a:t>
            </a:r>
          </a:p>
        </p:txBody>
      </p:sp>
      <p:sp>
        <p:nvSpPr>
          <p:cNvPr id="7" name="Google Shape;142;p8">
            <a:extLst>
              <a:ext uri="{FF2B5EF4-FFF2-40B4-BE49-F238E27FC236}">
                <a16:creationId xmlns:a16="http://schemas.microsoft.com/office/drawing/2014/main" id="{4D7800B6-E147-02FE-6F09-484F7C345DF1}"/>
              </a:ext>
            </a:extLst>
          </p:cNvPr>
          <p:cNvSpPr txBox="1">
            <a:spLocks noGrp="1"/>
          </p:cNvSpPr>
          <p:nvPr>
            <p:ph type="title"/>
          </p:nvPr>
        </p:nvSpPr>
        <p:spPr>
          <a:xfrm>
            <a:off x="884382" y="1557339"/>
            <a:ext cx="5816456" cy="280265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000"/>
              <a:buFont typeface="Tahoma"/>
              <a:buNone/>
            </a:pPr>
            <a:r>
              <a:rPr lang="es-ES" sz="3000" b="1" dirty="0">
                <a:solidFill>
                  <a:srgbClr val="002060"/>
                </a:solidFill>
                <a:latin typeface="Tahoma"/>
                <a:ea typeface="Tahoma"/>
                <a:cs typeface="Tahoma"/>
                <a:sym typeface="Tahoma"/>
              </a:rPr>
              <a:t>FASES DEL CAMBIO</a:t>
            </a:r>
            <a:endParaRPr sz="3000" b="1" dirty="0">
              <a:solidFill>
                <a:srgbClr val="002060"/>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a:extLst>
            <a:ext uri="{FF2B5EF4-FFF2-40B4-BE49-F238E27FC236}">
              <a16:creationId xmlns:a16="http://schemas.microsoft.com/office/drawing/2014/main" id="{35B51598-538D-BC14-7C1D-951BA805731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EB0C779-8A40-C3B1-7AC5-D5C9578A84BC}"/>
              </a:ext>
            </a:extLst>
          </p:cNvPr>
          <p:cNvPicPr>
            <a:picLocks noChangeAspect="1"/>
          </p:cNvPicPr>
          <p:nvPr/>
        </p:nvPicPr>
        <p:blipFill>
          <a:blip r:embed="rId4"/>
          <a:stretch>
            <a:fillRect/>
          </a:stretch>
        </p:blipFill>
        <p:spPr>
          <a:xfrm>
            <a:off x="1572721" y="1271588"/>
            <a:ext cx="10017679" cy="4757737"/>
          </a:xfrm>
          <a:prstGeom prst="rect">
            <a:avLst/>
          </a:prstGeom>
        </p:spPr>
      </p:pic>
    </p:spTree>
    <p:extLst>
      <p:ext uri="{BB962C8B-B14F-4D97-AF65-F5344CB8AC3E}">
        <p14:creationId xmlns:p14="http://schemas.microsoft.com/office/powerpoint/2010/main" val="4110685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p:cNvGrpSpPr/>
        <p:nvPr/>
      </p:nvGrpSpPr>
      <p:grpSpPr>
        <a:xfrm>
          <a:off x="0" y="0"/>
          <a:ext cx="0" cy="0"/>
          <a:chOff x="0" y="0"/>
          <a:chExt cx="0" cy="0"/>
        </a:xfrm>
      </p:grpSpPr>
      <p:sp>
        <p:nvSpPr>
          <p:cNvPr id="153" name="Google Shape;153;p11"/>
          <p:cNvSpPr txBox="1"/>
          <p:nvPr/>
        </p:nvSpPr>
        <p:spPr>
          <a:xfrm>
            <a:off x="131308" y="1635086"/>
            <a:ext cx="11721602" cy="4351338"/>
          </a:xfrm>
          <a:prstGeom prst="rect">
            <a:avLst/>
          </a:prstGeom>
          <a:noFill/>
          <a:ln>
            <a:noFill/>
          </a:ln>
        </p:spPr>
        <p:txBody>
          <a:bodyPr spcFirstLastPara="1" wrap="square" lIns="91425" tIns="45700" rIns="91425" bIns="45700" anchor="t" anchorCtr="0">
            <a:normAutofit/>
          </a:bodyPr>
          <a:lstStyle/>
          <a:p>
            <a:pPr lvl="0">
              <a:lnSpc>
                <a:spcPct val="115000"/>
              </a:lnSpc>
              <a:spcBef>
                <a:spcPts val="1200"/>
              </a:spcBef>
            </a:pPr>
            <a:r>
              <a:rPr lang="es-MX" sz="1600" b="1" dirty="0">
                <a:solidFill>
                  <a:srgbClr val="646464"/>
                </a:solidFill>
                <a:latin typeface="Ubuntu"/>
              </a:rPr>
              <a:t>1. Identificar la necesidad del cambio</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600" dirty="0">
                <a:solidFill>
                  <a:srgbClr val="646464"/>
                </a:solidFill>
                <a:latin typeface="Ubuntu"/>
              </a:rPr>
              <a:t>Los cambios se presentan como resultado del análisis del contexto organizacional, la integración de nuevas tecnologías, nuevos requisitos legales, procesos nuevos, proyección a nuevos mercados, cambios en las expectativas y requisitos de los clientes o partes interesadas. Además, presentación de cambios en los edificios o instalaciones, insumos utilizados, estructura de la empresa, aspectos o impactos ambientales y nuevos procedimientos.</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9F366E8A-7D1C-DCF7-A04C-B9E5D4D262FC}"/>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0809F8CE-B4E7-0211-BB2E-DF0DE0EE0B75}"/>
              </a:ext>
            </a:extLst>
          </p:cNvPr>
          <p:cNvSpPr txBox="1"/>
          <p:nvPr/>
        </p:nvSpPr>
        <p:spPr>
          <a:xfrm>
            <a:off x="131308" y="1635086"/>
            <a:ext cx="11721602" cy="4351338"/>
          </a:xfrm>
          <a:prstGeom prst="rect">
            <a:avLst/>
          </a:prstGeom>
          <a:noFill/>
          <a:ln>
            <a:noFill/>
          </a:ln>
        </p:spPr>
        <p:txBody>
          <a:bodyPr spcFirstLastPara="1" wrap="square" lIns="91425" tIns="45700" rIns="91425" bIns="45700" anchor="t" anchorCtr="0">
            <a:normAutofit fontScale="85000" lnSpcReduction="10000"/>
          </a:bodyPr>
          <a:lstStyle/>
          <a:p>
            <a:pPr lvl="0">
              <a:lnSpc>
                <a:spcPct val="115000"/>
              </a:lnSpc>
              <a:spcBef>
                <a:spcPts val="1200"/>
              </a:spcBef>
            </a:pPr>
            <a:r>
              <a:rPr lang="es-MX" sz="1600" b="1" dirty="0">
                <a:solidFill>
                  <a:srgbClr val="646464"/>
                </a:solidFill>
                <a:latin typeface="Ubuntu"/>
              </a:rPr>
              <a:t>2. Analizar y evaluar la realización del cambio:</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700" dirty="0">
                <a:solidFill>
                  <a:srgbClr val="646464"/>
                </a:solidFill>
                <a:latin typeface="Ubuntu"/>
              </a:rPr>
              <a:t>Es necesario buscar información y analizar los beneficios y desventajas de hacer el cambio. Definir de forma clara los objetivos que se pretenden alcanzar, las expectativas a cumplir y analizar lo siguiente:</a:t>
            </a:r>
            <a:br>
              <a:rPr lang="es-MX" sz="1700" dirty="0">
                <a:solidFill>
                  <a:srgbClr val="646464"/>
                </a:solidFill>
                <a:latin typeface="Ubuntu"/>
              </a:rPr>
            </a:br>
            <a:r>
              <a:rPr lang="es-MX" sz="1700" dirty="0">
                <a:solidFill>
                  <a:srgbClr val="646464"/>
                </a:solidFill>
                <a:latin typeface="Ubuntu"/>
              </a:rPr>
              <a:t>• Antecedentes del Cambio</a:t>
            </a:r>
            <a:br>
              <a:rPr lang="es-MX" sz="1700" dirty="0">
                <a:solidFill>
                  <a:srgbClr val="646464"/>
                </a:solidFill>
                <a:latin typeface="Ubuntu"/>
              </a:rPr>
            </a:br>
            <a:r>
              <a:rPr lang="es-MX" sz="1700" dirty="0">
                <a:solidFill>
                  <a:srgbClr val="646464"/>
                </a:solidFill>
                <a:latin typeface="Ubuntu"/>
              </a:rPr>
              <a:t>• Alcance del cambio</a:t>
            </a:r>
            <a:br>
              <a:rPr lang="es-MX" sz="1700" dirty="0">
                <a:solidFill>
                  <a:srgbClr val="646464"/>
                </a:solidFill>
                <a:latin typeface="Ubuntu"/>
              </a:rPr>
            </a:br>
            <a:r>
              <a:rPr lang="es-MX" sz="1700" dirty="0">
                <a:solidFill>
                  <a:srgbClr val="646464"/>
                </a:solidFill>
                <a:latin typeface="Ubuntu"/>
              </a:rPr>
              <a:t>• Procesos afectados</a:t>
            </a:r>
            <a:br>
              <a:rPr lang="es-MX" sz="1700" dirty="0">
                <a:solidFill>
                  <a:srgbClr val="646464"/>
                </a:solidFill>
                <a:latin typeface="Ubuntu"/>
              </a:rPr>
            </a:br>
            <a:r>
              <a:rPr lang="es-MX" sz="1700" dirty="0">
                <a:solidFill>
                  <a:srgbClr val="646464"/>
                </a:solidFill>
                <a:latin typeface="Ubuntu"/>
              </a:rPr>
              <a:t>• Descripción del cambio y propósito</a:t>
            </a:r>
            <a:br>
              <a:rPr lang="es-MX" sz="1700" dirty="0">
                <a:solidFill>
                  <a:srgbClr val="646464"/>
                </a:solidFill>
                <a:latin typeface="Ubuntu"/>
              </a:rPr>
            </a:br>
            <a:r>
              <a:rPr lang="es-MX" sz="1700" dirty="0">
                <a:solidFill>
                  <a:srgbClr val="646464"/>
                </a:solidFill>
                <a:latin typeface="Ubuntu"/>
              </a:rPr>
              <a:t>• Análisis de impacto (Riesgos potenciales identificados en Calidad, Seguridad y Salud en el trabajo y Ambiente con las respectivas medidas de control).</a:t>
            </a:r>
            <a:br>
              <a:rPr lang="es-MX" sz="1700" dirty="0">
                <a:solidFill>
                  <a:srgbClr val="646464"/>
                </a:solidFill>
                <a:latin typeface="Ubuntu"/>
              </a:rPr>
            </a:br>
            <a:r>
              <a:rPr lang="es-MX" sz="1700" dirty="0">
                <a:solidFill>
                  <a:srgbClr val="646464"/>
                </a:solidFill>
                <a:latin typeface="Ubuntu"/>
              </a:rPr>
              <a:t>• Beneficios del cambio</a:t>
            </a:r>
            <a:br>
              <a:rPr lang="es-MX" sz="1700" dirty="0">
                <a:solidFill>
                  <a:srgbClr val="646464"/>
                </a:solidFill>
                <a:latin typeface="Ubuntu"/>
              </a:rPr>
            </a:br>
            <a:r>
              <a:rPr lang="es-MX" sz="1700" dirty="0">
                <a:solidFill>
                  <a:srgbClr val="646464"/>
                </a:solidFill>
                <a:latin typeface="Ubuntu"/>
              </a:rPr>
              <a:t>• Consecuencias de no realizar el cambio</a:t>
            </a:r>
            <a:br>
              <a:rPr lang="es-MX" sz="1700" dirty="0">
                <a:solidFill>
                  <a:srgbClr val="646464"/>
                </a:solidFill>
                <a:latin typeface="Ubuntu"/>
              </a:rPr>
            </a:br>
            <a:r>
              <a:rPr lang="es-MX" sz="1700" dirty="0">
                <a:solidFill>
                  <a:srgbClr val="646464"/>
                </a:solidFill>
                <a:latin typeface="Ubuntu"/>
              </a:rPr>
              <a:t>• Afectación de la integridad del sistema de gestión</a:t>
            </a:r>
            <a:br>
              <a:rPr lang="es-MX" sz="1700" dirty="0">
                <a:solidFill>
                  <a:srgbClr val="646464"/>
                </a:solidFill>
                <a:latin typeface="Ubuntu"/>
              </a:rPr>
            </a:br>
            <a:r>
              <a:rPr lang="es-MX" sz="1700" dirty="0">
                <a:solidFill>
                  <a:srgbClr val="646464"/>
                </a:solidFill>
                <a:latin typeface="Ubuntu"/>
              </a:rPr>
              <a:t>• Recursos</a:t>
            </a:r>
            <a:br>
              <a:rPr lang="es-MX" sz="1700" dirty="0">
                <a:solidFill>
                  <a:srgbClr val="646464"/>
                </a:solidFill>
                <a:latin typeface="Ubuntu"/>
              </a:rPr>
            </a:br>
            <a:r>
              <a:rPr lang="es-MX" sz="1700" dirty="0">
                <a:solidFill>
                  <a:srgbClr val="646464"/>
                </a:solidFill>
                <a:latin typeface="Ubuntu"/>
              </a:rPr>
              <a:t>• Análisis de los “Aspectos necesarios a tener en cuenta para realizar la gestión del cambio” mencionados en el punto anterior.</a:t>
            </a: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extLst>
      <p:ext uri="{BB962C8B-B14F-4D97-AF65-F5344CB8AC3E}">
        <p14:creationId xmlns:p14="http://schemas.microsoft.com/office/powerpoint/2010/main" val="1430805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CBC461D6-C4A0-D22C-AD29-3399B3E2468E}"/>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ACB0FBA7-7DFF-FE10-AC0F-AD15F4F0F97E}"/>
              </a:ext>
            </a:extLst>
          </p:cNvPr>
          <p:cNvSpPr txBox="1"/>
          <p:nvPr/>
        </p:nvSpPr>
        <p:spPr>
          <a:xfrm>
            <a:off x="1594348" y="377786"/>
            <a:ext cx="11721602" cy="5817274"/>
          </a:xfrm>
          <a:prstGeom prst="rect">
            <a:avLst/>
          </a:prstGeom>
          <a:noFill/>
          <a:ln>
            <a:noFill/>
          </a:ln>
        </p:spPr>
        <p:txBody>
          <a:bodyPr spcFirstLastPara="1" wrap="square" lIns="91425" tIns="45700" rIns="91425" bIns="45700" anchor="t" anchorCtr="0">
            <a:normAutofit fontScale="77500" lnSpcReduction="20000"/>
          </a:bodyPr>
          <a:lstStyle/>
          <a:p>
            <a:pPr lvl="0">
              <a:lnSpc>
                <a:spcPct val="115000"/>
              </a:lnSpc>
              <a:spcBef>
                <a:spcPts val="1200"/>
              </a:spcBef>
            </a:pPr>
            <a:r>
              <a:rPr lang="es-MX" sz="2600" b="1" dirty="0">
                <a:solidFill>
                  <a:srgbClr val="646464"/>
                </a:solidFill>
                <a:latin typeface="Ubuntu"/>
              </a:rPr>
              <a:t>3. Analizar  el riesgo: </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pic>
        <p:nvPicPr>
          <p:cNvPr id="3" name="Imagen 2">
            <a:extLst>
              <a:ext uri="{FF2B5EF4-FFF2-40B4-BE49-F238E27FC236}">
                <a16:creationId xmlns:a16="http://schemas.microsoft.com/office/drawing/2014/main" id="{46910E5B-0568-5733-29F6-99D45C9625C5}"/>
              </a:ext>
            </a:extLst>
          </p:cNvPr>
          <p:cNvPicPr>
            <a:picLocks noChangeAspect="1"/>
          </p:cNvPicPr>
          <p:nvPr/>
        </p:nvPicPr>
        <p:blipFill>
          <a:blip r:embed="rId4"/>
          <a:stretch>
            <a:fillRect/>
          </a:stretch>
        </p:blipFill>
        <p:spPr>
          <a:xfrm>
            <a:off x="2040905" y="1337565"/>
            <a:ext cx="7283607" cy="4182870"/>
          </a:xfrm>
          <a:prstGeom prst="rect">
            <a:avLst/>
          </a:prstGeom>
        </p:spPr>
      </p:pic>
    </p:spTree>
    <p:extLst>
      <p:ext uri="{BB962C8B-B14F-4D97-AF65-F5344CB8AC3E}">
        <p14:creationId xmlns:p14="http://schemas.microsoft.com/office/powerpoint/2010/main" val="4131749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2DD44200-3EFE-FBEA-9743-201D559C405D}"/>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E05241B1-1ABD-FF7C-29D1-D31131D537BA}"/>
              </a:ext>
            </a:extLst>
          </p:cNvPr>
          <p:cNvSpPr txBox="1"/>
          <p:nvPr/>
        </p:nvSpPr>
        <p:spPr>
          <a:xfrm>
            <a:off x="119878" y="1600796"/>
            <a:ext cx="11721602" cy="4351338"/>
          </a:xfrm>
          <a:prstGeom prst="rect">
            <a:avLst/>
          </a:prstGeom>
          <a:noFill/>
          <a:ln>
            <a:noFill/>
          </a:ln>
        </p:spPr>
        <p:txBody>
          <a:bodyPr spcFirstLastPara="1" wrap="square" lIns="91425" tIns="45700" rIns="91425" bIns="45700" anchor="t" anchorCtr="0">
            <a:normAutofit fontScale="25000" lnSpcReduction="20000"/>
          </a:bodyPr>
          <a:lstStyle/>
          <a:p>
            <a:pPr lvl="0">
              <a:lnSpc>
                <a:spcPct val="115000"/>
              </a:lnSpc>
              <a:spcBef>
                <a:spcPts val="1200"/>
              </a:spcBef>
            </a:pPr>
            <a:r>
              <a:rPr lang="es-MX" sz="11200" b="1" dirty="0">
                <a:solidFill>
                  <a:srgbClr val="646464"/>
                </a:solidFill>
                <a:latin typeface="Ubuntu"/>
              </a:rPr>
              <a:t>4. Planificación </a:t>
            </a:r>
          </a:p>
          <a:p>
            <a:pPr lvl="0">
              <a:lnSpc>
                <a:spcPct val="115000"/>
              </a:lnSpc>
              <a:spcBef>
                <a:spcPts val="1200"/>
              </a:spcBef>
            </a:pPr>
            <a:r>
              <a:rPr lang="es-MX" sz="6400" dirty="0">
                <a:solidFill>
                  <a:srgbClr val="646464"/>
                </a:solidFill>
                <a:latin typeface="Ubuntu"/>
              </a:rPr>
              <a:t>La gestión del cambio alcanza su madurez cuando la estrategia se traduce en una hoja de ruta táctica impecable. Este paso exige desglosar la visión en una secuencia lógica de hitos, donde cada actividad cuenta con un propietario claro (</a:t>
            </a:r>
            <a:r>
              <a:rPr lang="es-MX" sz="6400" dirty="0" err="1">
                <a:solidFill>
                  <a:srgbClr val="646464"/>
                </a:solidFill>
                <a:latin typeface="Ubuntu"/>
              </a:rPr>
              <a:t>Accountability</a:t>
            </a:r>
            <a:r>
              <a:rPr lang="es-MX" sz="6400" dirty="0">
                <a:solidFill>
                  <a:srgbClr val="646464"/>
                </a:solidFill>
                <a:latin typeface="Ubuntu"/>
              </a:rPr>
              <a:t>), recursos asignados y una línea de tiempo realista. No se trata solo de agendar tareas, sino de orquestar esfuerzos para que cada área de la empresa sepa exactamente qué hacer, cuándo hacerlo y cómo su aporte impacta en el éxito colectivo.</a:t>
            </a:r>
          </a:p>
          <a:p>
            <a:pPr lvl="0">
              <a:lnSpc>
                <a:spcPct val="115000"/>
              </a:lnSpc>
              <a:spcBef>
                <a:spcPts val="1200"/>
              </a:spcBef>
            </a:pPr>
            <a:endParaRPr lang="es-MX" sz="6400" dirty="0">
              <a:solidFill>
                <a:srgbClr val="646464"/>
              </a:solidFill>
              <a:latin typeface="Ubuntu"/>
            </a:endParaRPr>
          </a:p>
          <a:p>
            <a:pPr lvl="0">
              <a:lnSpc>
                <a:spcPct val="115000"/>
              </a:lnSpc>
              <a:spcBef>
                <a:spcPts val="1200"/>
              </a:spcBef>
            </a:pPr>
            <a:r>
              <a:rPr lang="es-MX" sz="6400" dirty="0">
                <a:solidFill>
                  <a:srgbClr val="646464"/>
                </a:solidFill>
                <a:latin typeface="Ubuntu"/>
              </a:rPr>
              <a:t>Para que esta ejecución sea efectiva, las fechas de cumplimiento deben actuar como anclas de compromiso, equilibrando la urgencia del mercado con la capacidad operativa del equipo. Definir responsables permite eliminar la ambigüedad, asegurando que el cambio no sea 'responsabilidad de todos' (lo que suele significar que no es de nadie), sino un compromiso individual monitoreado mediante tableros de control en tiempo real que garanticen la transparencia y la agilidad ante cualquier desviación.</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pic>
        <p:nvPicPr>
          <p:cNvPr id="3074" name="Picture 2" descr="Gantt chart and Project Management timeline">
            <a:extLst>
              <a:ext uri="{FF2B5EF4-FFF2-40B4-BE49-F238E27FC236}">
                <a16:creationId xmlns:a16="http://schemas.microsoft.com/office/drawing/2014/main" id="{E6E69397-9655-1BF2-9033-5252FF1FDF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2460" y="525780"/>
            <a:ext cx="2891790" cy="1626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60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9674A835-F32C-35AC-6897-CB79A0D17B3B}"/>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88FDA39E-9146-2EEC-0154-8F03A0EBD3C4}"/>
              </a:ext>
            </a:extLst>
          </p:cNvPr>
          <p:cNvSpPr txBox="1"/>
          <p:nvPr/>
        </p:nvSpPr>
        <p:spPr>
          <a:xfrm>
            <a:off x="131308" y="1635086"/>
            <a:ext cx="11721602" cy="4351338"/>
          </a:xfrm>
          <a:prstGeom prst="rect">
            <a:avLst/>
          </a:prstGeom>
          <a:noFill/>
          <a:ln>
            <a:noFill/>
          </a:ln>
        </p:spPr>
        <p:txBody>
          <a:bodyPr spcFirstLastPara="1" wrap="square" lIns="91425" tIns="45700" rIns="91425" bIns="45700" anchor="t" anchorCtr="0">
            <a:normAutofit/>
          </a:bodyPr>
          <a:lstStyle/>
          <a:p>
            <a:pPr lvl="0">
              <a:lnSpc>
                <a:spcPct val="115000"/>
              </a:lnSpc>
              <a:spcBef>
                <a:spcPts val="1200"/>
              </a:spcBef>
            </a:pPr>
            <a:r>
              <a:rPr lang="es-MX" sz="1600" b="1" dirty="0">
                <a:solidFill>
                  <a:srgbClr val="646464"/>
                </a:solidFill>
                <a:latin typeface="Ubuntu"/>
              </a:rPr>
              <a:t>5. Comunicación: </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600" dirty="0">
                <a:solidFill>
                  <a:srgbClr val="646464"/>
                </a:solidFill>
                <a:latin typeface="Ubuntu"/>
              </a:rPr>
              <a:t>Debe notificarse a los colaboradores y partes interesadas (clientes, autoridades, proveedores, contratistas, entre otros) involucradas, acerca del proceso de gestión del cambio con la finalidad que estos conozcan las acciones del mismo en las cuales se encuentran directa o indirectamente relacionados.</a:t>
            </a: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extLst>
      <p:ext uri="{BB962C8B-B14F-4D97-AF65-F5344CB8AC3E}">
        <p14:creationId xmlns:p14="http://schemas.microsoft.com/office/powerpoint/2010/main" val="3308752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01533FFC-75DE-CF65-6538-3BE0DD6C54E1}"/>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0828377B-6B43-11FA-CBB9-0AC87E31919F}"/>
              </a:ext>
            </a:extLst>
          </p:cNvPr>
          <p:cNvSpPr txBox="1"/>
          <p:nvPr/>
        </p:nvSpPr>
        <p:spPr>
          <a:xfrm>
            <a:off x="131308" y="1635086"/>
            <a:ext cx="11721602" cy="4351338"/>
          </a:xfrm>
          <a:prstGeom prst="rect">
            <a:avLst/>
          </a:prstGeom>
          <a:noFill/>
          <a:ln>
            <a:noFill/>
          </a:ln>
        </p:spPr>
        <p:txBody>
          <a:bodyPr spcFirstLastPara="1" wrap="square" lIns="91425" tIns="45700" rIns="91425" bIns="45700" anchor="t" anchorCtr="0">
            <a:normAutofit/>
          </a:bodyPr>
          <a:lstStyle/>
          <a:p>
            <a:pPr lvl="0">
              <a:lnSpc>
                <a:spcPct val="115000"/>
              </a:lnSpc>
              <a:spcBef>
                <a:spcPts val="1200"/>
              </a:spcBef>
            </a:pPr>
            <a:r>
              <a:rPr lang="es-MX" sz="1600" b="1" dirty="0">
                <a:solidFill>
                  <a:srgbClr val="646464"/>
                </a:solidFill>
                <a:latin typeface="Ubuntu"/>
              </a:rPr>
              <a:t>6. Implementación : </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600" dirty="0">
                <a:solidFill>
                  <a:srgbClr val="646464"/>
                </a:solidFill>
                <a:latin typeface="Ubuntu"/>
              </a:rPr>
              <a:t>Durante la puesta en marcha del cambio, se debe contar con el apoyo del equipo de trabajo. Los factores indispensables en la implementación son la utilización de los recursos, modificación de documentos, implementación de controles de los riesgos, peligros y aspectos de calidad, seguridad, salud en el trabajo y ambiente, entre otros.</a:t>
            </a: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extLst>
      <p:ext uri="{BB962C8B-B14F-4D97-AF65-F5344CB8AC3E}">
        <p14:creationId xmlns:p14="http://schemas.microsoft.com/office/powerpoint/2010/main" val="3829171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3A0B198E-1F33-9B91-CB6A-F26ED113C2AA}"/>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8E732355-1FC3-B632-D015-2B4A17D03191}"/>
              </a:ext>
            </a:extLst>
          </p:cNvPr>
          <p:cNvSpPr txBox="1"/>
          <p:nvPr/>
        </p:nvSpPr>
        <p:spPr>
          <a:xfrm>
            <a:off x="131308" y="1635086"/>
            <a:ext cx="11721602" cy="4351338"/>
          </a:xfrm>
          <a:prstGeom prst="rect">
            <a:avLst/>
          </a:prstGeom>
          <a:noFill/>
          <a:ln>
            <a:noFill/>
          </a:ln>
        </p:spPr>
        <p:txBody>
          <a:bodyPr spcFirstLastPara="1" wrap="square" lIns="91425" tIns="45700" rIns="91425" bIns="45700" anchor="t" anchorCtr="0">
            <a:normAutofit/>
          </a:bodyPr>
          <a:lstStyle/>
          <a:p>
            <a:pPr lvl="0">
              <a:lnSpc>
                <a:spcPct val="115000"/>
              </a:lnSpc>
              <a:spcBef>
                <a:spcPts val="1200"/>
              </a:spcBef>
            </a:pPr>
            <a:r>
              <a:rPr lang="es-MX" sz="1600" b="1" dirty="0">
                <a:solidFill>
                  <a:srgbClr val="646464"/>
                </a:solidFill>
                <a:latin typeface="Ubuntu"/>
              </a:rPr>
              <a:t>7. Evaluación  : </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600" dirty="0">
                <a:solidFill>
                  <a:srgbClr val="646464"/>
                </a:solidFill>
                <a:latin typeface="Ubuntu"/>
              </a:rPr>
              <a:t>Es necesario realizar seguimiento al plan de trabajo, validando la eficacia de su implementación. Una vez estandarizado el cambio y que se notifiquen los controles definidos, la persona responsable será la encargada de garantizar la ejecución de los mismo</a:t>
            </a: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extLst>
      <p:ext uri="{BB962C8B-B14F-4D97-AF65-F5344CB8AC3E}">
        <p14:creationId xmlns:p14="http://schemas.microsoft.com/office/powerpoint/2010/main" val="2395547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D0E90499-AB2D-C30F-FD5A-4499A7CF7388}"/>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B8F4B75D-D48D-93C2-166A-92735925FF22}"/>
              </a:ext>
            </a:extLst>
          </p:cNvPr>
          <p:cNvSpPr txBox="1"/>
          <p:nvPr/>
        </p:nvSpPr>
        <p:spPr>
          <a:xfrm>
            <a:off x="325618" y="1589366"/>
            <a:ext cx="11721602" cy="4351338"/>
          </a:xfrm>
          <a:prstGeom prst="rect">
            <a:avLst/>
          </a:prstGeom>
          <a:noFill/>
          <a:ln>
            <a:noFill/>
          </a:ln>
        </p:spPr>
        <p:txBody>
          <a:bodyPr spcFirstLastPara="1" wrap="square" lIns="91425" tIns="45700" rIns="91425" bIns="45700" anchor="t" anchorCtr="0">
            <a:normAutofit/>
          </a:bodyPr>
          <a:lstStyle/>
          <a:p>
            <a:pPr lvl="0">
              <a:lnSpc>
                <a:spcPct val="115000"/>
              </a:lnSpc>
              <a:spcBef>
                <a:spcPts val="1200"/>
              </a:spcBef>
            </a:pPr>
            <a:r>
              <a:rPr lang="es-MX" sz="1600" b="1" dirty="0">
                <a:solidFill>
                  <a:srgbClr val="646464"/>
                </a:solidFill>
                <a:latin typeface="Ubuntu"/>
              </a:rPr>
              <a:t>8. Comunicación a corto plazo  : </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r>
              <a:rPr lang="es-MX" sz="1600" dirty="0">
                <a:solidFill>
                  <a:srgbClr val="646464"/>
                </a:solidFill>
                <a:latin typeface="Ubuntu"/>
              </a:rPr>
              <a:t>Los resultados de un cambio pueden ser a largo plazo, por eso es conveniente asegurar logros pequeños y a corto plazo para que los resultados se vean reflejados paulatinamente y evitar el desánimo por parte de los participantes del cambio, asegurando el éxito final del proceso.</a:t>
            </a:r>
          </a:p>
          <a:p>
            <a:pPr lvl="0">
              <a:lnSpc>
                <a:spcPct val="115000"/>
              </a:lnSpc>
              <a:spcBef>
                <a:spcPts val="1200"/>
              </a:spcBef>
            </a:pPr>
            <a:endParaRPr lang="es-MX" sz="1200" dirty="0">
              <a:solidFill>
                <a:srgbClr val="646464"/>
              </a:solidFill>
              <a:latin typeface="Ubuntu"/>
            </a:endParaRPr>
          </a:p>
          <a:p>
            <a:pPr lvl="0">
              <a:lnSpc>
                <a:spcPct val="115000"/>
              </a:lnSpc>
              <a:spcBef>
                <a:spcPts val="1200"/>
              </a:spcBef>
            </a:pPr>
            <a:r>
              <a:rPr lang="es-MX" sz="1200" dirty="0">
                <a:solidFill>
                  <a:srgbClr val="646464"/>
                </a:solidFill>
                <a:latin typeface="Ubuntu"/>
              </a:rPr>
              <a:t>https://www.implementandosgi.com/deio/gestion-del-cambio</a:t>
            </a:r>
            <a:r>
              <a:rPr lang="es-MX" sz="1600" dirty="0">
                <a:solidFill>
                  <a:srgbClr val="646464"/>
                </a:solidFill>
                <a:latin typeface="Ubuntu"/>
              </a:rPr>
              <a:t>/</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extLst>
      <p:ext uri="{BB962C8B-B14F-4D97-AF65-F5344CB8AC3E}">
        <p14:creationId xmlns:p14="http://schemas.microsoft.com/office/powerpoint/2010/main" val="231670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578C4121-4A2E-6DC5-F106-1BF48CD98B07}"/>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00F5C53E-6095-E79F-A54F-504BEA3DAA70}"/>
              </a:ext>
            </a:extLst>
          </p:cNvPr>
          <p:cNvSpPr txBox="1"/>
          <p:nvPr/>
        </p:nvSpPr>
        <p:spPr>
          <a:xfrm>
            <a:off x="359908" y="1577936"/>
            <a:ext cx="11721602" cy="4351338"/>
          </a:xfrm>
          <a:prstGeom prst="rect">
            <a:avLst/>
          </a:prstGeom>
          <a:noFill/>
          <a:ln>
            <a:noFill/>
          </a:ln>
        </p:spPr>
        <p:txBody>
          <a:bodyPr spcFirstLastPara="1" wrap="square" lIns="91425" tIns="45700" rIns="91425" bIns="45700" anchor="t" anchorCtr="0">
            <a:normAutofit lnSpcReduction="10000"/>
          </a:bodyPr>
          <a:lstStyle/>
          <a:p>
            <a:pPr lvl="0">
              <a:lnSpc>
                <a:spcPct val="115000"/>
              </a:lnSpc>
              <a:spcBef>
                <a:spcPts val="1200"/>
              </a:spcBef>
            </a:pPr>
            <a:r>
              <a:rPr lang="es-MX" sz="1600" b="1" dirty="0">
                <a:solidFill>
                  <a:srgbClr val="646464"/>
                </a:solidFill>
                <a:latin typeface="Ubuntu"/>
              </a:rPr>
              <a:t>9. Generar acciones correctivas : </a:t>
            </a:r>
          </a:p>
          <a:p>
            <a:pPr>
              <a:lnSpc>
                <a:spcPct val="115000"/>
              </a:lnSpc>
              <a:spcBef>
                <a:spcPts val="1200"/>
              </a:spcBef>
            </a:pPr>
            <a:endParaRPr lang="es-MX" sz="1600" dirty="0">
              <a:solidFill>
                <a:srgbClr val="646464"/>
              </a:solidFill>
              <a:latin typeface="Ubuntu"/>
            </a:endParaRPr>
          </a:p>
          <a:p>
            <a:pPr>
              <a:lnSpc>
                <a:spcPct val="115000"/>
              </a:lnSpc>
              <a:spcBef>
                <a:spcPts val="1200"/>
              </a:spcBef>
            </a:pPr>
            <a:r>
              <a:rPr lang="es-MX" sz="1600" dirty="0">
                <a:solidFill>
                  <a:srgbClr val="646464"/>
                </a:solidFill>
                <a:latin typeface="Ubuntu"/>
              </a:rPr>
              <a:t>Generar acciones correctivas no es un síntoma de fracaso, sino la máxima expresión de una organización que aprende. En esta etapa, el liderazgo estratégico debe analizar las desviaciones detectadas en cualquier fase del proceso, no para buscar culpables, sino para identificar brechas de capacidad o errores de diseño. Implementar soluciones inmediatas y basadas en datos garantiza que el cambio mantenga su curso, transformando los obstáculos en puntos de aprendizaje acelerado que fortalecen la estructura organizacional.</a:t>
            </a:r>
          </a:p>
          <a:p>
            <a:pPr>
              <a:lnSpc>
                <a:spcPct val="115000"/>
              </a:lnSpc>
              <a:spcBef>
                <a:spcPts val="1200"/>
              </a:spcBef>
            </a:pPr>
            <a:r>
              <a:rPr lang="es-MX" sz="1600" dirty="0">
                <a:solidFill>
                  <a:srgbClr val="646464"/>
                </a:solidFill>
                <a:latin typeface="Ubuntu"/>
              </a:rPr>
              <a:t>"Bajo un enfoque de neuro-administración, las acciones correctivas deben gestionarse con rapidez para reducir la incertidumbre, la cual es el principal disparador de la resistencia y el cortisol en los equipos. Una solución bien implementada actúa como un refuerzo de confianza, demostrando a los colaboradores que el proceso cuenta con mecanismos de seguridad. Así, la corrección se convierte en agilidad estratégica, permitiendo que la empresa pivote sin perder el impulso, asegurando que la solución final no solo resuelva el problema, sino que prevenga su reaparición mediante la mejora continua.</a:t>
            </a:r>
          </a:p>
          <a:p>
            <a:pPr>
              <a:lnSpc>
                <a:spcPct val="115000"/>
              </a:lnSpc>
              <a:spcBef>
                <a:spcPts val="1200"/>
              </a:spcBef>
            </a:pPr>
            <a:r>
              <a:rPr lang="es-MX" sz="1600" dirty="0">
                <a:solidFill>
                  <a:srgbClr val="646464"/>
                </a:solidFill>
                <a:latin typeface="Ubuntu"/>
              </a:rPr>
              <a:t>https://www.implementandosgi.com/deio/gestion-del-cambio/</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extLst>
      <p:ext uri="{BB962C8B-B14F-4D97-AF65-F5344CB8AC3E}">
        <p14:creationId xmlns:p14="http://schemas.microsoft.com/office/powerpoint/2010/main" val="1918142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F87D73B5-4865-EAB3-AD4A-7E188AC2C422}"/>
            </a:ext>
          </a:extLst>
        </p:cNvPr>
        <p:cNvGrpSpPr/>
        <p:nvPr/>
      </p:nvGrpSpPr>
      <p:grpSpPr>
        <a:xfrm>
          <a:off x="0" y="0"/>
          <a:ext cx="0" cy="0"/>
          <a:chOff x="0" y="0"/>
          <a:chExt cx="0" cy="0"/>
        </a:xfrm>
      </p:grpSpPr>
      <p:sp>
        <p:nvSpPr>
          <p:cNvPr id="153" name="Google Shape;153;p11">
            <a:extLst>
              <a:ext uri="{FF2B5EF4-FFF2-40B4-BE49-F238E27FC236}">
                <a16:creationId xmlns:a16="http://schemas.microsoft.com/office/drawing/2014/main" id="{8DB2C4D1-0A7C-F3FD-6331-527ACF9DA50C}"/>
              </a:ext>
            </a:extLst>
          </p:cNvPr>
          <p:cNvSpPr txBox="1"/>
          <p:nvPr/>
        </p:nvSpPr>
        <p:spPr>
          <a:xfrm>
            <a:off x="359908" y="1577936"/>
            <a:ext cx="11721602" cy="4351338"/>
          </a:xfrm>
          <a:prstGeom prst="rect">
            <a:avLst/>
          </a:prstGeom>
          <a:noFill/>
          <a:ln>
            <a:noFill/>
          </a:ln>
        </p:spPr>
        <p:txBody>
          <a:bodyPr spcFirstLastPara="1" wrap="square" lIns="91425" tIns="45700" rIns="91425" bIns="45700" anchor="t" anchorCtr="0">
            <a:normAutofit/>
          </a:bodyPr>
          <a:lstStyle/>
          <a:p>
            <a:pPr lvl="0">
              <a:lnSpc>
                <a:spcPct val="115000"/>
              </a:lnSpc>
              <a:spcBef>
                <a:spcPts val="1200"/>
              </a:spcBef>
            </a:pPr>
            <a:r>
              <a:rPr lang="es-MX" sz="1600" b="1" dirty="0">
                <a:solidFill>
                  <a:srgbClr val="646464"/>
                </a:solidFill>
                <a:latin typeface="Ubuntu"/>
              </a:rPr>
              <a:t>10. Generar Cultura y adopción del cambio</a:t>
            </a:r>
          </a:p>
          <a:p>
            <a:pPr>
              <a:lnSpc>
                <a:spcPct val="115000"/>
              </a:lnSpc>
              <a:spcBef>
                <a:spcPts val="1200"/>
              </a:spcBef>
            </a:pPr>
            <a:endParaRPr lang="es-MX" sz="1600" dirty="0">
              <a:solidFill>
                <a:srgbClr val="646464"/>
              </a:solidFill>
              <a:latin typeface="Ubuntu"/>
            </a:endParaRPr>
          </a:p>
          <a:p>
            <a:r>
              <a:rPr lang="es-MX" sz="1600" dirty="0">
                <a:solidFill>
                  <a:srgbClr val="646464"/>
                </a:solidFill>
                <a:latin typeface="Ubuntu"/>
              </a:rPr>
              <a:t>La verdadera victoria en la gestión del cambio no ocurre cuando el nuevo sistema se instala, sino cuando se vuelve invisible: cuando se convierte en un hábito. Consolidar el cambio significa transitar del esfuerzo consciente (que agota la energía del equipo) a la automatización operativa. Para lograrlo, la organización debe diseñar sistemas de refuerzo que conviertan las nuevas conductas en la norma cultural, asegurando que el retorno al 'viejo modo' sea percibido como algo extraño e ineficiente.</a:t>
            </a:r>
          </a:p>
          <a:p>
            <a:endParaRPr lang="es-MX" sz="1600" dirty="0">
              <a:solidFill>
                <a:srgbClr val="646464"/>
              </a:solidFill>
              <a:latin typeface="Ubuntu"/>
            </a:endParaRPr>
          </a:p>
          <a:p>
            <a:r>
              <a:rPr lang="es-MX" sz="1600" dirty="0">
                <a:solidFill>
                  <a:srgbClr val="646464"/>
                </a:solidFill>
                <a:latin typeface="Ubuntu"/>
              </a:rPr>
              <a:t>Desde la neurociencia, este paso es la formación de nuevas huellas sinápticas en el cerebro colectivo. Un cambio se vuelve hábito cuando pasa de la corteza prefrontal (donde requiere atención y voluntad) a los ganglios basales (donde se ejecuta sin esfuerzo). Para un líder de 2026, esto implica institucionalizar rituales, ajustar los sistemas de incentivos y garantizar que el nuevo modelo sea el único camino hacia el éxito. Solo cuando el cambio deja de ser 'lo nuevo' y se convierte en 'nuestra forma de ser', podemos decir que la transformación ha sido exitosa.</a:t>
            </a:r>
          </a:p>
          <a:p>
            <a:pPr>
              <a:lnSpc>
                <a:spcPct val="115000"/>
              </a:lnSpc>
              <a:spcBef>
                <a:spcPts val="1200"/>
              </a:spcBef>
            </a:pPr>
            <a:r>
              <a:rPr lang="es-MX" sz="1600" dirty="0">
                <a:solidFill>
                  <a:srgbClr val="646464"/>
                </a:solidFill>
                <a:latin typeface="Ubuntu"/>
              </a:rPr>
              <a:t>https://www.implementandosgi.com/deio/gestion-del-cambio/</a:t>
            </a:r>
          </a:p>
          <a:p>
            <a:pPr lvl="0">
              <a:lnSpc>
                <a:spcPct val="115000"/>
              </a:lnSpc>
              <a:spcBef>
                <a:spcPts val="1200"/>
              </a:spcBef>
            </a:pPr>
            <a:endParaRPr lang="es-MX" sz="1600" dirty="0">
              <a:solidFill>
                <a:srgbClr val="646464"/>
              </a:solidFill>
              <a:latin typeface="Ubuntu"/>
            </a:endParaRPr>
          </a:p>
          <a:p>
            <a:pPr lvl="0">
              <a:lnSpc>
                <a:spcPct val="115000"/>
              </a:lnSpc>
              <a:spcBef>
                <a:spcPts val="1200"/>
              </a:spcBef>
            </a:pPr>
            <a:endParaRPr sz="1600" dirty="0">
              <a:solidFill>
                <a:srgbClr val="646464"/>
              </a:solidFill>
              <a:latin typeface="Ubuntu"/>
            </a:endParaRPr>
          </a:p>
        </p:txBody>
      </p:sp>
    </p:spTree>
    <p:extLst>
      <p:ext uri="{BB962C8B-B14F-4D97-AF65-F5344CB8AC3E}">
        <p14:creationId xmlns:p14="http://schemas.microsoft.com/office/powerpoint/2010/main" val="4131697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8"/>
        <p:cNvGrpSpPr/>
        <p:nvPr/>
      </p:nvGrpSpPr>
      <p:grpSpPr>
        <a:xfrm>
          <a:off x="0" y="0"/>
          <a:ext cx="0" cy="0"/>
          <a:chOff x="0" y="0"/>
          <a:chExt cx="0" cy="0"/>
        </a:xfrm>
      </p:grpSpPr>
      <p:sp>
        <p:nvSpPr>
          <p:cNvPr id="179" name="Google Shape;179;g38714cf8a32_0_14"/>
          <p:cNvSpPr txBox="1">
            <a:spLocks noGrp="1"/>
          </p:cNvSpPr>
          <p:nvPr>
            <p:ph type="title"/>
          </p:nvPr>
        </p:nvSpPr>
        <p:spPr>
          <a:xfrm>
            <a:off x="884382" y="3034433"/>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000"/>
              <a:buFont typeface="Tahoma"/>
              <a:buNone/>
            </a:pPr>
            <a:r>
              <a:rPr lang="es-ES" sz="3000" b="1" dirty="0">
                <a:solidFill>
                  <a:schemeClr val="lt1"/>
                </a:solidFill>
                <a:latin typeface="Tahoma"/>
                <a:ea typeface="Tahoma"/>
                <a:cs typeface="Tahoma"/>
                <a:sym typeface="Tahoma"/>
              </a:rPr>
              <a:t>PASOS DE GESTION DEL CAMBIO</a:t>
            </a:r>
            <a:endParaRPr sz="3000" b="1" dirty="0">
              <a:solidFill>
                <a:schemeClr val="lt1"/>
              </a:solidFill>
              <a:latin typeface="Tahoma"/>
              <a:ea typeface="Tahoma"/>
              <a:cs typeface="Tahoma"/>
              <a:sym typeface="Tahom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183"/>
        <p:cNvGrpSpPr/>
        <p:nvPr/>
      </p:nvGrpSpPr>
      <p:grpSpPr>
        <a:xfrm>
          <a:off x="0" y="0"/>
          <a:ext cx="0" cy="0"/>
          <a:chOff x="0" y="0"/>
          <a:chExt cx="0" cy="0"/>
        </a:xfrm>
      </p:grpSpPr>
      <p:pic>
        <p:nvPicPr>
          <p:cNvPr id="2" name="Elementos multimedia en línea 1" title="6 claves para entender y liderar el cambio | Ane Agirre | TEDxUDeusto">
            <a:hlinkClick r:id="" action="ppaction://media"/>
            <a:extLst>
              <a:ext uri="{FF2B5EF4-FFF2-40B4-BE49-F238E27FC236}">
                <a16:creationId xmlns:a16="http://schemas.microsoft.com/office/drawing/2014/main" id="{3F8F58EB-51B4-3A33-CBB0-84AD36ADD2BA}"/>
              </a:ext>
            </a:extLst>
          </p:cNvPr>
          <p:cNvPicPr>
            <a:picLocks noRot="1" noChangeAspect="1"/>
          </p:cNvPicPr>
          <p:nvPr>
            <a:videoFile r:link="rId1"/>
          </p:nvPr>
        </p:nvPicPr>
        <p:blipFill>
          <a:blip r:embed="rId5"/>
          <a:stretch>
            <a:fillRect/>
          </a:stretch>
        </p:blipFill>
        <p:spPr>
          <a:xfrm>
            <a:off x="2434749" y="1360388"/>
            <a:ext cx="7322502" cy="41372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0CFAFE73-2B88-F5A7-1E26-2C3942806611}"/>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4DF9915B-E155-B041-8038-AE7D8A9740B4}"/>
              </a:ext>
            </a:extLst>
          </p:cNvPr>
          <p:cNvSpPr txBox="1">
            <a:spLocks noGrp="1"/>
          </p:cNvSpPr>
          <p:nvPr>
            <p:ph type="title"/>
          </p:nvPr>
        </p:nvSpPr>
        <p:spPr>
          <a:xfrm>
            <a:off x="1532655" y="662320"/>
            <a:ext cx="5401558" cy="65213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ELEMENTOS CLAVE DEL CAMBIO</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BC84BC4E-4E01-1BDC-6F3C-A29C225B7712}"/>
              </a:ext>
            </a:extLst>
          </p:cNvPr>
          <p:cNvSpPr txBox="1"/>
          <p:nvPr/>
        </p:nvSpPr>
        <p:spPr>
          <a:xfrm>
            <a:off x="446839" y="1939259"/>
            <a:ext cx="10571681" cy="4351338"/>
          </a:xfrm>
          <a:prstGeom prst="rect">
            <a:avLst/>
          </a:prstGeom>
          <a:noFill/>
          <a:ln>
            <a:noFill/>
          </a:ln>
        </p:spPr>
        <p:txBody>
          <a:bodyPr spcFirstLastPara="1" wrap="square" lIns="91425" tIns="45700" rIns="91425" bIns="45700" anchor="t" anchorCtr="0">
            <a:normAutofit/>
          </a:bodyPr>
          <a:lstStyle/>
          <a:p>
            <a:r>
              <a:rPr lang="es-MX" sz="2000" dirty="0">
                <a:solidFill>
                  <a:srgbClr val="646464"/>
                </a:solidFill>
                <a:latin typeface="Ubuntu"/>
              </a:rPr>
              <a:t>Algunos de los elementos esenciales que debemos identificar al abordar un cambio:</a:t>
            </a:r>
          </a:p>
          <a:p>
            <a:endParaRPr lang="es-MX" sz="2000" dirty="0">
              <a:solidFill>
                <a:srgbClr val="646464"/>
              </a:solidFill>
              <a:latin typeface="Ubuntu"/>
            </a:endParaRPr>
          </a:p>
          <a:p>
            <a:pPr marL="285750" indent="-285750">
              <a:lnSpc>
                <a:spcPct val="150000"/>
              </a:lnSpc>
              <a:buFont typeface="Arial" panose="020B0604020202020204" pitchFamily="34" charset="0"/>
              <a:buChar char="•"/>
            </a:pPr>
            <a:r>
              <a:rPr lang="es-MX" sz="2000" dirty="0">
                <a:solidFill>
                  <a:srgbClr val="646464"/>
                </a:solidFill>
                <a:latin typeface="Ubuntu"/>
              </a:rPr>
              <a:t>Motivación / necesidad del cambio: ¿Por qué cambiar? Qué impulsa la necesidad del cambio.</a:t>
            </a:r>
          </a:p>
          <a:p>
            <a:pPr marL="285750" indent="-285750">
              <a:lnSpc>
                <a:spcPct val="150000"/>
              </a:lnSpc>
              <a:buFont typeface="Arial" panose="020B0604020202020204" pitchFamily="34" charset="0"/>
              <a:buChar char="•"/>
            </a:pPr>
            <a:r>
              <a:rPr lang="es-MX" sz="2000" dirty="0">
                <a:solidFill>
                  <a:srgbClr val="646464"/>
                </a:solidFill>
                <a:latin typeface="Ubuntu"/>
              </a:rPr>
              <a:t>Visión o estado deseado: ¿Hacia dónde vamos? Definir el objetivo o meta del cambio.</a:t>
            </a:r>
          </a:p>
          <a:p>
            <a:pPr marL="285750" indent="-285750">
              <a:lnSpc>
                <a:spcPct val="150000"/>
              </a:lnSpc>
              <a:buFont typeface="Arial" panose="020B0604020202020204" pitchFamily="34" charset="0"/>
              <a:buChar char="•"/>
            </a:pPr>
            <a:r>
              <a:rPr lang="es-MX" sz="2000" dirty="0">
                <a:solidFill>
                  <a:srgbClr val="646464"/>
                </a:solidFill>
                <a:latin typeface="Ubuntu"/>
              </a:rPr>
              <a:t>Ámbito / alcance: ¿Qué partes de la organización serán afectadas (procesos, personas, tecnología, estructura)?</a:t>
            </a:r>
          </a:p>
          <a:p>
            <a:pPr marL="285750" indent="-285750">
              <a:buFont typeface="Arial" panose="020B0604020202020204" pitchFamily="34" charset="0"/>
              <a:buChar char="•"/>
            </a:pPr>
            <a:r>
              <a:rPr lang="es-MX" sz="1600" dirty="0">
                <a:solidFill>
                  <a:srgbClr val="646464"/>
                </a:solidFill>
                <a:latin typeface="Ubuntu"/>
              </a:rPr>
              <a:t>.</a:t>
            </a:r>
          </a:p>
          <a:p>
            <a:pPr>
              <a:buFont typeface="Arial"/>
              <a:buChar char="•"/>
            </a:pPr>
            <a:r>
              <a:rPr lang="es-MX" dirty="0">
                <a:solidFill>
                  <a:srgbClr val="646464"/>
                </a:solidFill>
                <a:latin typeface="Ubuntu"/>
              </a:rPr>
              <a:t>. </a:t>
            </a:r>
          </a:p>
        </p:txBody>
      </p:sp>
    </p:spTree>
    <p:extLst>
      <p:ext uri="{BB962C8B-B14F-4D97-AF65-F5344CB8AC3E}">
        <p14:creationId xmlns:p14="http://schemas.microsoft.com/office/powerpoint/2010/main" val="2208427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C42B7AB7-18F8-32EF-39BE-29DE0F38C5EB}"/>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D982EF27-F43E-5D5B-77A0-DE6B4A02B30C}"/>
              </a:ext>
            </a:extLst>
          </p:cNvPr>
          <p:cNvSpPr txBox="1">
            <a:spLocks noGrp="1"/>
          </p:cNvSpPr>
          <p:nvPr>
            <p:ph type="title"/>
          </p:nvPr>
        </p:nvSpPr>
        <p:spPr>
          <a:xfrm>
            <a:off x="1532655" y="662320"/>
            <a:ext cx="5401558" cy="65213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ELEMENTOS CLAVE DEL CAMBIO</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7C74CBB1-F820-DA07-75CB-79AC796E05BB}"/>
              </a:ext>
            </a:extLst>
          </p:cNvPr>
          <p:cNvSpPr txBox="1"/>
          <p:nvPr/>
        </p:nvSpPr>
        <p:spPr>
          <a:xfrm>
            <a:off x="446839" y="1939259"/>
            <a:ext cx="10571681" cy="4351338"/>
          </a:xfrm>
          <a:prstGeom prst="rect">
            <a:avLst/>
          </a:prstGeom>
          <a:noFill/>
          <a:ln>
            <a:noFill/>
          </a:ln>
        </p:spPr>
        <p:txBody>
          <a:bodyPr spcFirstLastPara="1" wrap="square" lIns="91425" tIns="45700" rIns="91425" bIns="45700" anchor="t" anchorCtr="0">
            <a:normAutofit lnSpcReduction="10000"/>
          </a:bodyPr>
          <a:lstStyle/>
          <a:p>
            <a:pPr marL="342900" indent="-342900">
              <a:lnSpc>
                <a:spcPct val="150000"/>
              </a:lnSpc>
              <a:buFont typeface="Arial" panose="020B0604020202020204" pitchFamily="34" charset="0"/>
              <a:buChar char="•"/>
            </a:pPr>
            <a:r>
              <a:rPr lang="es-MX" sz="2100" dirty="0">
                <a:solidFill>
                  <a:srgbClr val="646464"/>
                </a:solidFill>
                <a:latin typeface="Ubuntu"/>
              </a:rPr>
              <a:t>Actores / </a:t>
            </a:r>
            <a:r>
              <a:rPr lang="es-MX" sz="2100" dirty="0" err="1">
                <a:solidFill>
                  <a:srgbClr val="646464"/>
                </a:solidFill>
                <a:latin typeface="Ubuntu"/>
              </a:rPr>
              <a:t>stakeholders</a:t>
            </a:r>
            <a:r>
              <a:rPr lang="es-MX" sz="2100" dirty="0">
                <a:solidFill>
                  <a:srgbClr val="646464"/>
                </a:solidFill>
                <a:latin typeface="Ubuntu"/>
              </a:rPr>
              <a:t>: Quienes participan, quienes se ven afectados, quién lidera el cambio.</a:t>
            </a:r>
          </a:p>
          <a:p>
            <a:pPr marL="342900" indent="-342900">
              <a:lnSpc>
                <a:spcPct val="150000"/>
              </a:lnSpc>
              <a:buFont typeface="Arial" panose="020B0604020202020204" pitchFamily="34" charset="0"/>
              <a:buChar char="•"/>
            </a:pPr>
            <a:r>
              <a:rPr lang="es-MX" sz="2100" dirty="0">
                <a:solidFill>
                  <a:srgbClr val="646464"/>
                </a:solidFill>
                <a:latin typeface="Ubuntu"/>
              </a:rPr>
              <a:t>Recursos y capacidades: Las habilidades, los sistemas y recursos que permitirán el cambio.</a:t>
            </a:r>
          </a:p>
          <a:p>
            <a:pPr marL="342900" indent="-342900">
              <a:lnSpc>
                <a:spcPct val="150000"/>
              </a:lnSpc>
              <a:buFont typeface="Arial" panose="020B0604020202020204" pitchFamily="34" charset="0"/>
              <a:buChar char="•"/>
            </a:pPr>
            <a:r>
              <a:rPr lang="es-MX" sz="2100" dirty="0">
                <a:solidFill>
                  <a:srgbClr val="646464"/>
                </a:solidFill>
                <a:latin typeface="Ubuntu"/>
              </a:rPr>
              <a:t>Comunicación y resistencia: Cómo se va a comunicar el cambio y cómo se gestionará la resistencia.</a:t>
            </a:r>
          </a:p>
          <a:p>
            <a:pPr marL="342900" indent="-342900">
              <a:lnSpc>
                <a:spcPct val="150000"/>
              </a:lnSpc>
              <a:buFont typeface="Arial" panose="020B0604020202020204" pitchFamily="34" charset="0"/>
              <a:buChar char="•"/>
            </a:pPr>
            <a:r>
              <a:rPr lang="es-MX" sz="2100" dirty="0">
                <a:solidFill>
                  <a:srgbClr val="646464"/>
                </a:solidFill>
                <a:latin typeface="Ubuntu"/>
              </a:rPr>
              <a:t>Sostenibilidad: Cómo asegurar que el cambio se mantenga en el tiempo (refuerzo, cultura).</a:t>
            </a:r>
            <a:br>
              <a:rPr lang="es-MX" sz="2100" dirty="0">
                <a:solidFill>
                  <a:srgbClr val="646464"/>
                </a:solidFill>
                <a:latin typeface="Ubuntu"/>
              </a:rPr>
            </a:br>
            <a:r>
              <a:rPr lang="es-MX" sz="2100" dirty="0">
                <a:solidFill>
                  <a:srgbClr val="646464"/>
                </a:solidFill>
                <a:latin typeface="Ubuntu"/>
              </a:rPr>
              <a:t>Estos elementos se reflejan con claridad en el enfoque de gestión del cambio.</a:t>
            </a:r>
            <a:endParaRPr lang="es-CO" sz="2100" dirty="0">
              <a:solidFill>
                <a:srgbClr val="646464"/>
              </a:solidFill>
              <a:latin typeface="Ubuntu"/>
            </a:endParaRPr>
          </a:p>
          <a:p>
            <a:endParaRPr lang="es-CO" sz="2000" dirty="0"/>
          </a:p>
          <a:p>
            <a:pPr marL="285750" indent="-285750">
              <a:buFont typeface="Arial" panose="020B0604020202020204" pitchFamily="34" charset="0"/>
              <a:buChar char="•"/>
            </a:pPr>
            <a:endParaRPr lang="es-MX" sz="1600" dirty="0">
              <a:solidFill>
                <a:srgbClr val="646464"/>
              </a:solidFill>
              <a:latin typeface="Ubuntu"/>
            </a:endParaRPr>
          </a:p>
          <a:p>
            <a:pPr>
              <a:buFont typeface="Arial"/>
              <a:buChar char="•"/>
            </a:pPr>
            <a:endParaRPr lang="es-MX" dirty="0">
              <a:solidFill>
                <a:srgbClr val="646464"/>
              </a:solidFill>
              <a:latin typeface="Ubuntu"/>
            </a:endParaRPr>
          </a:p>
        </p:txBody>
      </p:sp>
    </p:spTree>
    <p:extLst>
      <p:ext uri="{BB962C8B-B14F-4D97-AF65-F5344CB8AC3E}">
        <p14:creationId xmlns:p14="http://schemas.microsoft.com/office/powerpoint/2010/main" val="2898894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B638426F-8C43-A64D-5A93-506D26B55600}"/>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E7C8D1FE-88E6-D0F2-52AD-A3EA971342B0}"/>
              </a:ext>
            </a:extLst>
          </p:cNvPr>
          <p:cNvSpPr txBox="1">
            <a:spLocks noGrp="1"/>
          </p:cNvSpPr>
          <p:nvPr>
            <p:ph type="title"/>
          </p:nvPr>
        </p:nvSpPr>
        <p:spPr>
          <a:xfrm>
            <a:off x="153265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dirty="0">
                <a:solidFill>
                  <a:srgbClr val="1B1C6E"/>
                </a:solidFill>
                <a:latin typeface="Tahoma"/>
                <a:ea typeface="Tahoma"/>
                <a:cs typeface="Tahoma"/>
                <a:sym typeface="Tahoma"/>
              </a:rPr>
              <a:t>TIPOS DE CAMBIOS</a:t>
            </a:r>
            <a:endParaRPr sz="3000" b="1" dirty="0">
              <a:solidFill>
                <a:srgbClr val="1B1C6E"/>
              </a:solidFill>
              <a:latin typeface="Tahoma"/>
              <a:ea typeface="Tahoma"/>
              <a:cs typeface="Tahoma"/>
              <a:sym typeface="Tahoma"/>
            </a:endParaRPr>
          </a:p>
        </p:txBody>
      </p:sp>
      <p:sp>
        <p:nvSpPr>
          <p:cNvPr id="113" name="Google Shape;113;p5">
            <a:extLst>
              <a:ext uri="{FF2B5EF4-FFF2-40B4-BE49-F238E27FC236}">
                <a16:creationId xmlns:a16="http://schemas.microsoft.com/office/drawing/2014/main" id="{41DF8574-1549-CFA0-3880-79BEA190318B}"/>
              </a:ext>
            </a:extLst>
          </p:cNvPr>
          <p:cNvSpPr txBox="1"/>
          <p:nvPr/>
        </p:nvSpPr>
        <p:spPr>
          <a:xfrm>
            <a:off x="446839" y="1939259"/>
            <a:ext cx="10571681" cy="4351338"/>
          </a:xfrm>
          <a:prstGeom prst="rect">
            <a:avLst/>
          </a:prstGeom>
          <a:noFill/>
          <a:ln>
            <a:noFill/>
          </a:ln>
        </p:spPr>
        <p:txBody>
          <a:bodyPr spcFirstLastPara="1" wrap="square" lIns="91425" tIns="45700" rIns="91425" bIns="45700" anchor="t" anchorCtr="0">
            <a:normAutofit/>
          </a:bodyPr>
          <a:lstStyle/>
          <a:p>
            <a:pPr marL="342900" indent="-342900" algn="just">
              <a:buFont typeface="Arial" panose="020B0604020202020204" pitchFamily="34" charset="0"/>
              <a:buChar char="•"/>
            </a:pPr>
            <a:r>
              <a:rPr lang="es-MX" sz="2100" dirty="0">
                <a:solidFill>
                  <a:srgbClr val="646464"/>
                </a:solidFill>
                <a:latin typeface="Ubuntu"/>
              </a:rPr>
              <a:t>Cambio anticipatorio (proactivo): La organización actúa ante señales futuras o esperadas para adaptarse antes de que ocurra la presión del entorno.</a:t>
            </a:r>
          </a:p>
          <a:p>
            <a:pPr marL="342900" indent="-342900" algn="just">
              <a:buFont typeface="Arial" panose="020B0604020202020204" pitchFamily="34" charset="0"/>
              <a:buChar char="•"/>
            </a:pPr>
            <a:endParaRPr lang="es-MX" sz="2100" dirty="0">
              <a:solidFill>
                <a:srgbClr val="646464"/>
              </a:solidFill>
              <a:latin typeface="Ubuntu"/>
            </a:endParaRPr>
          </a:p>
          <a:p>
            <a:pPr marL="342900" indent="-342900" algn="just">
              <a:buFont typeface="Arial" panose="020B0604020202020204" pitchFamily="34" charset="0"/>
              <a:buChar char="•"/>
            </a:pPr>
            <a:r>
              <a:rPr lang="es-MX" sz="2100" dirty="0">
                <a:solidFill>
                  <a:srgbClr val="646464"/>
                </a:solidFill>
                <a:latin typeface="Ubuntu"/>
              </a:rPr>
              <a:t>Cambio Reactivo: </a:t>
            </a:r>
            <a:r>
              <a:rPr lang="es-MX" sz="2100" dirty="0" err="1">
                <a:solidFill>
                  <a:srgbClr val="646464"/>
                </a:solidFill>
                <a:latin typeface="Ubuntu"/>
              </a:rPr>
              <a:t>Coresponde</a:t>
            </a:r>
            <a:r>
              <a:rPr lang="es-MX" sz="2100" dirty="0">
                <a:solidFill>
                  <a:srgbClr val="646464"/>
                </a:solidFill>
                <a:latin typeface="Ubuntu"/>
              </a:rPr>
              <a:t> a un evento que ya ha ocurrido o una crisis que obliga al cambio. </a:t>
            </a:r>
          </a:p>
          <a:p>
            <a:pPr marL="342900" indent="-342900" algn="just">
              <a:buFont typeface="Arial" panose="020B0604020202020204" pitchFamily="34" charset="0"/>
              <a:buChar char="•"/>
            </a:pPr>
            <a:endParaRPr lang="es-MX" sz="2100" dirty="0">
              <a:solidFill>
                <a:srgbClr val="646464"/>
              </a:solidFill>
              <a:latin typeface="Ubuntu"/>
            </a:endParaRPr>
          </a:p>
          <a:p>
            <a:pPr marL="342900" indent="-342900" algn="just">
              <a:buFont typeface="Arial" panose="020B0604020202020204" pitchFamily="34" charset="0"/>
              <a:buChar char="•"/>
            </a:pPr>
            <a:r>
              <a:rPr lang="es-MX" sz="2100" dirty="0">
                <a:solidFill>
                  <a:srgbClr val="646464"/>
                </a:solidFill>
                <a:latin typeface="Ubuntu"/>
              </a:rPr>
              <a:t>Cambio incremental: Alteraciones graduales, de pequeña escala, que se suman con el tiempo. </a:t>
            </a:r>
          </a:p>
          <a:p>
            <a:pPr marL="342900" indent="-342900" algn="just">
              <a:buFont typeface="Arial" panose="020B0604020202020204" pitchFamily="34" charset="0"/>
              <a:buChar char="•"/>
            </a:pPr>
            <a:endParaRPr lang="es-MX" sz="2100" dirty="0">
              <a:solidFill>
                <a:srgbClr val="646464"/>
              </a:solidFill>
              <a:latin typeface="Ubuntu"/>
            </a:endParaRPr>
          </a:p>
          <a:p>
            <a:pPr marL="342900" indent="-342900" algn="just">
              <a:buFont typeface="Arial" panose="020B0604020202020204" pitchFamily="34" charset="0"/>
              <a:buChar char="•"/>
            </a:pPr>
            <a:r>
              <a:rPr lang="es-MX" sz="2100" dirty="0">
                <a:solidFill>
                  <a:srgbClr val="646464"/>
                </a:solidFill>
                <a:latin typeface="Ubuntu"/>
              </a:rPr>
              <a:t>Cambio transformacional: Modificaciones profundas que afectan la estructura, el modelo de negocio, o la cultura de la organización. </a:t>
            </a:r>
          </a:p>
          <a:p>
            <a:endParaRPr lang="es-CO" sz="2000" dirty="0"/>
          </a:p>
          <a:p>
            <a:pPr marL="285750" indent="-285750">
              <a:buFont typeface="Arial" panose="020B0604020202020204" pitchFamily="34" charset="0"/>
              <a:buChar char="•"/>
            </a:pPr>
            <a:endParaRPr lang="es-MX" sz="1600" dirty="0">
              <a:solidFill>
                <a:srgbClr val="646464"/>
              </a:solidFill>
              <a:latin typeface="Ubuntu"/>
            </a:endParaRPr>
          </a:p>
          <a:p>
            <a:pPr>
              <a:buFont typeface="Arial"/>
              <a:buChar char="•"/>
            </a:pPr>
            <a:endParaRPr lang="es-MX" dirty="0">
              <a:solidFill>
                <a:srgbClr val="646464"/>
              </a:solidFill>
              <a:latin typeface="Ubuntu"/>
            </a:endParaRPr>
          </a:p>
        </p:txBody>
      </p:sp>
    </p:spTree>
    <p:extLst>
      <p:ext uri="{BB962C8B-B14F-4D97-AF65-F5344CB8AC3E}">
        <p14:creationId xmlns:p14="http://schemas.microsoft.com/office/powerpoint/2010/main" val="2248291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a:extLst>
            <a:ext uri="{FF2B5EF4-FFF2-40B4-BE49-F238E27FC236}">
              <a16:creationId xmlns:a16="http://schemas.microsoft.com/office/drawing/2014/main" id="{4BE6DF0C-7FC0-1A14-EB1F-CA2356DB5D27}"/>
            </a:ext>
          </a:extLst>
        </p:cNvPr>
        <p:cNvGrpSpPr/>
        <p:nvPr/>
      </p:nvGrpSpPr>
      <p:grpSpPr>
        <a:xfrm>
          <a:off x="0" y="0"/>
          <a:ext cx="0" cy="0"/>
          <a:chOff x="0" y="0"/>
          <a:chExt cx="0" cy="0"/>
        </a:xfrm>
      </p:grpSpPr>
      <p:sp>
        <p:nvSpPr>
          <p:cNvPr id="112" name="Google Shape;112;p5">
            <a:extLst>
              <a:ext uri="{FF2B5EF4-FFF2-40B4-BE49-F238E27FC236}">
                <a16:creationId xmlns:a16="http://schemas.microsoft.com/office/drawing/2014/main" id="{21D6D6BC-B4D3-3205-0535-B678DE43583F}"/>
              </a:ext>
            </a:extLst>
          </p:cNvPr>
          <p:cNvSpPr txBox="1">
            <a:spLocks noGrp="1"/>
          </p:cNvSpPr>
          <p:nvPr>
            <p:ph type="title"/>
          </p:nvPr>
        </p:nvSpPr>
        <p:spPr>
          <a:xfrm>
            <a:off x="1532655" y="662320"/>
            <a:ext cx="5401558" cy="6521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ct val="111111"/>
              <a:buFont typeface="Tahoma"/>
              <a:buNone/>
            </a:pPr>
            <a:r>
              <a:rPr lang="es-ES" sz="3000" b="1">
                <a:solidFill>
                  <a:srgbClr val="1B1C6E"/>
                </a:solidFill>
                <a:latin typeface="Tahoma"/>
                <a:ea typeface="Tahoma"/>
                <a:cs typeface="Tahoma"/>
                <a:sym typeface="Tahoma"/>
              </a:rPr>
              <a:t>CONTROL DE </a:t>
            </a:r>
            <a:r>
              <a:rPr lang="es-ES" sz="3000" b="1" dirty="0">
                <a:solidFill>
                  <a:srgbClr val="1B1C6E"/>
                </a:solidFill>
                <a:latin typeface="Tahoma"/>
                <a:ea typeface="Tahoma"/>
                <a:cs typeface="Tahoma"/>
                <a:sym typeface="Tahoma"/>
              </a:rPr>
              <a:t>CAMBIOS</a:t>
            </a:r>
            <a:endParaRPr sz="3000" b="1" dirty="0">
              <a:solidFill>
                <a:srgbClr val="1B1C6E"/>
              </a:solidFill>
              <a:latin typeface="Tahoma"/>
              <a:ea typeface="Tahoma"/>
              <a:cs typeface="Tahoma"/>
              <a:sym typeface="Tahoma"/>
            </a:endParaRPr>
          </a:p>
        </p:txBody>
      </p:sp>
      <p:graphicFrame>
        <p:nvGraphicFramePr>
          <p:cNvPr id="2" name="Tabla 1">
            <a:extLst>
              <a:ext uri="{FF2B5EF4-FFF2-40B4-BE49-F238E27FC236}">
                <a16:creationId xmlns:a16="http://schemas.microsoft.com/office/drawing/2014/main" id="{826D7CD2-C4E0-710F-DE40-60B8DC1DCE16}"/>
              </a:ext>
            </a:extLst>
          </p:cNvPr>
          <p:cNvGraphicFramePr>
            <a:graphicFrameLocks noGrp="1"/>
          </p:cNvGraphicFramePr>
          <p:nvPr>
            <p:extLst>
              <p:ext uri="{D42A27DB-BD31-4B8C-83A1-F6EECF244321}">
                <p14:modId xmlns:p14="http://schemas.microsoft.com/office/powerpoint/2010/main" val="426737922"/>
              </p:ext>
            </p:extLst>
          </p:nvPr>
        </p:nvGraphicFramePr>
        <p:xfrm>
          <a:off x="871792" y="2736482"/>
          <a:ext cx="10651613" cy="1661160"/>
        </p:xfrm>
        <a:graphic>
          <a:graphicData uri="http://schemas.openxmlformats.org/drawingml/2006/table">
            <a:tbl>
              <a:tblPr firstRow="1" bandRow="1"/>
              <a:tblGrid>
                <a:gridCol w="1114324">
                  <a:extLst>
                    <a:ext uri="{9D8B030D-6E8A-4147-A177-3AD203B41FA5}">
                      <a16:colId xmlns:a16="http://schemas.microsoft.com/office/drawing/2014/main" val="4108483094"/>
                    </a:ext>
                  </a:extLst>
                </a:gridCol>
                <a:gridCol w="5525755">
                  <a:extLst>
                    <a:ext uri="{9D8B030D-6E8A-4147-A177-3AD203B41FA5}">
                      <a16:colId xmlns:a16="http://schemas.microsoft.com/office/drawing/2014/main" val="2657333707"/>
                    </a:ext>
                  </a:extLst>
                </a:gridCol>
                <a:gridCol w="2536696">
                  <a:extLst>
                    <a:ext uri="{9D8B030D-6E8A-4147-A177-3AD203B41FA5}">
                      <a16:colId xmlns:a16="http://schemas.microsoft.com/office/drawing/2014/main" val="1785021618"/>
                    </a:ext>
                  </a:extLst>
                </a:gridCol>
                <a:gridCol w="1474838">
                  <a:extLst>
                    <a:ext uri="{9D8B030D-6E8A-4147-A177-3AD203B41FA5}">
                      <a16:colId xmlns:a16="http://schemas.microsoft.com/office/drawing/2014/main" val="1265958494"/>
                    </a:ext>
                  </a:extLst>
                </a:gridCol>
              </a:tblGrid>
              <a:tr h="370840">
                <a:tc>
                  <a:txBody>
                    <a:bodyPr/>
                    <a:lstStyle/>
                    <a:p>
                      <a:r>
                        <a:rPr lang="es-CO" sz="1500" b="1" i="0" u="none" strike="noStrike" cap="none" dirty="0">
                          <a:solidFill>
                            <a:srgbClr val="646464"/>
                          </a:solidFill>
                          <a:latin typeface="Ubuntu"/>
                          <a:cs typeface="Arial"/>
                          <a:sym typeface="Arial"/>
                        </a:rPr>
                        <a:t>CAMBIO</a:t>
                      </a:r>
                    </a:p>
                  </a:txBody>
                  <a:tcPr/>
                </a:tc>
                <a:tc>
                  <a:txBody>
                    <a:bodyPr/>
                    <a:lstStyle/>
                    <a:p>
                      <a:r>
                        <a:rPr lang="es-CO" sz="1500" b="1" i="0" u="none" strike="noStrike" cap="none" dirty="0">
                          <a:solidFill>
                            <a:srgbClr val="646464"/>
                          </a:solidFill>
                          <a:latin typeface="Ubuntu"/>
                          <a:cs typeface="Arial"/>
                          <a:sym typeface="Arial"/>
                        </a:rPr>
                        <a:t>DESCRIPCIÓN</a:t>
                      </a:r>
                    </a:p>
                  </a:txBody>
                  <a:tcPr/>
                </a:tc>
                <a:tc>
                  <a:txBody>
                    <a:bodyPr/>
                    <a:lstStyle/>
                    <a:p>
                      <a:r>
                        <a:rPr lang="es-CO" sz="1500" b="1" i="0" u="none" strike="noStrike" cap="none" dirty="0">
                          <a:solidFill>
                            <a:srgbClr val="646464"/>
                          </a:solidFill>
                          <a:latin typeface="Ubuntu"/>
                          <a:cs typeface="Arial"/>
                          <a:sym typeface="Arial"/>
                        </a:rPr>
                        <a:t>REALIZO</a:t>
                      </a:r>
                    </a:p>
                  </a:txBody>
                  <a:tcPr/>
                </a:tc>
                <a:tc>
                  <a:txBody>
                    <a:bodyPr/>
                    <a:lstStyle/>
                    <a:p>
                      <a:r>
                        <a:rPr lang="es-CO" sz="1500" b="1" i="0" u="none" strike="noStrike" cap="none" dirty="0">
                          <a:solidFill>
                            <a:srgbClr val="646464"/>
                          </a:solidFill>
                          <a:latin typeface="Ubuntu"/>
                          <a:cs typeface="Arial"/>
                          <a:sym typeface="Arial"/>
                        </a:rPr>
                        <a:t>FECHA</a:t>
                      </a:r>
                    </a:p>
                  </a:txBody>
                  <a:tcPr/>
                </a:tc>
                <a:extLst>
                  <a:ext uri="{0D108BD9-81ED-4DB2-BD59-A6C34878D82A}">
                    <a16:rowId xmlns:a16="http://schemas.microsoft.com/office/drawing/2014/main" val="4083450312"/>
                  </a:ext>
                </a:extLst>
              </a:tr>
              <a:tr h="370840">
                <a:tc>
                  <a:txBody>
                    <a:bodyPr/>
                    <a:lstStyle/>
                    <a:p>
                      <a:r>
                        <a:rPr lang="es-CO" sz="1500" b="0" i="0" u="none" strike="noStrike" cap="none" dirty="0">
                          <a:solidFill>
                            <a:srgbClr val="646464"/>
                          </a:solidFill>
                          <a:latin typeface="Ubuntu"/>
                          <a:cs typeface="Arial"/>
                          <a:sym typeface="Arial"/>
                        </a:rPr>
                        <a:t>O</a:t>
                      </a:r>
                    </a:p>
                  </a:txBody>
                  <a:tcPr/>
                </a:tc>
                <a:tc>
                  <a:txBody>
                    <a:bodyPr/>
                    <a:lstStyle/>
                    <a:p>
                      <a:r>
                        <a:rPr lang="es-CO" sz="1500" b="0" i="0" u="none" strike="noStrike" cap="none" dirty="0">
                          <a:solidFill>
                            <a:srgbClr val="646464"/>
                          </a:solidFill>
                          <a:latin typeface="Ubuntu"/>
                          <a:cs typeface="Arial"/>
                          <a:sym typeface="Arial"/>
                        </a:rPr>
                        <a:t>ACTUALIZACIÓN DE TEMPLETE Y MODFIICACIÓN TEXTOS REPRESENTATIVOS </a:t>
                      </a:r>
                    </a:p>
                  </a:txBody>
                  <a:tcPr/>
                </a:tc>
                <a:tc>
                  <a:txBody>
                    <a:bodyPr/>
                    <a:lstStyle/>
                    <a:p>
                      <a:r>
                        <a:rPr lang="es-CO" sz="1500" b="0" i="0" u="none" strike="noStrike" cap="none" dirty="0">
                          <a:solidFill>
                            <a:srgbClr val="646464"/>
                          </a:solidFill>
                          <a:latin typeface="Ubuntu"/>
                          <a:cs typeface="Arial"/>
                          <a:sym typeface="Arial"/>
                        </a:rPr>
                        <a:t>JUAN POSADA USUGA</a:t>
                      </a:r>
                    </a:p>
                  </a:txBody>
                  <a:tcPr/>
                </a:tc>
                <a:tc>
                  <a:txBody>
                    <a:bodyPr/>
                    <a:lstStyle/>
                    <a:p>
                      <a:r>
                        <a:rPr lang="es-CO" sz="1500" b="0" i="0" u="none" strike="noStrike" cap="none" dirty="0">
                          <a:solidFill>
                            <a:srgbClr val="646464"/>
                          </a:solidFill>
                          <a:latin typeface="Ubuntu"/>
                          <a:cs typeface="Arial"/>
                          <a:sym typeface="Arial"/>
                        </a:rPr>
                        <a:t>12/04/2026</a:t>
                      </a:r>
                    </a:p>
                  </a:txBody>
                  <a:tcPr/>
                </a:tc>
                <a:extLst>
                  <a:ext uri="{0D108BD9-81ED-4DB2-BD59-A6C34878D82A}">
                    <a16:rowId xmlns:a16="http://schemas.microsoft.com/office/drawing/2014/main" val="4210936361"/>
                  </a:ext>
                </a:extLst>
              </a:tr>
              <a:tr h="370840">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extLst>
                  <a:ext uri="{0D108BD9-81ED-4DB2-BD59-A6C34878D82A}">
                    <a16:rowId xmlns:a16="http://schemas.microsoft.com/office/drawing/2014/main" val="264407686"/>
                  </a:ext>
                </a:extLst>
              </a:tr>
              <a:tr h="370840">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extLst>
                  <a:ext uri="{0D108BD9-81ED-4DB2-BD59-A6C34878D82A}">
                    <a16:rowId xmlns:a16="http://schemas.microsoft.com/office/drawing/2014/main" val="3788478821"/>
                  </a:ext>
                </a:extLst>
              </a:tr>
            </a:tbl>
          </a:graphicData>
        </a:graphic>
      </p:graphicFrame>
    </p:spTree>
    <p:extLst>
      <p:ext uri="{BB962C8B-B14F-4D97-AF65-F5344CB8AC3E}">
        <p14:creationId xmlns:p14="http://schemas.microsoft.com/office/powerpoint/2010/main" val="1559883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2302</Words>
  <Application>Microsoft Office PowerPoint</Application>
  <PresentationFormat>Panorámica</PresentationFormat>
  <Paragraphs>184</Paragraphs>
  <Slides>29</Slides>
  <Notes>29</Notes>
  <HiddenSlides>0</HiddenSlides>
  <MMClips>2</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29</vt:i4>
      </vt:variant>
    </vt:vector>
  </HeadingPairs>
  <TitlesOfParts>
    <vt:vector size="35" baseType="lpstr">
      <vt:lpstr>Ubuntu</vt:lpstr>
      <vt:lpstr>Tahoma</vt:lpstr>
      <vt:lpstr>Raleway</vt:lpstr>
      <vt:lpstr>Calibri</vt:lpstr>
      <vt:lpstr>Arial</vt:lpstr>
      <vt:lpstr>Tema de Office</vt:lpstr>
      <vt:lpstr>GESTIÓN DEL CAMBIO EN LAS ORGANIZACIÓNES</vt:lpstr>
      <vt:lpstr>MOTIVACIONES NECESIDADES ENTORNO TENDENCIAS MODELOS ORGANIZACIONALES</vt:lpstr>
      <vt:lpstr>MODELO DE LEWIN</vt:lpstr>
      <vt:lpstr>MODELO DE ADKAR</vt:lpstr>
      <vt:lpstr>MODELO DEL EMPUJON</vt:lpstr>
      <vt:lpstr>MODELO DE BRIDGES</vt:lpstr>
      <vt:lpstr>MODELO DE KOTTER</vt:lpstr>
      <vt:lpstr>MODELO DE KOTTER</vt:lpstr>
      <vt:lpstr>MODELO DE LAS 7-S MCKINSEY</vt:lpstr>
      <vt:lpstr>FASES DEL CAMBIO</vt:lpstr>
      <vt:lpstr>FASES DEL CAMBIO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PASOS DE GESTION DEL CAMBIO</vt:lpstr>
      <vt:lpstr>Presentación de PowerPoint</vt:lpstr>
      <vt:lpstr>ELEMENTOS CLAVE DEL CAMBIO</vt:lpstr>
      <vt:lpstr>ELEMENTOS CLAVE DEL CAMBIO</vt:lpstr>
      <vt:lpstr>TIPOS DE CAMBIOS</vt:lpstr>
      <vt:lpstr>CONTROL DE CAMBIOS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Oficina de Comunicaciones Escolme</dc:creator>
  <cp:lastModifiedBy>Juan Esteban Posada Usuga</cp:lastModifiedBy>
  <cp:revision>3</cp:revision>
  <dcterms:created xsi:type="dcterms:W3CDTF">2026-02-09T16:13:10Z</dcterms:created>
  <dcterms:modified xsi:type="dcterms:W3CDTF">2026-04-26T22:51:18Z</dcterms:modified>
</cp:coreProperties>
</file>