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7" r:id="rId3"/>
    <p:sldId id="288" r:id="rId4"/>
    <p:sldId id="290" r:id="rId5"/>
    <p:sldId id="291" r:id="rId6"/>
    <p:sldId id="292" r:id="rId7"/>
    <p:sldId id="293" r:id="rId8"/>
    <p:sldId id="277" r:id="rId9"/>
    <p:sldId id="279" r:id="rId10"/>
    <p:sldId id="280" r:id="rId11"/>
    <p:sldId id="262" r:id="rId12"/>
    <p:sldId id="263" r:id="rId13"/>
    <p:sldId id="281" r:id="rId14"/>
    <p:sldId id="264" r:id="rId15"/>
    <p:sldId id="265" r:id="rId16"/>
    <p:sldId id="266" r:id="rId17"/>
    <p:sldId id="260" r:id="rId18"/>
    <p:sldId id="282" r:id="rId19"/>
    <p:sldId id="286" r:id="rId20"/>
    <p:sldId id="267" r:id="rId21"/>
    <p:sldId id="268" r:id="rId22"/>
    <p:sldId id="272" r:id="rId23"/>
    <p:sldId id="284" r:id="rId24"/>
    <p:sldId id="283" r:id="rId25"/>
    <p:sldId id="285" r:id="rId26"/>
    <p:sldId id="271" r:id="rId27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2" autoAdjust="0"/>
    <p:restoredTop sz="94674"/>
  </p:normalViewPr>
  <p:slideViewPr>
    <p:cSldViewPr snapToGrid="0" snapToObjects="1">
      <p:cViewPr varScale="1">
        <p:scale>
          <a:sx n="79" d="100"/>
          <a:sy n="79" d="100"/>
        </p:scale>
        <p:origin x="4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cion">
    <p:bg>
      <p:bgPr>
        <a:blipFill dpi="0" rotWithShape="1">
          <a:blip r:embed="rId2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631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">
    <p:bg>
      <p:bgPr>
        <a:blipFill dpi="0" rotWithShape="1">
          <a:blip r:embed="rId2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734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adecimie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927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65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43314" y="2510971"/>
            <a:ext cx="808847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solidFill>
                  <a:schemeClr val="bg1"/>
                </a:solidFill>
              </a:rPr>
              <a:t>NIVELATORIO CIENCIAS BÁSICAS</a:t>
            </a:r>
          </a:p>
          <a:p>
            <a:pPr algn="ctr"/>
            <a:r>
              <a:rPr lang="es-CO" sz="3600" dirty="0">
                <a:solidFill>
                  <a:schemeClr val="bg1"/>
                </a:solidFill>
              </a:rPr>
              <a:t>FUNCIONES</a:t>
            </a:r>
          </a:p>
          <a:p>
            <a:pPr algn="ctr"/>
            <a:r>
              <a:rPr lang="es-CO" sz="2800" dirty="0">
                <a:solidFill>
                  <a:schemeClr val="bg1"/>
                </a:solidFill>
              </a:rPr>
              <a:t>Mg. Silvana Mazo Muñoz </a:t>
            </a:r>
            <a:br>
              <a:rPr lang="es-CO" sz="2800" dirty="0">
                <a:solidFill>
                  <a:schemeClr val="bg1"/>
                </a:solidFill>
              </a:rPr>
            </a:br>
            <a:r>
              <a:rPr lang="es-CO" sz="2800" dirty="0">
                <a:solidFill>
                  <a:schemeClr val="bg1"/>
                </a:solidFill>
              </a:rPr>
              <a:t>smazom@Escolme.edu.co</a:t>
            </a:r>
          </a:p>
        </p:txBody>
      </p:sp>
    </p:spTree>
    <p:extLst>
      <p:ext uri="{BB962C8B-B14F-4D97-AF65-F5344CB8AC3E}">
        <p14:creationId xmlns:p14="http://schemas.microsoft.com/office/powerpoint/2010/main" val="1890793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D369D32A-C432-4242-93E6-FF7E11A06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665" y="1624012"/>
            <a:ext cx="9122609" cy="452357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1DA990D-881D-51E0-D4F2-1F917E18553C}"/>
              </a:ext>
            </a:extLst>
          </p:cNvPr>
          <p:cNvSpPr txBox="1"/>
          <p:nvPr/>
        </p:nvSpPr>
        <p:spPr>
          <a:xfrm>
            <a:off x="3675040" y="576775"/>
            <a:ext cx="4329477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Números naturales </a:t>
            </a:r>
            <a:endParaRPr lang="es-CO" sz="32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47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1DA990D-881D-51E0-D4F2-1F917E18553C}"/>
              </a:ext>
            </a:extLst>
          </p:cNvPr>
          <p:cNvSpPr txBox="1"/>
          <p:nvPr/>
        </p:nvSpPr>
        <p:spPr>
          <a:xfrm>
            <a:off x="3675040" y="576775"/>
            <a:ext cx="4329477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Números enteros </a:t>
            </a:r>
            <a:endParaRPr lang="es-CO" sz="32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76D5EF9-40AF-1AD2-E4F8-642D477E11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870"/>
          <a:stretch/>
        </p:blipFill>
        <p:spPr>
          <a:xfrm>
            <a:off x="1888147" y="1161550"/>
            <a:ext cx="8859569" cy="518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079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1DA990D-881D-51E0-D4F2-1F917E18553C}"/>
              </a:ext>
            </a:extLst>
          </p:cNvPr>
          <p:cNvSpPr txBox="1"/>
          <p:nvPr/>
        </p:nvSpPr>
        <p:spPr>
          <a:xfrm>
            <a:off x="3675040" y="576775"/>
            <a:ext cx="4329477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Números racionales </a:t>
            </a:r>
            <a:endParaRPr lang="es-CO" sz="32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A8A9647-0FEA-A342-EA2D-FFCE7F5EC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133" y="1161550"/>
            <a:ext cx="8255477" cy="51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22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1DA990D-881D-51E0-D4F2-1F917E18553C}"/>
              </a:ext>
            </a:extLst>
          </p:cNvPr>
          <p:cNvSpPr txBox="1"/>
          <p:nvPr/>
        </p:nvSpPr>
        <p:spPr>
          <a:xfrm>
            <a:off x="3675040" y="576775"/>
            <a:ext cx="5004726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Números irracionales </a:t>
            </a:r>
            <a:endParaRPr lang="es-CO" sz="32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2B4C094-DB68-CA68-693E-CF45A3D95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525" y="1405230"/>
            <a:ext cx="9471252" cy="501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253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1DA990D-881D-51E0-D4F2-1F917E18553C}"/>
              </a:ext>
            </a:extLst>
          </p:cNvPr>
          <p:cNvSpPr txBox="1"/>
          <p:nvPr/>
        </p:nvSpPr>
        <p:spPr>
          <a:xfrm>
            <a:off x="3675040" y="576775"/>
            <a:ext cx="5004726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Números reales </a:t>
            </a:r>
            <a:endParaRPr lang="es-CO" sz="32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18547C7-CA5D-5DEF-9424-322E74552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317" y="1231890"/>
            <a:ext cx="8719332" cy="524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810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1DA990D-881D-51E0-D4F2-1F917E18553C}"/>
              </a:ext>
            </a:extLst>
          </p:cNvPr>
          <p:cNvSpPr txBox="1"/>
          <p:nvPr/>
        </p:nvSpPr>
        <p:spPr>
          <a:xfrm>
            <a:off x="3593637" y="576774"/>
            <a:ext cx="5004726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r>
              <a:rPr lang="es-MX" sz="3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Plano cartesiano</a:t>
            </a:r>
            <a:endParaRPr lang="es-CO" sz="32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73C777E-A614-A5C0-D423-78B35EF24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175" y="1320047"/>
            <a:ext cx="9643810" cy="511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148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970159" y="298864"/>
            <a:ext cx="22457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dirty="0"/>
              <a:t>FUNCIONES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689" y="1043612"/>
            <a:ext cx="9000000" cy="2085375"/>
          </a:xfrm>
          <a:prstGeom prst="rect">
            <a:avLst/>
          </a:prstGeom>
        </p:spPr>
      </p:pic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52AE0081-0AA5-4CD0-A3EC-6F9BE307B2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9772480"/>
              </p:ext>
            </p:extLst>
          </p:nvPr>
        </p:nvGraphicFramePr>
        <p:xfrm>
          <a:off x="1040249" y="3128987"/>
          <a:ext cx="3794286" cy="3185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3" imgW="2371429" imgH="1991003" progId="Paint.Picture">
                  <p:embed/>
                </p:oleObj>
              </mc:Choice>
              <mc:Fallback>
                <p:oleObj name="Imagen de mapa de bits" r:id="rId3" imgW="2371429" imgH="1991003" progId="Paint.Picture">
                  <p:embed/>
                  <p:pic>
                    <p:nvPicPr>
                      <p:cNvPr id="22" name="Objeto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0249" y="3128987"/>
                        <a:ext cx="3794286" cy="318560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20C02DF0-756E-4B2F-A55A-83C6ADFEB0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1770979"/>
              </p:ext>
            </p:extLst>
          </p:nvPr>
        </p:nvGraphicFramePr>
        <p:xfrm>
          <a:off x="6624344" y="2982894"/>
          <a:ext cx="3688595" cy="3337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5" imgW="2305372" imgH="2085714" progId="Paint.Picture">
                  <p:embed/>
                </p:oleObj>
              </mc:Choice>
              <mc:Fallback>
                <p:oleObj name="Imagen de mapa de bits" r:id="rId5" imgW="2305372" imgH="2085714" progId="Paint.Picture">
                  <p:embed/>
                  <p:pic>
                    <p:nvPicPr>
                      <p:cNvPr id="24" name="Objeto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4344" y="2982894"/>
                        <a:ext cx="3688595" cy="33371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7203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>
            <a:extLst>
              <a:ext uri="{FF2B5EF4-FFF2-40B4-BE49-F238E27FC236}">
                <a16:creationId xmlns:a16="http://schemas.microsoft.com/office/drawing/2014/main" id="{009CA4B3-91FE-41BA-8B88-CE930AC505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5470415"/>
              </p:ext>
            </p:extLst>
          </p:nvPr>
        </p:nvGraphicFramePr>
        <p:xfrm>
          <a:off x="1842818" y="1760429"/>
          <a:ext cx="3581899" cy="3337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2238687" imgH="2085714" progId="Paint.Picture">
                  <p:embed/>
                </p:oleObj>
              </mc:Choice>
              <mc:Fallback>
                <p:oleObj name="Imagen de mapa de bits" r:id="rId2" imgW="2238687" imgH="2085714" progId="Paint.Picture">
                  <p:embed/>
                  <p:pic>
                    <p:nvPicPr>
                      <p:cNvPr id="26" name="Objeto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2818" y="1760429"/>
                        <a:ext cx="3581899" cy="33371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188018B7-DDFC-4DE7-A0EB-619D8EDBE2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3432679"/>
              </p:ext>
            </p:extLst>
          </p:nvPr>
        </p:nvGraphicFramePr>
        <p:xfrm>
          <a:off x="6767284" y="1585702"/>
          <a:ext cx="3824762" cy="3337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4" imgW="2390476" imgH="2085714" progId="Paint.Picture">
                  <p:embed/>
                </p:oleObj>
              </mc:Choice>
              <mc:Fallback>
                <p:oleObj name="Imagen de mapa de bits" r:id="rId4" imgW="2390476" imgH="2085714" progId="Paint.Picture">
                  <p:embed/>
                  <p:pic>
                    <p:nvPicPr>
                      <p:cNvPr id="3" name="Obje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7284" y="1585702"/>
                        <a:ext cx="3824762" cy="33371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4794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B6623EC-8FB9-4657-AE0E-0358EDDFD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9340" y="820123"/>
            <a:ext cx="307193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representación funcional de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«ser cuadrado de»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diagrama sagital es: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3068467-F21C-49CD-9046-A29E2782E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51" t="25974" r="61943" b="62083"/>
          <a:stretch>
            <a:fillRect/>
          </a:stretch>
        </p:blipFill>
        <p:spPr bwMode="auto">
          <a:xfrm>
            <a:off x="2195306" y="2148601"/>
            <a:ext cx="2880000" cy="2277209"/>
          </a:xfrm>
          <a:prstGeom prst="rect">
            <a:avLst/>
          </a:prstGeom>
          <a:noFill/>
          <a:ln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8">
            <a:extLst>
              <a:ext uri="{FF2B5EF4-FFF2-40B4-BE49-F238E27FC236}">
                <a16:creationId xmlns:a16="http://schemas.microsoft.com/office/drawing/2014/main" id="{BEAA5C86-A072-44FE-B84B-7AE669CC6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2089" y="4682107"/>
            <a:ext cx="36183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Donde el conjunto C es el dominio y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conjunto F es el recorrido o rango.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B7E365C5-7684-4F25-964C-5110FE57B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4649" y="601800"/>
            <a:ext cx="307193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La representación funcional de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«ser cuadrado de»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en el plano cartesiano es:</a:t>
            </a: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Imagen 8" descr="Resultado de imagen para y = x2">
            <a:extLst>
              <a:ext uri="{FF2B5EF4-FFF2-40B4-BE49-F238E27FC236}">
                <a16:creationId xmlns:a16="http://schemas.microsoft.com/office/drawing/2014/main" id="{38C40763-429E-4AEF-9920-BF653274856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0614" y="1802129"/>
            <a:ext cx="2700000" cy="270000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softEdge rad="12700"/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F7780C3-D9AA-498C-8AE7-4A1E19109ACC}"/>
                  </a:ext>
                </a:extLst>
              </p:cNvPr>
              <p:cNvSpPr txBox="1"/>
              <p:nvPr/>
            </p:nvSpPr>
            <p:spPr>
              <a:xfrm>
                <a:off x="7993248" y="4682107"/>
                <a:ext cx="894732" cy="375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s-CO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F7780C3-D9AA-498C-8AE7-4A1E19109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3248" y="4682107"/>
                <a:ext cx="894732" cy="375552"/>
              </a:xfrm>
              <a:prstGeom prst="rect">
                <a:avLst/>
              </a:prstGeom>
              <a:blipFill>
                <a:blip r:embed="rId4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1">
            <a:extLst>
              <a:ext uri="{FF2B5EF4-FFF2-40B4-BE49-F238E27FC236}">
                <a16:creationId xmlns:a16="http://schemas.microsoft.com/office/drawing/2014/main" id="{26B3F242-35E7-4CE3-B6D9-C384007E5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7075" y="5057659"/>
            <a:ext cx="3879588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b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CO" altLang="es-CO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Donde </a:t>
            </a:r>
            <a:r>
              <a:rPr lang="es-CO" altLang="es-CO" i="1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s-CO" altLang="es-CO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es la variable independiente y 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CO" altLang="es-CO" i="1" dirty="0"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 </a:t>
            </a:r>
            <a:r>
              <a:rPr lang="es-CO" altLang="es-CO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variable dependiente.</a:t>
            </a:r>
            <a:endParaRPr lang="es-CO" altLang="es-CO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16456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764219" y="166187"/>
            <a:ext cx="22457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dirty="0"/>
              <a:t>FUNCIONES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846" y="968472"/>
            <a:ext cx="9000000" cy="182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082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668133" y="291290"/>
            <a:ext cx="22457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dirty="0"/>
              <a:t>FUNCIONES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75" y="874027"/>
            <a:ext cx="6840000" cy="185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312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668132" y="291290"/>
            <a:ext cx="54911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Evaluación de una función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B76A1E6-91A1-404C-B848-D0333B5416E9}"/>
              </a:ext>
            </a:extLst>
          </p:cNvPr>
          <p:cNvSpPr txBox="1"/>
          <p:nvPr/>
        </p:nvSpPr>
        <p:spPr>
          <a:xfrm>
            <a:off x="844801" y="968398"/>
            <a:ext cx="1246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Ejercicio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E1DE160-AD54-4572-9F0D-388B268BF167}"/>
                  </a:ext>
                </a:extLst>
              </p:cNvPr>
              <p:cNvSpPr txBox="1"/>
              <p:nvPr/>
            </p:nvSpPr>
            <p:spPr>
              <a:xfrm>
                <a:off x="844801" y="1522396"/>
                <a:ext cx="609834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800" dirty="0">
                    <a:solidFill>
                      <a:schemeClr val="tx1"/>
                    </a:solidFill>
                    <a:latin typeface="+mn-lt"/>
                  </a:rPr>
                  <a:t>Dada la función </a:t>
                </a:r>
                <a14:m>
                  <m:oMath xmlns:m="http://schemas.openxmlformats.org/officeDocument/2006/math">
                    <m:r>
                      <a:rPr lang="es-CO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O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CO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CO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s-CO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es-CO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CO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CO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−5</m:t>
                    </m:r>
                    <m:r>
                      <a:rPr lang="es-CO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+6</m:t>
                    </m:r>
                  </m:oMath>
                </a14:m>
                <a:r>
                  <a:rPr lang="es-CO" sz="1800" dirty="0">
                    <a:solidFill>
                      <a:schemeClr val="tx1"/>
                    </a:solidFill>
                    <a:latin typeface="+mn-lt"/>
                  </a:rPr>
                  <a:t>, calcular:</a:t>
                </a:r>
              </a:p>
              <a:p>
                <a:pPr marL="342900" lvl="0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CO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O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endParaRPr lang="es-CO" sz="1800" dirty="0">
                  <a:solidFill>
                    <a:schemeClr val="tx1"/>
                  </a:solidFill>
                  <a:latin typeface="+mn-lt"/>
                </a:endParaRPr>
              </a:p>
              <a:p>
                <a:pPr marL="342900" lvl="0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CO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O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s-CO" sz="1800" dirty="0">
                  <a:solidFill>
                    <a:schemeClr val="tx1"/>
                  </a:solidFill>
                  <a:latin typeface="+mn-lt"/>
                </a:endParaRPr>
              </a:p>
              <a:p>
                <a:pPr marL="342900" lvl="0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s-CO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O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s-CO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E1DE160-AD54-4572-9F0D-388B268BF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801" y="1522396"/>
                <a:ext cx="6098344" cy="1200329"/>
              </a:xfrm>
              <a:prstGeom prst="rect">
                <a:avLst/>
              </a:prstGeom>
              <a:blipFill>
                <a:blip r:embed="rId2"/>
                <a:stretch>
                  <a:fillRect l="-900" t="-3046" b="-558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338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792354" y="880952"/>
            <a:ext cx="22457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dirty="0"/>
              <a:t>FUNCIONES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318" y="1465727"/>
            <a:ext cx="10650682" cy="439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598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792354" y="409898"/>
            <a:ext cx="22457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dirty="0"/>
              <a:t>FUNCIONES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456" y="983315"/>
            <a:ext cx="7218652" cy="546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078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792354" y="255331"/>
            <a:ext cx="22457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dirty="0"/>
              <a:t>FUNCIONES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177" y="994673"/>
            <a:ext cx="8340005" cy="531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293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478644" y="296176"/>
            <a:ext cx="5473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dirty="0"/>
              <a:t>Dominio y rango  de funciones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34D138BA-5038-4F76-8A01-EBF45A16BDA6}"/>
                  </a:ext>
                </a:extLst>
              </p:cNvPr>
              <p:cNvSpPr txBox="1"/>
              <p:nvPr/>
            </p:nvSpPr>
            <p:spPr>
              <a:xfrm>
                <a:off x="1122896" y="1142867"/>
                <a:ext cx="9016622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s-CO" b="1" dirty="0"/>
                  <a:t>Definición (dominio): </a:t>
                </a:r>
                <a:r>
                  <a:rPr lang="es-CO" dirty="0"/>
                  <a:t>“El domino de una función </a:t>
                </a: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s-CO" dirty="0"/>
                  <a:t> es el mayor subconjunto del conjunto de números reales para los que </a:t>
                </a: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CO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CO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dirty="0"/>
                  <a:t> es un número real”. Zill.</a:t>
                </a:r>
              </a:p>
              <a:p>
                <a:pPr algn="just"/>
                <a:r>
                  <a:rPr lang="es-CO" dirty="0"/>
                  <a:t>“El conjunto de todos los valores admisibles de </a:t>
                </a: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CO" dirty="0"/>
                  <a:t> se denomina dominio de la función” Leithold. </a:t>
                </a:r>
              </a:p>
              <a:p>
                <a:pPr algn="just"/>
                <a:r>
                  <a:rPr lang="es-CO" b="1" dirty="0"/>
                  <a:t> </a:t>
                </a:r>
                <a:endParaRPr lang="es-CO" dirty="0"/>
              </a:p>
              <a:p>
                <a:pPr algn="just"/>
                <a:r>
                  <a:rPr lang="es-CO" dirty="0"/>
                  <a:t>En resumen, el dominio son todos los valores que pueden ser procesados por la función.</a:t>
                </a:r>
              </a:p>
              <a:p>
                <a:pPr algn="just"/>
                <a:r>
                  <a:rPr lang="es-CO" dirty="0"/>
                  <a:t> </a:t>
                </a:r>
              </a:p>
              <a:p>
                <a:pPr algn="just"/>
                <a:r>
                  <a:rPr lang="es-CO" b="1" dirty="0"/>
                  <a:t>Definición (rango): </a:t>
                </a:r>
                <a:r>
                  <a:rPr lang="es-CO" dirty="0"/>
                  <a:t>El rango de una función </a:t>
                </a: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s-CO" dirty="0"/>
                  <a:t> es el conjunto de valores que puede generar una función partiendo de los valores del dominio. Son las imágenes de los elementos que pertenecen al dominio. 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34D138BA-5038-4F76-8A01-EBF45A16B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896" y="1142867"/>
                <a:ext cx="9016622" cy="2585323"/>
              </a:xfrm>
              <a:prstGeom prst="rect">
                <a:avLst/>
              </a:prstGeom>
              <a:blipFill>
                <a:blip r:embed="rId2"/>
                <a:stretch>
                  <a:fillRect l="-541" t="-1176" r="-609" b="-258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0341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478644" y="300098"/>
            <a:ext cx="5473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dirty="0"/>
              <a:t>Dominio y rango  de funciones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453" y="1285222"/>
            <a:ext cx="10448492" cy="472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434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478644" y="300098"/>
            <a:ext cx="5473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dirty="0"/>
              <a:t>Dominio y rango  de funciones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b="75866"/>
          <a:stretch/>
        </p:blipFill>
        <p:spPr>
          <a:xfrm>
            <a:off x="1161614" y="1063335"/>
            <a:ext cx="9902598" cy="10800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059" y="2143336"/>
            <a:ext cx="4493207" cy="25200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0959" y="2143336"/>
            <a:ext cx="3823099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761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366102" y="241212"/>
            <a:ext cx="54738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/>
              <a:t>Dominio y rango  de funciones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8DB9828-B012-495E-89E2-769FFB8930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08" t="52505" r="6605"/>
          <a:stretch/>
        </p:blipFill>
        <p:spPr>
          <a:xfrm>
            <a:off x="6249571" y="1995266"/>
            <a:ext cx="5848642" cy="249534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067F092-9DE7-468D-A61F-637B875AECDE}"/>
              </a:ext>
            </a:extLst>
          </p:cNvPr>
          <p:cNvSpPr txBox="1"/>
          <p:nvPr/>
        </p:nvSpPr>
        <p:spPr>
          <a:xfrm>
            <a:off x="601393" y="918048"/>
            <a:ext cx="609834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Bef>
                <a:spcPts val="600"/>
              </a:spcBef>
              <a:buSzPts val="1100"/>
            </a:pPr>
            <a:r>
              <a:rPr lang="es-ES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 cada una de las siguientes gráficas determine:</a:t>
            </a:r>
            <a:endParaRPr lang="es-CO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lphaLcParenR"/>
            </a:pPr>
            <a:r>
              <a:rPr lang="es-ES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intersección con el eje y.</a:t>
            </a:r>
            <a:endParaRPr lang="es-CO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lphaLcParenR"/>
            </a:pPr>
            <a:r>
              <a:rPr lang="es-ES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Todas las intersecciones con el eje x.</a:t>
            </a:r>
            <a:endParaRPr lang="es-CO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600"/>
              </a:spcAft>
              <a:buFont typeface="+mj-lt"/>
              <a:buAutoNum type="alphaLcParenR"/>
            </a:pPr>
            <a:r>
              <a:rPr lang="es-ES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Dominio y rango de la función.</a:t>
            </a:r>
            <a:endParaRPr lang="es-CO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E8F8834-1C0F-4E84-891C-D0C09BC8B1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67" r="2618" b="52505"/>
          <a:stretch/>
        </p:blipFill>
        <p:spPr>
          <a:xfrm>
            <a:off x="24619" y="1995266"/>
            <a:ext cx="6249571" cy="249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3104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44094DA0-A2E6-42F3-9164-9C68A3DB42E5}"/>
              </a:ext>
            </a:extLst>
          </p:cNvPr>
          <p:cNvSpPr txBox="1">
            <a:spLocks/>
          </p:cNvSpPr>
          <p:nvPr/>
        </p:nvSpPr>
        <p:spPr>
          <a:xfrm>
            <a:off x="2437352" y="345089"/>
            <a:ext cx="6945799" cy="5667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s-CO" sz="2400" dirty="0"/>
              <a:t>Restricciones para el dominio de una función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4A7ACFB-BF11-4F31-B705-BBDB5E13DD35}"/>
                  </a:ext>
                </a:extLst>
              </p:cNvPr>
              <p:cNvSpPr txBox="1"/>
              <p:nvPr/>
            </p:nvSpPr>
            <p:spPr>
              <a:xfrm>
                <a:off x="1030582" y="1105670"/>
                <a:ext cx="9380561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s-CO" dirty="0"/>
                  <a:t>Si la función es un polinomio de grado </a:t>
                </a: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CO" dirty="0"/>
                  <a:t> de la forma 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CO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s-CO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s-CO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O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CO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s-CO" dirty="0"/>
              </a:p>
              <a:p>
                <a:pPr lvl="0"/>
                <a:r>
                  <a:rPr lang="es-CO" dirty="0"/>
                  <a:t>entonces el dominio serán todos los números reales dado que la regla mediante la cual se define la función puede asignarle (crear) una imagen en base a cualquier número real.</a:t>
                </a:r>
              </a:p>
              <a:p>
                <a:endParaRPr lang="es-CO" b="1" dirty="0"/>
              </a:p>
              <a:p>
                <a:r>
                  <a:rPr lang="es-CO" b="1" dirty="0"/>
                  <a:t>Ejemplo:</a:t>
                </a:r>
                <a:r>
                  <a:rPr lang="es-CO" dirty="0"/>
                  <a:t> </a:t>
                </a:r>
              </a:p>
              <a:p>
                <a:endParaRPr lang="es-CO" dirty="0"/>
              </a:p>
              <a:p>
                <a:pPr marL="342900" indent="-342900">
                  <a:buFont typeface="+mj-lt"/>
                  <a:buAutoNum type="alphaLcPeriod"/>
                </a:pPr>
                <a:r>
                  <a:rPr lang="es-CO" dirty="0"/>
                  <a:t>Sea </a:t>
                </a: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CO" dirty="0"/>
                  <a:t> , luego  </a:t>
                </a:r>
                <a14:m>
                  <m:oMath xmlns:m="http://schemas.openxmlformats.org/officeDocument/2006/math"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𝐷𝑜𝑚</m:t>
                    </m:r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CO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s-CO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</m:d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𝐷𝑜𝑚</m:t>
                    </m:r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CO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∞,∞</m:t>
                        </m:r>
                      </m:e>
                    </m:d>
                  </m:oMath>
                </a14:m>
                <a:endParaRPr lang="es-CO" dirty="0"/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:endParaRPr lang="es-CO" dirty="0"/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:endParaRPr lang="es-CO" dirty="0"/>
              </a:p>
              <a:p>
                <a:pPr marL="342900" indent="-342900">
                  <a:buFont typeface="+mj-lt"/>
                  <a:buAutoNum type="alphaLcPeriod" startAt="2"/>
                </a:pPr>
                <a:r>
                  <a:rPr lang="es-CO" dirty="0"/>
                  <a:t>Sea </a:t>
                </a: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CO" dirty="0"/>
                  <a:t> </a:t>
                </a:r>
                <a14:m>
                  <m:oMath xmlns:m="http://schemas.openxmlformats.org/officeDocument/2006/math"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s-CO" dirty="0"/>
                  <a:t> luego  </a:t>
                </a:r>
                <a14:m>
                  <m:oMath xmlns:m="http://schemas.openxmlformats.org/officeDocument/2006/math">
                    <m:r>
                      <a:rPr lang="es-CO" i="1" dirty="0">
                        <a:latin typeface="Cambria Math" panose="02040503050406030204" pitchFamily="18" charset="0"/>
                      </a:rPr>
                      <m:t>𝐷𝑜𝑚</m:t>
                    </m:r>
                    <m:r>
                      <a:rPr lang="es-CO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O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CO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CO" i="1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s-CO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CO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s-CO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</m:d>
                    <m:r>
                      <a:rPr lang="es-CO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i="1" dirty="0">
                        <a:latin typeface="Cambria Math" panose="02040503050406030204" pitchFamily="18" charset="0"/>
                      </a:rPr>
                      <m:t>𝐷𝑜𝑚</m:t>
                    </m:r>
                    <m:r>
                      <a:rPr lang="es-CO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O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CO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CO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∞,∞</m:t>
                        </m:r>
                      </m:e>
                    </m:d>
                  </m:oMath>
                </a14:m>
                <a:endParaRPr lang="es-CO" dirty="0"/>
              </a:p>
              <a:p>
                <a:endParaRPr lang="es-CO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4A7ACFB-BF11-4F31-B705-BBDB5E13D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582" y="1105670"/>
                <a:ext cx="9380561" cy="3416320"/>
              </a:xfrm>
              <a:prstGeom prst="rect">
                <a:avLst/>
              </a:prstGeom>
              <a:blipFill>
                <a:blip r:embed="rId2"/>
                <a:stretch>
                  <a:fillRect l="-520" t="-891" r="-97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3551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478644" y="471750"/>
            <a:ext cx="5473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dirty="0"/>
              <a:t>Dominio y rango  de funciones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011382" y="1187194"/>
            <a:ext cx="7778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dirty="0"/>
              <a:t>Encontrar el dominio de cada una de las siguientes funciones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843" y="1910196"/>
            <a:ext cx="3332883" cy="43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041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4F278D-4F81-4577-B135-9AC5D20658FF}"/>
              </a:ext>
            </a:extLst>
          </p:cNvPr>
          <p:cNvSpPr txBox="1">
            <a:spLocks/>
          </p:cNvSpPr>
          <p:nvPr/>
        </p:nvSpPr>
        <p:spPr>
          <a:xfrm>
            <a:off x="2296674" y="238462"/>
            <a:ext cx="6791055" cy="5667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s-CO" sz="2400" dirty="0"/>
              <a:t>Restricciones para el dominio de una función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B2AE63C3-D50C-4265-8093-C8327C16B80E}"/>
                  </a:ext>
                </a:extLst>
              </p:cNvPr>
              <p:cNvSpPr txBox="1"/>
              <p:nvPr/>
            </p:nvSpPr>
            <p:spPr>
              <a:xfrm>
                <a:off x="713935" y="954184"/>
                <a:ext cx="10568354" cy="2817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s-CO" dirty="0"/>
                  <a:t>Si la función se define mediante una expresión algebraica racional (fracción) entonces el dominio estará dado por todos aquellos valores de </a:t>
                </a: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CO" dirty="0"/>
                  <a:t> (números reales) tales que el denominador de la fracción sea diferente de cero.</a:t>
                </a:r>
              </a:p>
              <a:p>
                <a:pPr lvl="0" algn="just"/>
                <a:r>
                  <a:rPr lang="es-CO" dirty="0"/>
                  <a:t> </a:t>
                </a:r>
              </a:p>
              <a:p>
                <a:r>
                  <a:rPr lang="es-CO" b="1" dirty="0"/>
                  <a:t>Ejemplo:</a:t>
                </a:r>
                <a:r>
                  <a:rPr lang="es-CO" dirty="0"/>
                  <a:t> </a:t>
                </a:r>
              </a:p>
              <a:p>
                <a:pPr marL="342900" indent="-342900">
                  <a:buFont typeface="+mj-lt"/>
                  <a:buAutoNum type="alphaLcPeriod"/>
                </a:pPr>
                <a:endParaRPr lang="es-CO" dirty="0"/>
              </a:p>
              <a:p>
                <a:pPr marL="342900" indent="-342900">
                  <a:buFont typeface="+mj-lt"/>
                  <a:buAutoNum type="alphaLcPeriod"/>
                </a:pPr>
                <a:r>
                  <a:rPr lang="es-CO" dirty="0"/>
                  <a:t>Sea </a:t>
                </a: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CO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CO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+2</m:t>
                        </m:r>
                      </m:den>
                    </m:f>
                    <m:r>
                      <a:rPr lang="es-CO" b="0" i="0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s-CO" dirty="0"/>
                  <a:t>luego  </a:t>
                </a:r>
                <a14:m>
                  <m:oMath xmlns:m="http://schemas.openxmlformats.org/officeDocument/2006/math"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𝐷𝑜𝑚</m:t>
                    </m:r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CO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s-CO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  <m:r>
                          <a:rPr lang="es-CO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/</m:t>
                        </m:r>
                        <m:r>
                          <a:rPr lang="es-CO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CO" i="1" dirty="0">
                            <a:latin typeface="Cambria Math" panose="02040503050406030204" pitchFamily="18" charset="0"/>
                          </a:rPr>
                          <m:t>+2≠0</m:t>
                        </m:r>
                      </m:e>
                    </m:d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𝐷𝑜𝑚</m:t>
                    </m:r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CO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∞,−2</m:t>
                        </m:r>
                      </m:e>
                    </m:d>
                    <m:r>
                      <a:rPr lang="es-CO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d>
                      <m:dPr>
                        <m:ctrlPr>
                          <a:rPr lang="es-CO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−2,+∞</m:t>
                        </m:r>
                      </m:e>
                    </m:d>
                  </m:oMath>
                </a14:m>
                <a:endParaRPr lang="es-CO" dirty="0"/>
              </a:p>
              <a:p>
                <a:pPr marL="342900" indent="-342900">
                  <a:buFont typeface="+mj-lt"/>
                  <a:buAutoNum type="alphaLcPeriod"/>
                </a:pPr>
                <a:endParaRPr lang="es-CO" dirty="0"/>
              </a:p>
              <a:p>
                <a:pPr marL="342900" indent="-342900">
                  <a:buFont typeface="+mj-lt"/>
                  <a:buAutoNum type="alphaLcPeriod"/>
                </a:pPr>
                <a:endParaRPr lang="es-CO" dirty="0"/>
              </a:p>
              <a:p>
                <a:pPr marL="342900" indent="-342900">
                  <a:buFont typeface="+mj-lt"/>
                  <a:buAutoNum type="alphaLcPeriod"/>
                </a:pPr>
                <a:r>
                  <a:rPr lang="es-CO" dirty="0"/>
                  <a:t>Sea </a:t>
                </a: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O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+5</m:t>
                        </m:r>
                      </m:den>
                    </m:f>
                  </m:oMath>
                </a14:m>
                <a:endParaRPr lang="es-CO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B2AE63C3-D50C-4265-8093-C8327C16B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935" y="954184"/>
                <a:ext cx="10568354" cy="2817374"/>
              </a:xfrm>
              <a:prstGeom prst="rect">
                <a:avLst/>
              </a:prstGeom>
              <a:blipFill>
                <a:blip r:embed="rId2"/>
                <a:stretch>
                  <a:fillRect l="-461" t="-1299" r="-519" b="-64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50280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478644" y="283067"/>
            <a:ext cx="5473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dirty="0"/>
              <a:t>Dominio y rango  de funciones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011382" y="1187194"/>
            <a:ext cx="7778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dirty="0"/>
              <a:t>Encontrar el dominio de cada una de las siguientes funciones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007" y="1968211"/>
            <a:ext cx="2360902" cy="96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2071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A88ED4-3AE9-4BC9-B1CA-8356CA9AA378}"/>
              </a:ext>
            </a:extLst>
          </p:cNvPr>
          <p:cNvSpPr txBox="1">
            <a:spLocks/>
          </p:cNvSpPr>
          <p:nvPr/>
        </p:nvSpPr>
        <p:spPr>
          <a:xfrm>
            <a:off x="2451419" y="255888"/>
            <a:ext cx="6791055" cy="5667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es-CO" sz="2400" dirty="0"/>
              <a:t>Restricciones para el dominio de una función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A3ADB77-6DEB-48F0-B3DE-6173B22228BC}"/>
                  </a:ext>
                </a:extLst>
              </p:cNvPr>
              <p:cNvSpPr txBox="1"/>
              <p:nvPr/>
            </p:nvSpPr>
            <p:spPr>
              <a:xfrm>
                <a:off x="918040" y="993129"/>
                <a:ext cx="9639868" cy="3702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/>
                <a:r>
                  <a:rPr lang="es-CO" dirty="0"/>
                  <a:t>Si la función se define mediante una expresión algebraica que contiene radicales pares (raíz par), entonces el dominio estará dado por todos los valores de </a:t>
                </a: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CO" dirty="0"/>
                  <a:t> (números reales) tales que el argumento de la raíz (radicando) sea mayor o igual que cero.</a:t>
                </a:r>
              </a:p>
              <a:p>
                <a:pPr lvl="0" algn="just"/>
                <a:r>
                  <a:rPr lang="es-CO" dirty="0"/>
                  <a:t> </a:t>
                </a:r>
              </a:p>
              <a:p>
                <a:r>
                  <a:rPr lang="es-CO" b="1" dirty="0"/>
                  <a:t>Ejemplo:</a:t>
                </a:r>
                <a:r>
                  <a:rPr lang="es-CO" dirty="0"/>
                  <a:t> </a:t>
                </a:r>
              </a:p>
              <a:p>
                <a:pPr marL="342900" indent="-342900">
                  <a:buFont typeface="+mj-lt"/>
                  <a:buAutoNum type="alphaLcPeriod"/>
                </a:pPr>
                <a:endParaRPr lang="es-CO" dirty="0"/>
              </a:p>
              <a:p>
                <a:pPr marL="342900" indent="-342900">
                  <a:buFont typeface="+mj-lt"/>
                  <a:buAutoNum type="alphaLcPeriod"/>
                </a:pPr>
                <a:r>
                  <a:rPr lang="es-CO" dirty="0"/>
                  <a:t>Sea </a:t>
                </a: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s-CO" dirty="0"/>
                  <a:t>, luego  </a:t>
                </a:r>
                <a14:m>
                  <m:oMath xmlns:m="http://schemas.openxmlformats.org/officeDocument/2006/math"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𝐷𝑜𝑚</m:t>
                    </m:r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CO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s-CO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  <m:r>
                          <a:rPr lang="es-CO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/</m:t>
                        </m:r>
                        <m:r>
                          <a:rPr lang="es-CO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CO" i="1" dirty="0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𝐷𝑜𝑚</m:t>
                    </m:r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"/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s-CO" b="0" i="1" dirty="0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"/>
                        <m:ctrlPr>
                          <a:rPr lang="es-CO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CO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lang="es-CO" dirty="0"/>
              </a:p>
              <a:p>
                <a:pPr marL="342900" indent="-342900">
                  <a:buFont typeface="+mj-lt"/>
                  <a:buAutoNum type="alphaLcPeriod"/>
                </a:pPr>
                <a:endParaRPr lang="es-CO" dirty="0"/>
              </a:p>
              <a:p>
                <a:pPr marL="342900" indent="-342900">
                  <a:buFont typeface="+mj-lt"/>
                  <a:buAutoNum type="alphaLcPeriod"/>
                </a:pPr>
                <a:endParaRPr lang="es-CO" dirty="0"/>
              </a:p>
              <a:p>
                <a:pPr marL="342900" indent="-342900">
                  <a:buFont typeface="+mj-lt"/>
                  <a:buAutoNum type="alphaLcPeriod"/>
                </a:pPr>
                <a:r>
                  <a:rPr lang="es-CO" dirty="0"/>
                  <a:t>Sea </a:t>
                </a: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CO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CO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endParaRPr lang="es-CO" dirty="0"/>
              </a:p>
              <a:p>
                <a:pPr marL="342900" indent="-342900">
                  <a:buFont typeface="+mj-lt"/>
                  <a:buAutoNum type="alphaLcPeriod"/>
                </a:pPr>
                <a:endParaRPr lang="es-CO" dirty="0"/>
              </a:p>
              <a:p>
                <a:pPr marL="342900" indent="-342900">
                  <a:buFont typeface="+mj-lt"/>
                  <a:buAutoNum type="alphaLcPeriod"/>
                </a:pPr>
                <a:endParaRPr lang="es-CO" dirty="0"/>
              </a:p>
              <a:p>
                <a:pPr marL="342900" indent="-342900">
                  <a:buFont typeface="+mj-lt"/>
                  <a:buAutoNum type="alphaLcPeriod"/>
                </a:pPr>
                <a:r>
                  <a:rPr lang="es-CO" dirty="0"/>
                  <a:t>Sea </a:t>
                </a: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CO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CO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CO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CO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rad>
                  </m:oMath>
                </a14:m>
                <a:endParaRPr lang="es-CO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A3ADB77-6DEB-48F0-B3DE-6173B2222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040" y="993129"/>
                <a:ext cx="9639868" cy="3702552"/>
              </a:xfrm>
              <a:prstGeom prst="rect">
                <a:avLst/>
              </a:prstGeom>
              <a:blipFill>
                <a:blip r:embed="rId2"/>
                <a:stretch>
                  <a:fillRect l="-569" t="-988" r="-506" b="-230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35597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478644" y="588564"/>
            <a:ext cx="5473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dirty="0"/>
              <a:t>Dominio y rango  de funciones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011382" y="1187194"/>
            <a:ext cx="7778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dirty="0"/>
              <a:t>Encontrar el dominio de cada una de las siguientes funciones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394" y="1909329"/>
            <a:ext cx="2264806" cy="59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926787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c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1066</TotalTime>
  <Words>604</Words>
  <Application>Microsoft Office PowerPoint</Application>
  <PresentationFormat>Panorámica</PresentationFormat>
  <Paragraphs>84</Paragraphs>
  <Slides>26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2" baseType="lpstr">
      <vt:lpstr>Arial</vt:lpstr>
      <vt:lpstr>Calibri</vt:lpstr>
      <vt:lpstr>Cambria Math</vt:lpstr>
      <vt:lpstr>Wingdings</vt:lpstr>
      <vt:lpstr>presentacion</vt:lpstr>
      <vt:lpstr>Imagen de mapa de bits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Microsoft Office</dc:creator>
  <cp:lastModifiedBy>SORMELIDA MU�OZ GARCIA</cp:lastModifiedBy>
  <cp:revision>46</cp:revision>
  <dcterms:created xsi:type="dcterms:W3CDTF">2017-06-13T14:58:26Z</dcterms:created>
  <dcterms:modified xsi:type="dcterms:W3CDTF">2024-10-20T05:20:04Z</dcterms:modified>
</cp:coreProperties>
</file>