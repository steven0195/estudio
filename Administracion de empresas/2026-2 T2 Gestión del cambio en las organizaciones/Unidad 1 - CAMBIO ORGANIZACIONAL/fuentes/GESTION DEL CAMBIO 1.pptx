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320" r:id="rId2"/>
    <p:sldId id="256" r:id="rId3"/>
    <p:sldId id="400" r:id="rId4"/>
    <p:sldId id="401" r:id="rId5"/>
    <p:sldId id="402" r:id="rId6"/>
    <p:sldId id="322" r:id="rId7"/>
    <p:sldId id="321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403" r:id="rId19"/>
  </p:sldIdLst>
  <p:sldSz cx="14630400" cy="8229600"/>
  <p:notesSz cx="8229600" cy="146304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3" roundtripDataSignature="AMtx7mjbTfVCNnf/OVTk+WlTun8RBw6y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43" Type="http://customschemas.google.com/relationships/presentationmetadata" Target="metadata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son Peña" userId="beaf9f683a4973f7" providerId="LiveId" clId="{9A6F458A-1A6E-4EA1-B514-B542A2F107EB}"/>
    <pc:docChg chg="delSld modSld">
      <pc:chgData name="Peterson Peña" userId="beaf9f683a4973f7" providerId="LiveId" clId="{9A6F458A-1A6E-4EA1-B514-B542A2F107EB}" dt="2026-04-12T21:23:38.284" v="307" actId="20577"/>
      <pc:docMkLst>
        <pc:docMk/>
      </pc:docMkLst>
      <pc:sldChg chg="modSp mod">
        <pc:chgData name="Peterson Peña" userId="beaf9f683a4973f7" providerId="LiveId" clId="{9A6F458A-1A6E-4EA1-B514-B542A2F107EB}" dt="2026-04-12T21:06:40.464" v="27" actId="20577"/>
        <pc:sldMkLst>
          <pc:docMk/>
          <pc:sldMk cId="1847221182" sldId="320"/>
        </pc:sldMkLst>
        <pc:spChg chg="mod">
          <ac:chgData name="Peterson Peña" userId="beaf9f683a4973f7" providerId="LiveId" clId="{9A6F458A-1A6E-4EA1-B514-B542A2F107EB}" dt="2026-04-12T21:06:40.464" v="27" actId="20577"/>
          <ac:spMkLst>
            <pc:docMk/>
            <pc:sldMk cId="1847221182" sldId="320"/>
            <ac:spMk id="2" creationId="{00000000-0000-0000-0000-000000000000}"/>
          </ac:spMkLst>
        </pc:spChg>
      </pc:sldChg>
      <pc:sldChg chg="modSp mod">
        <pc:chgData name="Peterson Peña" userId="beaf9f683a4973f7" providerId="LiveId" clId="{9A6F458A-1A6E-4EA1-B514-B542A2F107EB}" dt="2026-04-12T21:09:52.447" v="97" actId="20577"/>
        <pc:sldMkLst>
          <pc:docMk/>
          <pc:sldMk cId="554263370" sldId="400"/>
        </pc:sldMkLst>
        <pc:spChg chg="mod">
          <ac:chgData name="Peterson Peña" userId="beaf9f683a4973f7" providerId="LiveId" clId="{9A6F458A-1A6E-4EA1-B514-B542A2F107EB}" dt="2026-04-12T21:09:52.447" v="97" actId="20577"/>
          <ac:spMkLst>
            <pc:docMk/>
            <pc:sldMk cId="554263370" sldId="400"/>
            <ac:spMk id="51" creationId="{00000000-0000-0000-0000-000000000000}"/>
          </ac:spMkLst>
        </pc:spChg>
      </pc:sldChg>
      <pc:sldChg chg="modSp mod">
        <pc:chgData name="Peterson Peña" userId="beaf9f683a4973f7" providerId="LiveId" clId="{9A6F458A-1A6E-4EA1-B514-B542A2F107EB}" dt="2026-04-12T21:13:56.078" v="156" actId="20577"/>
        <pc:sldMkLst>
          <pc:docMk/>
          <pc:sldMk cId="1977048054" sldId="401"/>
        </pc:sldMkLst>
        <pc:graphicFrameChg chg="modGraphic">
          <ac:chgData name="Peterson Peña" userId="beaf9f683a4973f7" providerId="LiveId" clId="{9A6F458A-1A6E-4EA1-B514-B542A2F107EB}" dt="2026-04-12T21:13:56.078" v="156" actId="20577"/>
          <ac:graphicFrameMkLst>
            <pc:docMk/>
            <pc:sldMk cId="1977048054" sldId="401"/>
            <ac:graphicFrameMk id="2" creationId="{27B96BEF-615F-EC81-E96E-D105C70018A3}"/>
          </ac:graphicFrameMkLst>
        </pc:graphicFrameChg>
      </pc:sldChg>
      <pc:sldChg chg="modSp mod">
        <pc:chgData name="Peterson Peña" userId="beaf9f683a4973f7" providerId="LiveId" clId="{9A6F458A-1A6E-4EA1-B514-B542A2F107EB}" dt="2026-04-12T21:18:37.403" v="293" actId="255"/>
        <pc:sldMkLst>
          <pc:docMk/>
          <pc:sldMk cId="1411962030" sldId="402"/>
        </pc:sldMkLst>
        <pc:spChg chg="mod">
          <ac:chgData name="Peterson Peña" userId="beaf9f683a4973f7" providerId="LiveId" clId="{9A6F458A-1A6E-4EA1-B514-B542A2F107EB}" dt="2026-04-12T21:18:37.403" v="293" actId="255"/>
          <ac:spMkLst>
            <pc:docMk/>
            <pc:sldMk cId="1411962030" sldId="402"/>
            <ac:spMk id="6" creationId="{F5F2EB78-1DDC-DE1E-7A22-63DF675D9EC8}"/>
          </ac:spMkLst>
        </pc:spChg>
      </pc:sldChg>
      <pc:sldChg chg="modSp mod">
        <pc:chgData name="Peterson Peña" userId="beaf9f683a4973f7" providerId="LiveId" clId="{9A6F458A-1A6E-4EA1-B514-B542A2F107EB}" dt="2026-04-12T21:23:38.284" v="307" actId="20577"/>
        <pc:sldMkLst>
          <pc:docMk/>
          <pc:sldMk cId="2206955602" sldId="403"/>
        </pc:sldMkLst>
        <pc:spChg chg="mod">
          <ac:chgData name="Peterson Peña" userId="beaf9f683a4973f7" providerId="LiveId" clId="{9A6F458A-1A6E-4EA1-B514-B542A2F107EB}" dt="2026-04-12T21:23:38.284" v="307" actId="20577"/>
          <ac:spMkLst>
            <pc:docMk/>
            <pc:sldMk cId="2206955602" sldId="403"/>
            <ac:spMk id="3" creationId="{E3175103-066D-A55A-A903-8B499C4D6943}"/>
          </ac:spMkLst>
        </pc:spChg>
      </pc:sldChg>
      <pc:sldChg chg="del">
        <pc:chgData name="Peterson Peña" userId="beaf9f683a4973f7" providerId="LiveId" clId="{9A6F458A-1A6E-4EA1-B514-B542A2F107EB}" dt="2026-04-12T21:21:58.371" v="295" actId="47"/>
        <pc:sldMkLst>
          <pc:docMk/>
          <pc:sldMk cId="673772115" sldId="404"/>
        </pc:sldMkLst>
      </pc:sldChg>
      <pc:sldChg chg="del">
        <pc:chgData name="Peterson Peña" userId="beaf9f683a4973f7" providerId="LiveId" clId="{9A6F458A-1A6E-4EA1-B514-B542A2F107EB}" dt="2026-04-12T21:21:58.285" v="294" actId="47"/>
        <pc:sldMkLst>
          <pc:docMk/>
          <pc:sldMk cId="1390150459" sldId="405"/>
        </pc:sldMkLst>
      </pc:sldChg>
      <pc:sldChg chg="del">
        <pc:chgData name="Peterson Peña" userId="beaf9f683a4973f7" providerId="LiveId" clId="{9A6F458A-1A6E-4EA1-B514-B542A2F107EB}" dt="2026-04-12T21:21:58.285" v="294" actId="47"/>
        <pc:sldMkLst>
          <pc:docMk/>
          <pc:sldMk cId="386218673" sldId="406"/>
        </pc:sldMkLst>
      </pc:sldChg>
      <pc:sldChg chg="del">
        <pc:chgData name="Peterson Peña" userId="beaf9f683a4973f7" providerId="LiveId" clId="{9A6F458A-1A6E-4EA1-B514-B542A2F107EB}" dt="2026-04-12T21:21:58.285" v="294" actId="47"/>
        <pc:sldMkLst>
          <pc:docMk/>
          <pc:sldMk cId="3706694398" sldId="407"/>
        </pc:sldMkLst>
      </pc:sldChg>
      <pc:sldChg chg="del">
        <pc:chgData name="Peterson Peña" userId="beaf9f683a4973f7" providerId="LiveId" clId="{9A6F458A-1A6E-4EA1-B514-B542A2F107EB}" dt="2026-04-12T21:21:58.285" v="294" actId="47"/>
        <pc:sldMkLst>
          <pc:docMk/>
          <pc:sldMk cId="1735063183" sldId="40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371850" y="1097275"/>
            <a:ext cx="548665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6381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7356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0245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0164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4230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34893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1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Google Shape;9;p13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14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5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15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16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16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7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17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18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19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19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20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20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2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21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2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22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ido">
    <p:bg>
      <p:bgPr>
        <a:blipFill dpi="0" rotWithShape="1">
          <a:blip r:embed="rId2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956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esentacion">
    <p:bg>
      <p:bgPr>
        <a:blipFill dpi="0" rotWithShape="1">
          <a:blip r:embed="rId2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9675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wppenac@escolme.edu.co" TargetMode="Externa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video" Target="https://www.youtube.com/embed/mWyAk8dsTas?feature=oembed" TargetMode="Externa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226371" y="1898810"/>
            <a:ext cx="12382052" cy="4930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s-MX" sz="3360" dirty="0">
                <a:solidFill>
                  <a:srgbClr val="00B050"/>
                </a:solidFill>
                <a:latin typeface="+mn-lt"/>
              </a:rPr>
              <a:t>Programa: </a:t>
            </a:r>
            <a:r>
              <a:rPr lang="es-MX" sz="3360" dirty="0">
                <a:solidFill>
                  <a:srgbClr val="00B0F0"/>
                </a:solidFill>
                <a:latin typeface="+mn-lt"/>
              </a:rPr>
              <a:t>Admón. de Empresas</a:t>
            </a:r>
          </a:p>
          <a:p>
            <a:pPr>
              <a:defRPr/>
            </a:pPr>
            <a:r>
              <a:rPr lang="es-MX" sz="3360" dirty="0">
                <a:solidFill>
                  <a:srgbClr val="00B0F0"/>
                </a:solidFill>
              </a:rPr>
              <a:t>Fecha de inicio: </a:t>
            </a:r>
            <a:r>
              <a:rPr lang="es-MX" sz="2800" dirty="0">
                <a:solidFill>
                  <a:srgbClr val="00B0F0"/>
                </a:solidFill>
                <a:highlight>
                  <a:srgbClr val="FF0000"/>
                </a:highlight>
              </a:rPr>
              <a:t>Lunes 5 de octubre Fecha final: viernes 27 de noviembre. </a:t>
            </a:r>
            <a:endParaRPr lang="es-MX" sz="2800" dirty="0">
              <a:solidFill>
                <a:srgbClr val="00B0F0"/>
              </a:solidFill>
              <a:highlight>
                <a:srgbClr val="FF0000"/>
              </a:highlight>
              <a:latin typeface="+mn-lt"/>
            </a:endParaRPr>
          </a:p>
          <a:p>
            <a:pPr>
              <a:defRPr/>
            </a:pPr>
            <a:r>
              <a:rPr lang="es-MX" sz="3360" dirty="0">
                <a:solidFill>
                  <a:srgbClr val="FF0000"/>
                </a:solidFill>
                <a:latin typeface="+mn-lt"/>
              </a:rPr>
              <a:t>Materia</a:t>
            </a:r>
            <a:r>
              <a:rPr lang="es-MX" sz="3360" dirty="0">
                <a:solidFill>
                  <a:schemeClr val="bg1"/>
                </a:solidFill>
                <a:latin typeface="+mn-lt"/>
              </a:rPr>
              <a:t>: </a:t>
            </a:r>
            <a:r>
              <a:rPr lang="es-MX" sz="3360" dirty="0">
                <a:solidFill>
                  <a:schemeClr val="bg1"/>
                </a:solidFill>
              </a:rPr>
              <a:t>GESTION DEL CAMBIO EN LAS ORGANIZACIONES</a:t>
            </a:r>
            <a:endParaRPr lang="es-MX" sz="3360" dirty="0">
              <a:solidFill>
                <a:schemeClr val="bg1"/>
              </a:solidFill>
              <a:latin typeface="+mn-lt"/>
            </a:endParaRPr>
          </a:p>
          <a:p>
            <a:pPr>
              <a:defRPr/>
            </a:pPr>
            <a:r>
              <a:rPr lang="es-MX" sz="3360" dirty="0">
                <a:solidFill>
                  <a:srgbClr val="FFC000"/>
                </a:solidFill>
                <a:latin typeface="+mn-lt"/>
              </a:rPr>
              <a:t>Metodología: </a:t>
            </a:r>
            <a:r>
              <a:rPr lang="es-MX" sz="3360" dirty="0">
                <a:solidFill>
                  <a:schemeClr val="bg1"/>
                </a:solidFill>
                <a:latin typeface="+mn-lt"/>
              </a:rPr>
              <a:t>Virtual. </a:t>
            </a:r>
          </a:p>
          <a:p>
            <a:pPr>
              <a:defRPr/>
            </a:pPr>
            <a:r>
              <a:rPr lang="es-MX" sz="3360" dirty="0">
                <a:solidFill>
                  <a:schemeClr val="bg1"/>
                </a:solidFill>
                <a:latin typeface="+mn-lt"/>
              </a:rPr>
              <a:t>Duración: </a:t>
            </a:r>
            <a:r>
              <a:rPr lang="es-MX" sz="3360" dirty="0">
                <a:solidFill>
                  <a:schemeClr val="bg1"/>
                </a:solidFill>
              </a:rPr>
              <a:t>2 MESES</a:t>
            </a:r>
            <a:r>
              <a:rPr lang="es-MX" sz="3360" dirty="0">
                <a:solidFill>
                  <a:schemeClr val="bg1"/>
                </a:solidFill>
                <a:latin typeface="+mn-lt"/>
              </a:rPr>
              <a:t> </a:t>
            </a:r>
          </a:p>
          <a:p>
            <a:pPr>
              <a:defRPr/>
            </a:pPr>
            <a:r>
              <a:rPr lang="es-MX" sz="3360" dirty="0">
                <a:solidFill>
                  <a:srgbClr val="00B0F0"/>
                </a:solidFill>
                <a:latin typeface="+mn-lt"/>
              </a:rPr>
              <a:t>Docente:</a:t>
            </a:r>
            <a:r>
              <a:rPr lang="es-MX" sz="3360" dirty="0">
                <a:solidFill>
                  <a:schemeClr val="bg1"/>
                </a:solidFill>
                <a:latin typeface="+mn-lt"/>
              </a:rPr>
              <a:t> Peterson Peña casas </a:t>
            </a:r>
          </a:p>
          <a:p>
            <a:pPr>
              <a:defRPr/>
            </a:pPr>
            <a:r>
              <a:rPr lang="es-CO" sz="3360" dirty="0">
                <a:solidFill>
                  <a:srgbClr val="1D2125"/>
                </a:solidFill>
                <a:latin typeface="Roboto" panose="02000000000000000000" pitchFamily="2" charset="0"/>
                <a:hlinkClick r:id="rId2"/>
              </a:rPr>
              <a:t>wppenac@escolme.edu.co</a:t>
            </a:r>
            <a:endParaRPr lang="es-CO" sz="3360" dirty="0">
              <a:solidFill>
                <a:schemeClr val="bg1"/>
              </a:solidFill>
              <a:latin typeface="+mn-lt"/>
            </a:endParaRPr>
          </a:p>
          <a:p>
            <a:endParaRPr lang="es-CO" sz="792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221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177290" y="1606441"/>
            <a:ext cx="11245168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3200" b="1" i="0" u="sng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Objetivo:</a:t>
            </a:r>
          </a:p>
          <a:p>
            <a:endParaRPr lang="es-MX" sz="32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s-MX" sz="3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Reconocer el contexto organizacional para la gestión de cambio. </a:t>
            </a:r>
          </a:p>
          <a:p>
            <a:endParaRPr lang="es-MX" sz="32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s-MX" sz="3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Analizar el cambio organizacional en ese contexto con sus necesidades y posibilidades de gestión. </a:t>
            </a:r>
          </a:p>
          <a:p>
            <a:endParaRPr lang="es-MX" sz="32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s-MX" sz="3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Definir el plan de gestión de cambio que se adapte al contexto. 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12422458" y="7649736"/>
            <a:ext cx="2207942" cy="579863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411480" y="1080661"/>
            <a:ext cx="13395960" cy="9140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3200" b="1" u="sng" dirty="0">
                <a:latin typeface="Arial" panose="020B0604020202020204" pitchFamily="34" charset="0"/>
              </a:rPr>
              <a:t>Unidades</a:t>
            </a:r>
            <a:r>
              <a:rPr lang="es-MX" sz="3200" b="1" i="0" u="sng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</a:p>
          <a:p>
            <a:endParaRPr lang="es-MX" sz="32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sz="36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Cambio Organizacional (</a:t>
            </a:r>
            <a:r>
              <a:rPr lang="es-MX" sz="3600" b="0" i="0" u="none" strike="noStrike" baseline="0" dirty="0">
                <a:solidFill>
                  <a:srgbClr val="000000"/>
                </a:solidFill>
                <a:highlight>
                  <a:srgbClr val="FF0000"/>
                </a:highlight>
                <a:latin typeface="Arial" panose="020B0604020202020204" pitchFamily="34" charset="0"/>
              </a:rPr>
              <a:t>del 13 al 26 de abril del 2026</a:t>
            </a:r>
            <a:r>
              <a:rPr lang="es-MX" sz="36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endParaRPr lang="es-MX" sz="3600" dirty="0">
              <a:latin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sz="36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Gestión y Fases del cambio (</a:t>
            </a:r>
            <a:r>
              <a:rPr lang="es-MX" sz="3600" b="0" i="0" u="none" strike="noStrike" baseline="0" dirty="0">
                <a:solidFill>
                  <a:srgbClr val="000000"/>
                </a:solidFill>
                <a:highlight>
                  <a:srgbClr val="FF0000"/>
                </a:highlight>
                <a:latin typeface="Arial" panose="020B0604020202020204" pitchFamily="34" charset="0"/>
              </a:rPr>
              <a:t>del 27 de abril  al </a:t>
            </a:r>
            <a:r>
              <a:rPr lang="es-MX" sz="3600" dirty="0">
                <a:highlight>
                  <a:srgbClr val="FF0000"/>
                </a:highlight>
                <a:latin typeface="Arial" panose="020B0604020202020204" pitchFamily="34" charset="0"/>
              </a:rPr>
              <a:t>10</a:t>
            </a:r>
            <a:r>
              <a:rPr lang="es-MX" sz="3600" b="0" i="0" u="none" strike="noStrike" baseline="0" dirty="0">
                <a:solidFill>
                  <a:srgbClr val="000000"/>
                </a:solidFill>
                <a:highlight>
                  <a:srgbClr val="FF0000"/>
                </a:highlight>
                <a:latin typeface="Arial" panose="020B0604020202020204" pitchFamily="34" charset="0"/>
              </a:rPr>
              <a:t> de mayo del 2026</a:t>
            </a:r>
            <a:r>
              <a:rPr lang="es-MX" sz="36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endParaRPr lang="es-MX" sz="3600" dirty="0">
              <a:latin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sz="36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Comunicación para el cambio organizacional (</a:t>
            </a:r>
            <a:r>
              <a:rPr lang="es-MX" sz="3600" b="0" i="0" u="none" strike="noStrike" baseline="0" dirty="0">
                <a:solidFill>
                  <a:srgbClr val="000000"/>
                </a:solidFill>
                <a:highlight>
                  <a:srgbClr val="FF0000"/>
                </a:highlight>
                <a:latin typeface="Arial" panose="020B0604020202020204" pitchFamily="34" charset="0"/>
              </a:rPr>
              <a:t>del 11 al </a:t>
            </a:r>
            <a:r>
              <a:rPr lang="es-MX" sz="3600" dirty="0">
                <a:highlight>
                  <a:srgbClr val="FF0000"/>
                </a:highlight>
                <a:latin typeface="Arial" panose="020B0604020202020204" pitchFamily="34" charset="0"/>
              </a:rPr>
              <a:t>24 </a:t>
            </a:r>
            <a:r>
              <a:rPr lang="es-MX" sz="3600" b="0" i="0" u="none" strike="noStrike" baseline="0" dirty="0">
                <a:solidFill>
                  <a:srgbClr val="000000"/>
                </a:solidFill>
                <a:highlight>
                  <a:srgbClr val="FF0000"/>
                </a:highlight>
                <a:latin typeface="Arial" panose="020B0604020202020204" pitchFamily="34" charset="0"/>
              </a:rPr>
              <a:t>de mayo del 2026</a:t>
            </a:r>
            <a:r>
              <a:rPr lang="es-MX" sz="36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endParaRPr lang="es-MX" sz="3600" dirty="0">
              <a:latin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sz="36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Comunicación en las Fases del cambio organizacional (</a:t>
            </a:r>
            <a:r>
              <a:rPr lang="es-MX" sz="3600" b="0" i="0" u="none" strike="noStrike" baseline="0" dirty="0">
                <a:solidFill>
                  <a:srgbClr val="000000"/>
                </a:solidFill>
                <a:highlight>
                  <a:srgbClr val="FF0000"/>
                </a:highlight>
                <a:latin typeface="Arial" panose="020B0604020202020204" pitchFamily="34" charset="0"/>
              </a:rPr>
              <a:t>del </a:t>
            </a:r>
            <a:r>
              <a:rPr lang="es-MX" sz="3600" dirty="0">
                <a:highlight>
                  <a:srgbClr val="FF0000"/>
                </a:highlight>
                <a:latin typeface="Arial" panose="020B0604020202020204" pitchFamily="34" charset="0"/>
              </a:rPr>
              <a:t>25 de mayo</a:t>
            </a:r>
            <a:r>
              <a:rPr lang="es-MX" sz="3600" b="0" i="0" u="none" strike="noStrike" baseline="0" dirty="0">
                <a:solidFill>
                  <a:srgbClr val="000000"/>
                </a:solidFill>
                <a:highlight>
                  <a:srgbClr val="FF0000"/>
                </a:highlight>
                <a:latin typeface="Arial" panose="020B0604020202020204" pitchFamily="34" charset="0"/>
              </a:rPr>
              <a:t> al </a:t>
            </a:r>
            <a:r>
              <a:rPr lang="es-MX" sz="3600" dirty="0">
                <a:highlight>
                  <a:srgbClr val="FF0000"/>
                </a:highlight>
                <a:latin typeface="Arial" panose="020B0604020202020204" pitchFamily="34" charset="0"/>
              </a:rPr>
              <a:t>5</a:t>
            </a:r>
            <a:r>
              <a:rPr lang="es-MX" sz="3600" b="0" i="0" u="none" strike="noStrike" baseline="0" dirty="0">
                <a:solidFill>
                  <a:srgbClr val="000000"/>
                </a:solidFill>
                <a:highlight>
                  <a:srgbClr val="FF0000"/>
                </a:highlight>
                <a:latin typeface="Arial" panose="020B0604020202020204" pitchFamily="34" charset="0"/>
              </a:rPr>
              <a:t> de </a:t>
            </a:r>
            <a:r>
              <a:rPr lang="es-MX" sz="3600" dirty="0">
                <a:highlight>
                  <a:srgbClr val="FF0000"/>
                </a:highlight>
                <a:latin typeface="Arial" panose="020B0604020202020204" pitchFamily="34" charset="0"/>
              </a:rPr>
              <a:t>junio del 2026</a:t>
            </a:r>
            <a:r>
              <a:rPr lang="es-MX" sz="36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</a:p>
          <a:p>
            <a:pPr marL="514350" indent="-514350">
              <a:buFont typeface="+mj-lt"/>
              <a:buAutoNum type="arabicPeriod"/>
            </a:pPr>
            <a:endParaRPr lang="es-MX" sz="3600" dirty="0">
              <a:latin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s-MX" sz="32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s-MX" sz="3200" dirty="0">
              <a:latin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s-MX" sz="32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s-MX" sz="32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12422458" y="7649736"/>
            <a:ext cx="2207942" cy="579863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4263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/>
          <p:nvPr/>
        </p:nvSpPr>
        <p:spPr>
          <a:xfrm>
            <a:off x="12422458" y="7649736"/>
            <a:ext cx="2207942" cy="579863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27B96BEF-615F-EC81-E96E-D105C7001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299579"/>
              </p:ext>
            </p:extLst>
          </p:nvPr>
        </p:nvGraphicFramePr>
        <p:xfrm>
          <a:off x="582930" y="1714500"/>
          <a:ext cx="12138660" cy="5491590"/>
        </p:xfrm>
        <a:graphic>
          <a:graphicData uri="http://schemas.openxmlformats.org/drawingml/2006/table">
            <a:tbl>
              <a:tblPr/>
              <a:tblGrid>
                <a:gridCol w="1517333">
                  <a:extLst>
                    <a:ext uri="{9D8B030D-6E8A-4147-A177-3AD203B41FA5}">
                      <a16:colId xmlns:a16="http://schemas.microsoft.com/office/drawing/2014/main" val="3727203669"/>
                    </a:ext>
                  </a:extLst>
                </a:gridCol>
                <a:gridCol w="6069328">
                  <a:extLst>
                    <a:ext uri="{9D8B030D-6E8A-4147-A177-3AD203B41FA5}">
                      <a16:colId xmlns:a16="http://schemas.microsoft.com/office/drawing/2014/main" val="527139874"/>
                    </a:ext>
                  </a:extLst>
                </a:gridCol>
                <a:gridCol w="1517333">
                  <a:extLst>
                    <a:ext uri="{9D8B030D-6E8A-4147-A177-3AD203B41FA5}">
                      <a16:colId xmlns:a16="http://schemas.microsoft.com/office/drawing/2014/main" val="2406826992"/>
                    </a:ext>
                  </a:extLst>
                </a:gridCol>
                <a:gridCol w="1517333">
                  <a:extLst>
                    <a:ext uri="{9D8B030D-6E8A-4147-A177-3AD203B41FA5}">
                      <a16:colId xmlns:a16="http://schemas.microsoft.com/office/drawing/2014/main" val="3148164060"/>
                    </a:ext>
                  </a:extLst>
                </a:gridCol>
                <a:gridCol w="1517333">
                  <a:extLst>
                    <a:ext uri="{9D8B030D-6E8A-4147-A177-3AD203B41FA5}">
                      <a16:colId xmlns:a16="http://schemas.microsoft.com/office/drawing/2014/main" val="1127618660"/>
                    </a:ext>
                  </a:extLst>
                </a:gridCol>
              </a:tblGrid>
              <a:tr h="1159336">
                <a:tc>
                  <a:txBody>
                    <a:bodyPr/>
                    <a:lstStyle/>
                    <a:p>
                      <a:r>
                        <a:rPr lang="es-CO"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>
                          <a:effectLst/>
                          <a:latin typeface="Roboto" panose="02000000000000000000" pitchFamily="2" charset="0"/>
                        </a:rPr>
                        <a:t>Actividad 1</a:t>
                      </a:r>
                      <a:br>
                        <a:rPr lang="es-CO">
                          <a:effectLst/>
                          <a:latin typeface="Roboto" panose="02000000000000000000" pitchFamily="2" charset="0"/>
                        </a:rPr>
                      </a:br>
                      <a:endParaRPr lang="es-CO">
                        <a:effectLst/>
                        <a:latin typeface="Roboto" panose="02000000000000000000" pitchFamily="2" charset="0"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effectLst/>
                          <a:latin typeface="Roboto" panose="02000000000000000000" pitchFamily="2" charset="0"/>
                        </a:rPr>
                        <a:t>30%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effectLst/>
                          <a:latin typeface="Roboto" panose="02000000000000000000" pitchFamily="2" charset="0"/>
                        </a:rPr>
                        <a:t>13 de abril 2025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effectLst/>
                          <a:latin typeface="Roboto" panose="02000000000000000000" pitchFamily="2" charset="0"/>
                        </a:rPr>
                        <a:t>26 de abril 2026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427221"/>
                  </a:ext>
                </a:extLst>
              </a:tr>
              <a:tr h="1586459">
                <a:tc>
                  <a:txBody>
                    <a:bodyPr/>
                    <a:lstStyle/>
                    <a:p>
                      <a:r>
                        <a:rPr lang="es-CO">
                          <a:effectLst/>
                          <a:latin typeface="Roboto" panose="02000000000000000000" pitchFamily="2" charset="0"/>
                        </a:rPr>
                        <a:t>2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>
                          <a:effectLst/>
                          <a:latin typeface="Roboto" panose="02000000000000000000" pitchFamily="2" charset="0"/>
                        </a:rPr>
                        <a:t>Actividad 2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effectLst/>
                          <a:latin typeface="Roboto" panose="02000000000000000000" pitchFamily="2" charset="0"/>
                        </a:rPr>
                        <a:t>30%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effectLst/>
                          <a:latin typeface="Roboto" panose="02000000000000000000" pitchFamily="2" charset="0"/>
                        </a:rPr>
                        <a:t>27 de abril 2026</a:t>
                      </a:r>
                      <a:br>
                        <a:rPr lang="es-CO" dirty="0">
                          <a:effectLst/>
                          <a:latin typeface="Roboto" panose="02000000000000000000" pitchFamily="2" charset="0"/>
                        </a:rPr>
                      </a:br>
                      <a:endParaRPr lang="es-CO" dirty="0">
                        <a:effectLst/>
                        <a:latin typeface="Roboto" panose="02000000000000000000" pitchFamily="2" charset="0"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effectLst/>
                          <a:latin typeface="Roboto" panose="02000000000000000000" pitchFamily="2" charset="0"/>
                        </a:rPr>
                        <a:t>10 mayo 2026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684769"/>
                  </a:ext>
                </a:extLst>
              </a:tr>
              <a:tr h="1586459">
                <a:tc>
                  <a:txBody>
                    <a:bodyPr/>
                    <a:lstStyle/>
                    <a:p>
                      <a:r>
                        <a:rPr lang="es-CO">
                          <a:effectLst/>
                          <a:latin typeface="Roboto" panose="02000000000000000000" pitchFamily="2" charset="0"/>
                        </a:rPr>
                        <a:t>3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>
                          <a:effectLst/>
                          <a:latin typeface="Roboto" panose="02000000000000000000" pitchFamily="2" charset="0"/>
                        </a:rPr>
                        <a:t>Actividad 3</a:t>
                      </a:r>
                      <a:br>
                        <a:rPr lang="es-CO">
                          <a:effectLst/>
                          <a:latin typeface="Roboto" panose="02000000000000000000" pitchFamily="2" charset="0"/>
                        </a:rPr>
                      </a:br>
                      <a:endParaRPr lang="es-CO">
                        <a:effectLst/>
                        <a:latin typeface="Roboto" panose="02000000000000000000" pitchFamily="2" charset="0"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effectLst/>
                          <a:latin typeface="Roboto" panose="02000000000000000000" pitchFamily="2" charset="0"/>
                        </a:rPr>
                        <a:t>40%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effectLst/>
                          <a:latin typeface="Roboto" panose="02000000000000000000" pitchFamily="2" charset="0"/>
                        </a:rPr>
                        <a:t>11 de mayo 2026</a:t>
                      </a:r>
                      <a:br>
                        <a:rPr lang="es-CO" dirty="0">
                          <a:effectLst/>
                          <a:latin typeface="Roboto" panose="02000000000000000000" pitchFamily="2" charset="0"/>
                        </a:rPr>
                      </a:br>
                      <a:endParaRPr lang="es-CO" dirty="0">
                        <a:effectLst/>
                        <a:latin typeface="Roboto" panose="02000000000000000000" pitchFamily="2" charset="0"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effectLst/>
                          <a:latin typeface="Roboto" panose="02000000000000000000" pitchFamily="2" charset="0"/>
                        </a:rPr>
                        <a:t>24 mayo 2026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21516"/>
                  </a:ext>
                </a:extLst>
              </a:tr>
              <a:tr h="1159336">
                <a:tc>
                  <a:txBody>
                    <a:bodyPr/>
                    <a:lstStyle/>
                    <a:p>
                      <a:r>
                        <a:rPr lang="es-CO">
                          <a:effectLst/>
                          <a:latin typeface="Roboto" panose="02000000000000000000" pitchFamily="2" charset="0"/>
                        </a:rPr>
                        <a:t> 4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>
                          <a:effectLst/>
                          <a:latin typeface="Roboto" panose="02000000000000000000" pitchFamily="2" charset="0"/>
                        </a:rPr>
                        <a:t>FINAL 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>
                          <a:effectLst/>
                          <a:latin typeface="Roboto" panose="02000000000000000000" pitchFamily="2" charset="0"/>
                        </a:rPr>
                        <a:t> 100%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effectLst/>
                          <a:latin typeface="Roboto" panose="02000000000000000000" pitchFamily="2" charset="0"/>
                        </a:rPr>
                        <a:t>25 de mayo 2026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effectLst/>
                          <a:latin typeface="Roboto" panose="02000000000000000000" pitchFamily="2" charset="0"/>
                        </a:rPr>
                        <a:t>04 junio 2025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048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/>
          <p:nvPr/>
        </p:nvSpPr>
        <p:spPr>
          <a:xfrm>
            <a:off x="12422458" y="7649736"/>
            <a:ext cx="2207942" cy="579863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5F2EB78-1DDC-DE1E-7A22-63DF675D9EC8}"/>
              </a:ext>
            </a:extLst>
          </p:cNvPr>
          <p:cNvSpPr txBox="1"/>
          <p:nvPr/>
        </p:nvSpPr>
        <p:spPr>
          <a:xfrm>
            <a:off x="274320" y="1342449"/>
            <a:ext cx="13544550" cy="6156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s-MX" sz="1400" dirty="0">
              <a:effectLst/>
              <a:highlight>
                <a:srgbClr val="FF0000"/>
              </a:highlight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s-MX" dirty="0">
              <a:highlight>
                <a:srgbClr val="FF0000"/>
              </a:highlight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3200" dirty="0">
                <a:effectLst/>
                <a:highlight>
                  <a:srgbClr val="FF0000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ENCUENTRO #1 </a:t>
            </a:r>
            <a:r>
              <a:rPr lang="es-MX" sz="3200" dirty="0">
                <a:highlight>
                  <a:srgbClr val="FF0000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SABADO</a:t>
            </a:r>
            <a:r>
              <a:rPr lang="es-MX" sz="3200" dirty="0">
                <a:effectLst/>
                <a:highlight>
                  <a:srgbClr val="FF0000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18 DE ABRIL </a:t>
            </a:r>
            <a:r>
              <a:rPr lang="es-MX" sz="3200" dirty="0">
                <a:highlight>
                  <a:srgbClr val="FF0000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10:00</a:t>
            </a:r>
            <a:r>
              <a:rPr lang="es-MX" sz="3200" dirty="0">
                <a:effectLst/>
                <a:highlight>
                  <a:srgbClr val="FF0000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s-CO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3200" dirty="0">
                <a:effectLst/>
                <a:highlight>
                  <a:srgbClr val="FF0000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ENCUENTRO #</a:t>
            </a:r>
            <a:r>
              <a:rPr lang="es-MX" sz="3200" dirty="0">
                <a:highlight>
                  <a:srgbClr val="FF0000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MX" sz="3200" dirty="0">
                <a:effectLst/>
                <a:highlight>
                  <a:srgbClr val="FF0000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3200" dirty="0">
                <a:highlight>
                  <a:srgbClr val="FF0000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SABADO</a:t>
            </a:r>
            <a:r>
              <a:rPr lang="es-MX" sz="3200" dirty="0">
                <a:effectLst/>
                <a:highlight>
                  <a:srgbClr val="FF0000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 DE MAYO 10:00 AM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s-CO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3200" dirty="0">
                <a:effectLst/>
                <a:highlight>
                  <a:srgbClr val="FF0000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ENCUENTRO #3 </a:t>
            </a:r>
            <a:r>
              <a:rPr lang="es-MX" sz="3200" dirty="0">
                <a:highlight>
                  <a:srgbClr val="FF0000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SABADO</a:t>
            </a:r>
            <a:r>
              <a:rPr lang="es-MX" sz="3200" dirty="0">
                <a:effectLst/>
                <a:highlight>
                  <a:srgbClr val="FF0000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16 DE MAYO 10:00 AM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s-CO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3200" dirty="0">
                <a:effectLst/>
                <a:highlight>
                  <a:srgbClr val="FF0000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ENCUENTRO #4 SABADO 30 DE </a:t>
            </a:r>
            <a:r>
              <a:rPr lang="es-MX" sz="2800" dirty="0">
                <a:effectLst/>
                <a:highlight>
                  <a:srgbClr val="FF0000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MAYO </a:t>
            </a:r>
            <a:r>
              <a:rPr lang="es-MX" sz="2800" dirty="0">
                <a:highlight>
                  <a:srgbClr val="FF0000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10:00 AM</a:t>
            </a:r>
            <a:endParaRPr lang="es-MX" sz="28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s-MX" sz="105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s-MX" sz="105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s-CO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CO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962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/>
          <p:nvPr/>
        </p:nvSpPr>
        <p:spPr>
          <a:xfrm>
            <a:off x="12422458" y="7649736"/>
            <a:ext cx="2207942" cy="579863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Elementos multimedia en línea 1" title="Empresas que no innovaron: Blockbuster, Kodak, Nokia y Yahoo">
            <a:hlinkClick r:id="" action="ppaction://media"/>
            <a:extLst>
              <a:ext uri="{FF2B5EF4-FFF2-40B4-BE49-F238E27FC236}">
                <a16:creationId xmlns:a16="http://schemas.microsoft.com/office/drawing/2014/main" id="{39C46010-544A-6194-D247-08433031174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045200" y="3397250"/>
            <a:ext cx="25400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379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3267307" y="2464419"/>
            <a:ext cx="9155151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“Las especies que sobreviven no son las más fuertes, ni las más rápidas, ni las más inteligentes; sino aquellas que se adaptan mejor al cambio.”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12422458" y="7649736"/>
            <a:ext cx="2207942" cy="579863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7698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/>
          <p:nvPr/>
        </p:nvSpPr>
        <p:spPr>
          <a:xfrm>
            <a:off x="5909310" y="1226106"/>
            <a:ext cx="7883367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09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6100"/>
              <a:buFont typeface="Arial"/>
              <a:buNone/>
            </a:pPr>
            <a:r>
              <a:rPr lang="en-US" sz="4800" dirty="0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Cambio Organizational: </a:t>
            </a:r>
            <a:r>
              <a:rPr lang="en-US" sz="4800" dirty="0" err="1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Liderando</a:t>
            </a:r>
            <a:r>
              <a:rPr lang="en-US" sz="4800" dirty="0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4800" dirty="0" err="1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Transformación</a:t>
            </a:r>
            <a:endParaRPr sz="4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701902" y="3459598"/>
            <a:ext cx="8090775" cy="2072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Arial"/>
              <a:buNone/>
            </a:pP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El Cambio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organizacional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es un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proceso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crucial para que las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empresas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adapten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prosperen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entorno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constante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evolución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Requiere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liderazgo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estratégico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una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visión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clara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guiar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a la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organización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través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de la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transformación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2422458" y="7649736"/>
            <a:ext cx="2207942" cy="579863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/>
          <p:nvPr/>
        </p:nvSpPr>
        <p:spPr>
          <a:xfrm>
            <a:off x="6324124" y="814745"/>
            <a:ext cx="7468553" cy="1408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4400"/>
              <a:buFont typeface="Arial"/>
              <a:buNone/>
            </a:pPr>
            <a:r>
              <a:rPr lang="en-US" sz="4400" dirty="0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¿</a:t>
            </a:r>
            <a:r>
              <a:rPr lang="en-US" sz="4400" dirty="0" err="1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Qué</a:t>
            </a:r>
            <a:r>
              <a:rPr lang="en-US" sz="4400" dirty="0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 es </a:t>
            </a:r>
            <a:r>
              <a:rPr lang="en-US" sz="4400" dirty="0" err="1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4400" dirty="0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 Cambio </a:t>
            </a:r>
            <a:r>
              <a:rPr lang="en-US" sz="4400" dirty="0" err="1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Organizacional</a:t>
            </a:r>
            <a:r>
              <a:rPr lang="en-US" sz="4400" dirty="0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324124" y="2850952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9525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08909" y="2951202"/>
            <a:ext cx="168950" cy="337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Arial"/>
              <a:buNone/>
            </a:pPr>
            <a:r>
              <a:rPr lang="en-US" sz="26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6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101959" y="2850952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Arial"/>
              <a:buNone/>
            </a:pPr>
            <a:r>
              <a:rPr lang="en-US" sz="22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Adaptación</a:t>
            </a:r>
            <a:r>
              <a:rPr lang="en-US" sz="22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al Cambio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101959" y="3346490"/>
            <a:ext cx="2836783" cy="2298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Arial"/>
              <a:buNone/>
            </a:pP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cambio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organizacional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implica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ajustar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estructura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procesos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cultura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una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empresa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para responder a las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demandas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del mercado y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entorno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0178058" y="2850952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9525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0362843" y="2951202"/>
            <a:ext cx="168950" cy="337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Arial"/>
              <a:buNone/>
            </a:pPr>
            <a:r>
              <a:rPr lang="en-US" sz="26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0955893" y="2850952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Mejora Continua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0955893" y="3346490"/>
            <a:ext cx="2836783" cy="191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Arial"/>
              <a:buNone/>
            </a:pPr>
            <a:r>
              <a:rPr lang="en-US" sz="18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Es un proceso iterativo que busca optimizar el desempeño y la eficiencia de la organización a lo largo del tiempo.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324124" y="6153150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9525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508909" y="6253401"/>
            <a:ext cx="168950" cy="337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Arial"/>
              <a:buNone/>
            </a:pPr>
            <a:r>
              <a:rPr lang="en-US" sz="26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101958" y="6237713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Arial"/>
              <a:buNone/>
            </a:pPr>
            <a:r>
              <a:rPr lang="en-US" sz="22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Innovación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862646" y="6598815"/>
            <a:ext cx="6690717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Arial"/>
              <a:buNone/>
            </a:pP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cambio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organizacional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fomenta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creatividad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y la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implementación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nuevas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ideas,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productos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servicios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2422458" y="7649736"/>
            <a:ext cx="2207942" cy="579863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/>
          <p:nvPr/>
        </p:nvSpPr>
        <p:spPr>
          <a:xfrm>
            <a:off x="837724" y="1274207"/>
            <a:ext cx="8666559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4400"/>
              <a:buFont typeface="Arial"/>
              <a:buNone/>
            </a:pPr>
            <a:r>
              <a:rPr lang="en-US" sz="4400" dirty="0" err="1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Tipos</a:t>
            </a:r>
            <a:r>
              <a:rPr lang="en-US" sz="4400" dirty="0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4400" dirty="0" err="1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Cambios</a:t>
            </a:r>
            <a:r>
              <a:rPr lang="en-US" sz="4400" dirty="0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400" dirty="0" err="1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Organizacionales</a:t>
            </a:r>
            <a:endParaRPr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837724" y="3788093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Estratégico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837724" y="4379357"/>
            <a:ext cx="3928586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Arial"/>
              <a:buNone/>
            </a:pPr>
            <a:r>
              <a:rPr lang="en-US" sz="18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Cambios en la misión, visión, objetivos y planes a largo plazo de la organización.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357813" y="3788093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2200"/>
              <a:buFont typeface="Arial"/>
              <a:buNone/>
            </a:pPr>
            <a:r>
              <a:rPr lang="en-US" sz="2200" dirty="0" err="1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Estructural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357813" y="4379357"/>
            <a:ext cx="3928586" cy="114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Arial"/>
              <a:buNone/>
            </a:pPr>
            <a:r>
              <a:rPr lang="en-US" sz="18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Modificaciones en la jerarquía, departamentos, roles y responsabilidades.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9877901" y="3788093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Tecnológico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9877901" y="4379357"/>
            <a:ext cx="3928586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Arial"/>
              <a:buNone/>
            </a:pPr>
            <a:r>
              <a:rPr lang="en-US" sz="18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Adopción de nuevas herramientas, sistemas y procesos digitales.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12422458" y="7649736"/>
            <a:ext cx="2207942" cy="579863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/>
          <p:nvPr/>
        </p:nvSpPr>
        <p:spPr>
          <a:xfrm>
            <a:off x="784741" y="819864"/>
            <a:ext cx="7574518" cy="1318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96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4150"/>
              <a:buFont typeface="Arial"/>
              <a:buNone/>
            </a:pPr>
            <a:r>
              <a:rPr lang="en-US" sz="4150" dirty="0" err="1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Fuerzas</a:t>
            </a:r>
            <a:r>
              <a:rPr lang="en-US" sz="4150" dirty="0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150" dirty="0" err="1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Impulsoras</a:t>
            </a:r>
            <a:r>
              <a:rPr lang="en-US" sz="4150" dirty="0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 y Resistencia al Cambio</a:t>
            </a:r>
            <a:endParaRPr sz="4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105733" y="2273260"/>
            <a:ext cx="30480" cy="5337929"/>
          </a:xfrm>
          <a:prstGeom prst="roundRect">
            <a:avLst>
              <a:gd name="adj" fmla="val 308970"/>
            </a:avLst>
          </a:prstGeom>
          <a:solidFill>
            <a:srgbClr val="DABAD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342727" y="2762369"/>
            <a:ext cx="784741" cy="30480"/>
          </a:xfrm>
          <a:prstGeom prst="roundRect">
            <a:avLst>
              <a:gd name="adj" fmla="val 308970"/>
            </a:avLst>
          </a:prstGeom>
          <a:solidFill>
            <a:srgbClr val="DABAD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868740" y="2525435"/>
            <a:ext cx="504468" cy="504468"/>
          </a:xfrm>
          <a:prstGeom prst="roundRect">
            <a:avLst>
              <a:gd name="adj" fmla="val 18668"/>
            </a:avLst>
          </a:prstGeom>
          <a:solidFill>
            <a:srgbClr val="F4D4F7"/>
          </a:solidFill>
          <a:ln w="9525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041856" y="2619375"/>
            <a:ext cx="158234" cy="31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50"/>
              <a:buFont typeface="Arial"/>
              <a:buNone/>
            </a:pPr>
            <a:r>
              <a:rPr lang="en-US" sz="24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2354104" y="2497455"/>
            <a:ext cx="2637830" cy="329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Arial"/>
              <a:buNone/>
            </a:pPr>
            <a:r>
              <a:rPr lang="en-US" sz="20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Fuerzas Impulsoras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2354104" y="2961680"/>
            <a:ext cx="6005155" cy="717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Necesidad de mejorar la competitividad, implementar innovación, adaptarse a regulaciones, etc.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1342727" y="4616410"/>
            <a:ext cx="784741" cy="30480"/>
          </a:xfrm>
          <a:prstGeom prst="roundRect">
            <a:avLst>
              <a:gd name="adj" fmla="val 308970"/>
            </a:avLst>
          </a:prstGeom>
          <a:solidFill>
            <a:srgbClr val="DABAD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868740" y="4379476"/>
            <a:ext cx="504468" cy="504468"/>
          </a:xfrm>
          <a:prstGeom prst="roundRect">
            <a:avLst>
              <a:gd name="adj" fmla="val 18668"/>
            </a:avLst>
          </a:prstGeom>
          <a:solidFill>
            <a:srgbClr val="F4D4F7"/>
          </a:solidFill>
          <a:ln w="9525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1041856" y="4473416"/>
            <a:ext cx="158234" cy="31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50"/>
              <a:buFont typeface="Arial"/>
              <a:buNone/>
            </a:pPr>
            <a:r>
              <a:rPr lang="en-US" sz="24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2354104" y="4351496"/>
            <a:ext cx="2637830" cy="329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Arial"/>
              <a:buNone/>
            </a:pPr>
            <a:r>
              <a:rPr lang="en-US" sz="20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Resistencia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2354104" y="4815721"/>
            <a:ext cx="6005155" cy="717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Temor al cambio, falta de motivación, desconocimiento de los beneficios, etc.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1342727" y="6470452"/>
            <a:ext cx="784741" cy="30480"/>
          </a:xfrm>
          <a:prstGeom prst="roundRect">
            <a:avLst>
              <a:gd name="adj" fmla="val 308970"/>
            </a:avLst>
          </a:prstGeom>
          <a:solidFill>
            <a:srgbClr val="DABAD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868740" y="6233517"/>
            <a:ext cx="504468" cy="504468"/>
          </a:xfrm>
          <a:prstGeom prst="roundRect">
            <a:avLst>
              <a:gd name="adj" fmla="val 18668"/>
            </a:avLst>
          </a:prstGeom>
          <a:solidFill>
            <a:srgbClr val="F4D4F7"/>
          </a:solidFill>
          <a:ln w="9525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041856" y="6327458"/>
            <a:ext cx="158234" cy="31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50"/>
              <a:buFont typeface="Arial"/>
              <a:buNone/>
            </a:pPr>
            <a:r>
              <a:rPr lang="en-US" sz="24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2354104" y="6205538"/>
            <a:ext cx="2637830" cy="329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Arial"/>
              <a:buNone/>
            </a:pPr>
            <a:r>
              <a:rPr lang="en-US" sz="20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Estrategias de Gestión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2354104" y="6669762"/>
            <a:ext cx="6005155" cy="717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Comunicación efectiva, capacitación, incentivos, y liderazgo visionario.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269974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/>
          <p:nvPr/>
        </p:nvSpPr>
        <p:spPr>
          <a:xfrm>
            <a:off x="2857679" y="2699742"/>
            <a:ext cx="9131022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4000"/>
              <a:buFont typeface="Arial"/>
              <a:buNone/>
            </a:pPr>
            <a:r>
              <a:rPr lang="en-US" sz="4000" dirty="0" err="1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Papel</a:t>
            </a:r>
            <a:r>
              <a:rPr lang="en-US" sz="4000" dirty="0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 del </a:t>
            </a:r>
            <a:r>
              <a:rPr lang="en-US" sz="4000" dirty="0" err="1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Liderazgo</a:t>
            </a:r>
            <a:r>
              <a:rPr lang="en-US" sz="4000" dirty="0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dirty="0" err="1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4000" dirty="0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dirty="0" err="1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4000" dirty="0">
                <a:solidFill>
                  <a:srgbClr val="D73AD7"/>
                </a:solidFill>
              </a:rPr>
              <a:t> </a:t>
            </a:r>
            <a:r>
              <a:rPr lang="en-US" sz="4000" dirty="0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Cambio</a:t>
            </a:r>
            <a:endParaRPr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755928" y="3814167"/>
            <a:ext cx="6451283" cy="1585317"/>
          </a:xfrm>
          <a:prstGeom prst="roundRect">
            <a:avLst>
              <a:gd name="adj" fmla="val 5722"/>
            </a:avLst>
          </a:prstGeom>
          <a:solidFill>
            <a:srgbClr val="F4D4F7"/>
          </a:solidFill>
          <a:ln w="9525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979526" y="4008080"/>
            <a:ext cx="2540913" cy="317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Arial"/>
              <a:buNone/>
            </a:pPr>
            <a:r>
              <a:rPr lang="en-US" sz="20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Visión</a:t>
            </a:r>
            <a:r>
              <a:rPr lang="en-US" sz="20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Estratégica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945235" y="4474725"/>
            <a:ext cx="6004084" cy="691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Arial"/>
              <a:buNone/>
            </a:pP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Los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líderes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deben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definir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una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dirección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clara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comunicarla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efectivamente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7423189" y="3802340"/>
            <a:ext cx="6451283" cy="1585317"/>
          </a:xfrm>
          <a:prstGeom prst="roundRect">
            <a:avLst>
              <a:gd name="adj" fmla="val 5722"/>
            </a:avLst>
          </a:prstGeom>
          <a:solidFill>
            <a:srgbClr val="F4D4F7"/>
          </a:solidFill>
          <a:ln w="9525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646788" y="4111823"/>
            <a:ext cx="2540913" cy="317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Arial"/>
              <a:buNone/>
            </a:pPr>
            <a:r>
              <a:rPr lang="en-US" sz="20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Motivación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7522345" y="4542883"/>
            <a:ext cx="6004084" cy="691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Arial"/>
              <a:buNone/>
            </a:pP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Inspirar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empoderar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al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equipo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para que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abracen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cambio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con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entusiasmo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748307" y="5579069"/>
            <a:ext cx="6451283" cy="1585317"/>
          </a:xfrm>
          <a:prstGeom prst="roundRect">
            <a:avLst>
              <a:gd name="adj" fmla="val 5722"/>
            </a:avLst>
          </a:prstGeom>
          <a:solidFill>
            <a:srgbClr val="F4D4F7"/>
          </a:solidFill>
          <a:ln w="9525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979705" y="5736550"/>
            <a:ext cx="2540913" cy="317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Arial"/>
              <a:buNone/>
            </a:pPr>
            <a:r>
              <a:rPr lang="en-US" sz="20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Gestión</a:t>
            </a:r>
            <a:r>
              <a:rPr lang="en-US" sz="20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del Cambio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945235" y="6263718"/>
            <a:ext cx="6004084" cy="691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Arial"/>
              <a:buNone/>
            </a:pP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Planificar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implementar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monitorear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proceso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transformación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organizacional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7423188" y="5591445"/>
            <a:ext cx="6451283" cy="1585317"/>
          </a:xfrm>
          <a:prstGeom prst="roundRect">
            <a:avLst>
              <a:gd name="adj" fmla="val 5722"/>
            </a:avLst>
          </a:prstGeom>
          <a:solidFill>
            <a:srgbClr val="F4D4F7"/>
          </a:solidFill>
          <a:ln w="9525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7646788" y="5725897"/>
            <a:ext cx="2540913" cy="317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Desarrollo de </a:t>
            </a:r>
            <a:r>
              <a:rPr lang="en-US" sz="20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Talento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7646788" y="6247225"/>
            <a:ext cx="6004084" cy="691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Arial"/>
              <a:buNone/>
            </a:pP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Brindar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capacitación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oportunidades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crecimiento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los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colaboradores</a:t>
            </a:r>
            <a:r>
              <a:rPr lang="en-US" sz="17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2422458" y="7649736"/>
            <a:ext cx="2207942" cy="579863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/>
          <p:nvPr/>
        </p:nvSpPr>
        <p:spPr>
          <a:xfrm>
            <a:off x="837724" y="892611"/>
            <a:ext cx="7468553" cy="1408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4400"/>
              <a:buFont typeface="Arial"/>
              <a:buNone/>
            </a:pPr>
            <a:r>
              <a:rPr lang="en-US" sz="4000" dirty="0" err="1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Estrategias</a:t>
            </a:r>
            <a:r>
              <a:rPr lang="en-US" sz="4000" dirty="0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4000" dirty="0" err="1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Comunicación</a:t>
            </a:r>
            <a:r>
              <a:rPr lang="en-US" sz="4000" dirty="0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dirty="0" err="1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Efectiva</a:t>
            </a:r>
            <a:endParaRPr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724" y="2539960"/>
            <a:ext cx="598408" cy="59840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/>
          <p:nvPr/>
        </p:nvSpPr>
        <p:spPr>
          <a:xfrm>
            <a:off x="837724" y="3377684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Transparencia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837724" y="3873222"/>
            <a:ext cx="3554730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Arial"/>
              <a:buNone/>
            </a:pPr>
            <a:r>
              <a:rPr lang="en-US" sz="18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Compartir información de manera abierta y honesta.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51427" y="2539960"/>
            <a:ext cx="598408" cy="59840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/>
          <p:nvPr/>
        </p:nvSpPr>
        <p:spPr>
          <a:xfrm>
            <a:off x="4751427" y="3377684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Diálogo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751427" y="3873222"/>
            <a:ext cx="3554849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Arial"/>
              <a:buNone/>
            </a:pPr>
            <a:r>
              <a:rPr lang="en-US" sz="18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Escuchar y responder a las inquietudes del equipo.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7724" y="5066526"/>
            <a:ext cx="598408" cy="5984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/>
          <p:nvPr/>
        </p:nvSpPr>
        <p:spPr>
          <a:xfrm>
            <a:off x="837724" y="5916215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Arial"/>
              <a:buNone/>
            </a:pPr>
            <a:r>
              <a:rPr lang="en-US" sz="22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Definir</a:t>
            </a:r>
            <a:r>
              <a:rPr lang="en-US" sz="22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Metas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837724" y="6386512"/>
            <a:ext cx="3554730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Arial"/>
              <a:buNone/>
            </a:pP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Establecer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claros y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comunicar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progreso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81074" y="5066526"/>
            <a:ext cx="598408" cy="59840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7"/>
          <p:cNvSpPr/>
          <p:nvPr/>
        </p:nvSpPr>
        <p:spPr>
          <a:xfrm>
            <a:off x="4781074" y="5916215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Arial"/>
              <a:buNone/>
            </a:pPr>
            <a:r>
              <a:rPr lang="en-US" sz="22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815780" y="6386512"/>
            <a:ext cx="3554849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Arial"/>
              <a:buNone/>
            </a:pP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Solicitar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proporcionar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comentarios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constructivos</a:t>
            </a:r>
            <a:r>
              <a:rPr lang="en-US" sz="18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/>
          <p:nvPr/>
        </p:nvSpPr>
        <p:spPr>
          <a:xfrm>
            <a:off x="6267093" y="614720"/>
            <a:ext cx="7582614" cy="1312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4100"/>
              <a:buFont typeface="Arial"/>
              <a:buNone/>
            </a:pPr>
            <a:r>
              <a:rPr lang="en-US" sz="4100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Administrando la Cultura Organizacional</a:t>
            </a:r>
            <a:endParaRPr sz="4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67093" y="2261354"/>
            <a:ext cx="1115258" cy="178450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7716917" y="2484358"/>
            <a:ext cx="2624257" cy="32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Arial"/>
              <a:buNone/>
            </a:pPr>
            <a:r>
              <a:rPr lang="en-US" sz="20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Establecer Valores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7716917" y="2946202"/>
            <a:ext cx="6132790" cy="35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Definir e inculcar los principios y creencias clave.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7093" y="4045863"/>
            <a:ext cx="1115258" cy="178450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/>
          <p:nvPr/>
        </p:nvSpPr>
        <p:spPr>
          <a:xfrm>
            <a:off x="7716917" y="4268867"/>
            <a:ext cx="2911673" cy="32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Arial"/>
              <a:buNone/>
            </a:pPr>
            <a:r>
              <a:rPr lang="en-US" sz="20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Fomentar</a:t>
            </a:r>
            <a:r>
              <a:rPr lang="en-US" sz="20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20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Compromiso</a:t>
            </a:r>
            <a:endParaRPr sz="2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7716917" y="4926450"/>
            <a:ext cx="6132790" cy="35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Arial"/>
              <a:buNone/>
            </a:pPr>
            <a:r>
              <a:rPr lang="en-US" sz="17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Involucrar</a:t>
            </a:r>
            <a:r>
              <a:rPr lang="en-US" sz="17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7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los</a:t>
            </a:r>
            <a:r>
              <a:rPr lang="en-US" sz="17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colaboradores</a:t>
            </a:r>
            <a:r>
              <a:rPr lang="en-US" sz="17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7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generar</a:t>
            </a:r>
            <a:r>
              <a:rPr lang="en-US" sz="17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17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sentido</a:t>
            </a:r>
            <a:r>
              <a:rPr lang="en-US" sz="17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7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pertenencia</a:t>
            </a:r>
            <a:r>
              <a:rPr lang="en-US" sz="17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67093" y="5830372"/>
            <a:ext cx="1115258" cy="1784509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"/>
          <p:cNvSpPr/>
          <p:nvPr/>
        </p:nvSpPr>
        <p:spPr>
          <a:xfrm>
            <a:off x="7716917" y="6053376"/>
            <a:ext cx="2624257" cy="32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Arial"/>
              <a:buNone/>
            </a:pPr>
            <a:r>
              <a:rPr lang="en-US" sz="20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Modelar el Cambio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7716917" y="6515219"/>
            <a:ext cx="6132790" cy="35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Arial"/>
              <a:buNone/>
            </a:pPr>
            <a:r>
              <a:rPr lang="en-US" sz="17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Demostrar</a:t>
            </a:r>
            <a:r>
              <a:rPr lang="en-US" sz="17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7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nuevo </a:t>
            </a:r>
            <a:r>
              <a:rPr lang="en-US" sz="17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comportamiento</a:t>
            </a:r>
            <a:r>
              <a:rPr lang="en-US" sz="17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deseado</a:t>
            </a:r>
            <a:r>
              <a:rPr lang="en-US" sz="17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7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través</a:t>
            </a:r>
            <a:r>
              <a:rPr lang="en-US" sz="17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del </a:t>
            </a:r>
            <a:r>
              <a:rPr lang="en-US" sz="17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liderazgo</a:t>
            </a:r>
            <a:r>
              <a:rPr lang="en-US" sz="17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2422458" y="7649736"/>
            <a:ext cx="2207942" cy="579863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9"/>
          <p:cNvSpPr/>
          <p:nvPr/>
        </p:nvSpPr>
        <p:spPr>
          <a:xfrm>
            <a:off x="784741" y="870407"/>
            <a:ext cx="7574518" cy="1318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96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4150"/>
              <a:buFont typeface="Arial"/>
              <a:buNone/>
            </a:pPr>
            <a:r>
              <a:rPr lang="en-US" sz="3900" dirty="0" err="1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Gestión</a:t>
            </a:r>
            <a:r>
              <a:rPr lang="en-US" sz="3900" dirty="0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 del Cambio: </a:t>
            </a:r>
            <a:r>
              <a:rPr lang="en-US" sz="3900" dirty="0" err="1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Etapas</a:t>
            </a:r>
            <a:r>
              <a:rPr lang="en-US" sz="3900" dirty="0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3900" dirty="0" err="1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Desafíos</a:t>
            </a:r>
            <a:endParaRPr sz="3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1105733" y="2273260"/>
            <a:ext cx="30480" cy="5337929"/>
          </a:xfrm>
          <a:prstGeom prst="roundRect">
            <a:avLst>
              <a:gd name="adj" fmla="val 308970"/>
            </a:avLst>
          </a:prstGeom>
          <a:solidFill>
            <a:srgbClr val="DABAD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1342727" y="2762369"/>
            <a:ext cx="784741" cy="30480"/>
          </a:xfrm>
          <a:prstGeom prst="roundRect">
            <a:avLst>
              <a:gd name="adj" fmla="val 308970"/>
            </a:avLst>
          </a:prstGeom>
          <a:solidFill>
            <a:srgbClr val="DABAD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868740" y="2525435"/>
            <a:ext cx="504468" cy="504468"/>
          </a:xfrm>
          <a:prstGeom prst="roundRect">
            <a:avLst>
              <a:gd name="adj" fmla="val 18668"/>
            </a:avLst>
          </a:prstGeom>
          <a:solidFill>
            <a:srgbClr val="F4D4F7"/>
          </a:solidFill>
          <a:ln w="9525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1041856" y="2619375"/>
            <a:ext cx="158234" cy="31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50"/>
              <a:buFont typeface="Arial"/>
              <a:buNone/>
            </a:pPr>
            <a:r>
              <a:rPr lang="en-US" sz="24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2354104" y="2497455"/>
            <a:ext cx="2637830" cy="329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Arial"/>
              <a:buNone/>
            </a:pPr>
            <a:r>
              <a:rPr lang="en-US" sz="20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Preparación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2354104" y="2961680"/>
            <a:ext cx="6005155" cy="717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Evaluación del estado actual, definición de objetivos y plan de acción.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1342727" y="4616410"/>
            <a:ext cx="784741" cy="30480"/>
          </a:xfrm>
          <a:prstGeom prst="roundRect">
            <a:avLst>
              <a:gd name="adj" fmla="val 308970"/>
            </a:avLst>
          </a:prstGeom>
          <a:solidFill>
            <a:srgbClr val="DABAD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868740" y="4379476"/>
            <a:ext cx="504468" cy="504468"/>
          </a:xfrm>
          <a:prstGeom prst="roundRect">
            <a:avLst>
              <a:gd name="adj" fmla="val 18668"/>
            </a:avLst>
          </a:prstGeom>
          <a:solidFill>
            <a:srgbClr val="F4D4F7"/>
          </a:solidFill>
          <a:ln w="9525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041856" y="4473416"/>
            <a:ext cx="158234" cy="31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50"/>
              <a:buFont typeface="Arial"/>
              <a:buNone/>
            </a:pPr>
            <a:r>
              <a:rPr lang="en-US" sz="24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2354104" y="4351496"/>
            <a:ext cx="2637830" cy="329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Arial"/>
              <a:buNone/>
            </a:pPr>
            <a:r>
              <a:rPr lang="en-US" sz="20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Implementación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2354104" y="4815721"/>
            <a:ext cx="6005155" cy="717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Ejecución de los cambios, seguimiento de avances y ajustes necesarios.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1342727" y="6470452"/>
            <a:ext cx="784741" cy="30480"/>
          </a:xfrm>
          <a:prstGeom prst="roundRect">
            <a:avLst>
              <a:gd name="adj" fmla="val 308970"/>
            </a:avLst>
          </a:prstGeom>
          <a:solidFill>
            <a:srgbClr val="DABAD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868740" y="6233517"/>
            <a:ext cx="504468" cy="504468"/>
          </a:xfrm>
          <a:prstGeom prst="roundRect">
            <a:avLst>
              <a:gd name="adj" fmla="val 18668"/>
            </a:avLst>
          </a:prstGeom>
          <a:solidFill>
            <a:srgbClr val="F4D4F7"/>
          </a:solidFill>
          <a:ln w="9525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1041856" y="6327458"/>
            <a:ext cx="158234" cy="31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50"/>
              <a:buFont typeface="Arial"/>
              <a:buNone/>
            </a:pPr>
            <a:r>
              <a:rPr lang="en-US" sz="24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2354104" y="6205538"/>
            <a:ext cx="2637830" cy="329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Arial"/>
              <a:buNone/>
            </a:pPr>
            <a:r>
              <a:rPr lang="en-US" sz="20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Consolidación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2354104" y="6669762"/>
            <a:ext cx="6005155" cy="717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Integración de los cambios en la cultura y estructuras organizacionales.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0"/>
          <p:cNvSpPr/>
          <p:nvPr/>
        </p:nvSpPr>
        <p:spPr>
          <a:xfrm>
            <a:off x="6241018" y="694134"/>
            <a:ext cx="7634764" cy="1268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3950"/>
              <a:buFont typeface="Arial"/>
              <a:buNone/>
            </a:pPr>
            <a:r>
              <a:rPr lang="en-US" sz="3950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Casos de Éxito de Cambio Organizacional</a:t>
            </a:r>
            <a:endParaRPr sz="3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6241018" y="2285762"/>
            <a:ext cx="7634764" cy="5249704"/>
          </a:xfrm>
          <a:prstGeom prst="roundRect">
            <a:avLst>
              <a:gd name="adj" fmla="val 1725"/>
            </a:avLst>
          </a:prstGeom>
          <a:noFill/>
          <a:ln w="9525" cap="flat" cmpd="sng">
            <a:solidFill>
              <a:srgbClr val="000000">
                <a:alpha val="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6248638" y="2293382"/>
            <a:ext cx="7618690" cy="618768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6465094" y="2430304"/>
            <a:ext cx="2104430" cy="34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Empresa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9008150" y="2430304"/>
            <a:ext cx="2100620" cy="34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Cambio Implementado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11547396" y="2430304"/>
            <a:ext cx="2104430" cy="34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Resultados Clave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6248638" y="2912150"/>
            <a:ext cx="7618690" cy="165354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6465094" y="3049072"/>
            <a:ext cx="2104430" cy="34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Netflix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9008150" y="3049072"/>
            <a:ext cx="2100620" cy="1034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Arial"/>
              <a:buNone/>
            </a:pPr>
            <a:r>
              <a:rPr lang="en-US" sz="16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Transición</a:t>
            </a:r>
            <a:r>
              <a:rPr lang="en-US" sz="16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6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servicio</a:t>
            </a:r>
            <a:r>
              <a:rPr lang="en-US" sz="16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de DVD a </a:t>
            </a:r>
            <a:r>
              <a:rPr lang="en-US" sz="165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plataforma</a:t>
            </a:r>
            <a:r>
              <a:rPr lang="en-US" sz="165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de streaming</a:t>
            </a:r>
            <a:endParaRPr sz="16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11547396" y="3049072"/>
            <a:ext cx="2104430" cy="1379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Liderazgo en el mercado, crecimiento exponencial de suscriptores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6248638" y="4565690"/>
            <a:ext cx="7618690" cy="1308616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6465094" y="4702612"/>
            <a:ext cx="2104430" cy="34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Kodak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9008150" y="4702612"/>
            <a:ext cx="2100620" cy="68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Falta de adaptación al cambio tecnológico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11547396" y="4702612"/>
            <a:ext cx="2104430" cy="1034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Quiebra y pérdida de participación de mercado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6257092" y="5851654"/>
            <a:ext cx="7618690" cy="165354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6465094" y="6011228"/>
            <a:ext cx="2104430" cy="34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Lego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9008150" y="6011228"/>
            <a:ext cx="2100620" cy="1034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Diversificación hacia productos y experiencias digitales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11547396" y="6011228"/>
            <a:ext cx="2104430" cy="1379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Arial"/>
              <a:buNone/>
            </a:pPr>
            <a:r>
              <a:rPr lang="en-US" sz="15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Recuperación</a:t>
            </a:r>
            <a:r>
              <a:rPr lang="en-US" sz="15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de la </a:t>
            </a:r>
            <a:r>
              <a:rPr lang="en-US" sz="15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rentabilidad</a:t>
            </a:r>
            <a:r>
              <a:rPr lang="en-US" sz="15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5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reconexión</a:t>
            </a:r>
            <a:r>
              <a:rPr lang="en-US" sz="15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con </a:t>
            </a:r>
            <a:r>
              <a:rPr lang="en-US" sz="15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los</a:t>
            </a:r>
            <a:r>
              <a:rPr lang="en-US" sz="1500" dirty="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dirty="0" err="1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12422458" y="7649736"/>
            <a:ext cx="2207942" cy="579863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1"/>
          <p:cNvSpPr/>
          <p:nvPr/>
        </p:nvSpPr>
        <p:spPr>
          <a:xfrm>
            <a:off x="6324124" y="1006316"/>
            <a:ext cx="7468553" cy="1408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4400"/>
              <a:buFont typeface="Arial"/>
              <a:buNone/>
            </a:pPr>
            <a:r>
              <a:rPr lang="en-US" sz="4400">
                <a:solidFill>
                  <a:srgbClr val="D73AD7"/>
                </a:solidFill>
                <a:latin typeface="Arial"/>
                <a:ea typeface="Arial"/>
                <a:cs typeface="Arial"/>
                <a:sym typeface="Arial"/>
              </a:rPr>
              <a:t>Conclusiones y Recomendaciones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6324124" y="3042523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9525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6508909" y="3142774"/>
            <a:ext cx="168950" cy="337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Arial"/>
              <a:buNone/>
            </a:pPr>
            <a:r>
              <a:rPr lang="en-US" sz="26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7101959" y="3042523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Impacto Estratégico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7101959" y="3538061"/>
            <a:ext cx="2836783" cy="191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Arial"/>
              <a:buNone/>
            </a:pPr>
            <a:r>
              <a:rPr lang="en-US" sz="18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El cambio organizacional es fundamental para mantener la competitividad y adaptarse a un entorno en constante evolución.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10178058" y="3042523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9525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10362843" y="3142774"/>
            <a:ext cx="168950" cy="337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Arial"/>
              <a:buNone/>
            </a:pPr>
            <a:r>
              <a:rPr lang="en-US" sz="26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10955893" y="3042523"/>
            <a:ext cx="2836783" cy="703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Liderazgo Transformador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10955893" y="3890010"/>
            <a:ext cx="2836783" cy="1532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Arial"/>
              <a:buNone/>
            </a:pPr>
            <a:r>
              <a:rPr lang="en-US" sz="18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El rol de los líderes es crucial para guiar, inspirar y gestionar efectivamente el proceso de transformación.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6324124" y="5961698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9525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6508909" y="6061948"/>
            <a:ext cx="168950" cy="337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Arial"/>
              <a:buNone/>
            </a:pPr>
            <a:r>
              <a:rPr lang="en-US" sz="26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7101959" y="5961698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Gestión Integral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7101959" y="6457236"/>
            <a:ext cx="6690717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Arial"/>
              <a:buNone/>
            </a:pPr>
            <a:r>
              <a:rPr lang="en-US" sz="18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Es necesario abordar el cambio de manera holística, considerando aspectos estratégicos, estructurales, culturales y tecnológicos.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12422458" y="7649736"/>
            <a:ext cx="2207942" cy="579863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"/>
          <p:cNvSpPr/>
          <p:nvPr/>
        </p:nvSpPr>
        <p:spPr>
          <a:xfrm>
            <a:off x="6508909" y="3142774"/>
            <a:ext cx="168950" cy="337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Arial"/>
              <a:buNone/>
            </a:pPr>
            <a:endParaRPr sz="26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6508909" y="6061948"/>
            <a:ext cx="168950" cy="337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Arial"/>
              <a:buNone/>
            </a:pPr>
            <a:endParaRPr sz="26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12422458" y="7649736"/>
            <a:ext cx="2207942" cy="579863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3175103-066D-A55A-A903-8B499C4D6943}"/>
              </a:ext>
            </a:extLst>
          </p:cNvPr>
          <p:cNvSpPr txBox="1"/>
          <p:nvPr/>
        </p:nvSpPr>
        <p:spPr>
          <a:xfrm>
            <a:off x="491490" y="1136709"/>
            <a:ext cx="13201650" cy="7325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2400" dirty="0">
                <a:effectLst/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ACTIVIDAD #1  VALOR 30% </a:t>
            </a:r>
            <a:r>
              <a:rPr lang="es-MX" sz="2400" dirty="0"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Gestión del Cambio en las Organizaciones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2400" dirty="0">
                <a:highlight>
                  <a:srgbClr val="FF00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Grupos de 4 estudiantes.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2400" dirty="0">
                <a:highlight>
                  <a:srgbClr val="FF0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Plazo máximo de entrega:  26 de abril 11:59 de la noche.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s-MX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Caso de análisis: Netflix, 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Tipo de cambio: estratégico, estructural, </a:t>
            </a:r>
            <a:r>
              <a:rPr lang="es-MX" sz="2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tecnológico.z</a:t>
            </a:r>
            <a:endParaRPr lang="es-MX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Fuerzas impulsoras y resistencias: ¿qué fuerzas promovieron el cambio y cuáles generaron resistencia?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Papel del liderazgo: ¿cómo se manejó el liderazgo durante el proceso de cambio?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Estrategias de gestión: ¿qué estrategias se usaron para implementar el cambio (comunicación, capacitación, incentivos)?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Resultados: ¿el cambio fue exitoso o fracasó? ¿por qué?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endParaRPr lang="es-MX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endParaRPr lang="es-MX" sz="10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s-CO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955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1223</TotalTime>
  <Words>948</Words>
  <Application>Microsoft Office PowerPoint</Application>
  <PresentationFormat>Personalizado</PresentationFormat>
  <Paragraphs>169</Paragraphs>
  <Slides>18</Slides>
  <Notes>17</Notes>
  <HiddenSlides>0</HiddenSlides>
  <MMClips>1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Calibri</vt:lpstr>
      <vt:lpstr>Open Sans</vt:lpstr>
      <vt:lpstr>Roboto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PptxGenJS</dc:creator>
  <cp:lastModifiedBy>Peterson Peña</cp:lastModifiedBy>
  <cp:revision>14</cp:revision>
  <dcterms:created xsi:type="dcterms:W3CDTF">2024-10-04T20:24:17Z</dcterms:created>
  <dcterms:modified xsi:type="dcterms:W3CDTF">2026-10-10T14:53:51Z</dcterms:modified>
</cp:coreProperties>
</file>