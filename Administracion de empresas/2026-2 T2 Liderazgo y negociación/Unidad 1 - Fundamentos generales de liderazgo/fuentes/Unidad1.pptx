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5" r:id="rId7"/>
    <p:sldId id="281" r:id="rId8"/>
    <p:sldId id="270" r:id="rId9"/>
    <p:sldId id="282" r:id="rId10"/>
    <p:sldId id="283" r:id="rId11"/>
    <p:sldId id="271" r:id="rId12"/>
    <p:sldId id="275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74" r:id="rId21"/>
    <p:sldId id="273" r:id="rId22"/>
    <p:sldId id="272" r:id="rId23"/>
    <p:sldId id="291" r:id="rId24"/>
    <p:sldId id="276" r:id="rId25"/>
    <p:sldId id="277" r:id="rId26"/>
    <p:sldId id="278" r:id="rId27"/>
    <p:sldId id="279" r:id="rId28"/>
    <p:sldId id="280" r:id="rId29"/>
    <p:sldId id="260" r:id="rId30"/>
    <p:sldId id="264" r:id="rId3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1B6D"/>
    <a:srgbClr val="1B1C6E"/>
    <a:srgbClr val="646464"/>
    <a:srgbClr val="F8BB0A"/>
    <a:srgbClr val="F9BC0C"/>
    <a:srgbClr val="FABB0C"/>
    <a:srgbClr val="323237"/>
    <a:srgbClr val="4945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784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1680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8453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531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25875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2759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9892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5188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6967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51150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87004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2988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3F835-98FB-4C58-B9B5-425877DC01BC}" type="datetimeFigureOut">
              <a:rPr lang="es-CO" smtClean="0"/>
              <a:t>30/09/26</a:t>
            </a:fld>
            <a:endParaRPr lang="es-CO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8A73E-49BD-476D-89C7-62EA978A93E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9017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87236" y="2572789"/>
            <a:ext cx="9144000" cy="856211"/>
          </a:xfrm>
        </p:spPr>
        <p:txBody>
          <a:bodyPr>
            <a:normAutofit/>
          </a:bodyPr>
          <a:lstStyle/>
          <a:p>
            <a:r>
              <a:rPr lang="es-CO" sz="5000" b="1" dirty="0">
                <a:solidFill>
                  <a:srgbClr val="1B1B6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Liderazgo y Negociación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5525192"/>
            <a:ext cx="9144000" cy="501536"/>
          </a:xfrm>
        </p:spPr>
        <p:txBody>
          <a:bodyPr>
            <a:noAutofit/>
          </a:bodyPr>
          <a:lstStyle/>
          <a:p>
            <a:r>
              <a:rPr lang="es-ES" sz="1000" dirty="0">
                <a:solidFill>
                  <a:srgbClr val="646464"/>
                </a:solidFill>
                <a:latin typeface="Ubuntu" panose="020B0504030602030204" pitchFamily="34" charset="0"/>
              </a:rPr>
              <a:t>Esta Plantilla de Presentación Institucional, desarrollada por la Oficina de Comunicaciones de la Institución Universitaria Escolme, establece </a:t>
            </a:r>
            <a:r>
              <a:rPr lang="es-ES" sz="1000" b="1" dirty="0">
                <a:solidFill>
                  <a:srgbClr val="646464"/>
                </a:solidFill>
                <a:latin typeface="Ubuntu" panose="020B0504030602030204" pitchFamily="34" charset="0"/>
              </a:rPr>
              <a:t>lineamientos visuales y estructurales unificados para las presentaciones oficiales</a:t>
            </a:r>
            <a:r>
              <a:rPr lang="es-ES" sz="1000" dirty="0">
                <a:solidFill>
                  <a:srgbClr val="646464"/>
                </a:solidFill>
                <a:latin typeface="Ubuntu" panose="020B0504030602030204" pitchFamily="34" charset="0"/>
              </a:rPr>
              <a:t>. Su uso garantiza coherencia con la identidad institucional y asegura una comunicación clara, profesional y alineada con la imagen de la Institución.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5934638-8ECE-7641-6875-850EB76329A3}"/>
              </a:ext>
            </a:extLst>
          </p:cNvPr>
          <p:cNvSpPr txBox="1"/>
          <p:nvPr/>
        </p:nvSpPr>
        <p:spPr>
          <a:xfrm>
            <a:off x="7827819" y="4042756"/>
            <a:ext cx="32558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400" dirty="0">
                <a:solidFill>
                  <a:srgbClr val="646464"/>
                </a:solidFill>
                <a:latin typeface="Ubuntu" panose="020B0504030602030204" pitchFamily="34" charset="0"/>
              </a:rPr>
              <a:t>Por </a:t>
            </a:r>
          </a:p>
          <a:p>
            <a:pPr algn="ctr"/>
            <a:r>
              <a:rPr lang="es-ES" sz="1400" dirty="0">
                <a:solidFill>
                  <a:srgbClr val="646464"/>
                </a:solidFill>
                <a:latin typeface="Ubuntu" panose="020B0504030602030204" pitchFamily="34" charset="0"/>
              </a:rPr>
              <a:t>Andrea Bustamante</a:t>
            </a:r>
          </a:p>
          <a:p>
            <a:pPr algn="ctr"/>
            <a:r>
              <a:rPr lang="es-ES" sz="1400" u="sng" dirty="0" err="1">
                <a:solidFill>
                  <a:srgbClr val="646464"/>
                </a:solidFill>
                <a:latin typeface="Ubuntu" panose="020B0504030602030204" pitchFamily="34" charset="0"/>
              </a:rPr>
              <a:t>jabustamantes@escolme.edu.co</a:t>
            </a:r>
            <a:endParaRPr lang="es-CO" sz="1400" u="sng" dirty="0"/>
          </a:p>
        </p:txBody>
      </p:sp>
    </p:spTree>
    <p:extLst>
      <p:ext uri="{BB962C8B-B14F-4D97-AF65-F5344CB8AC3E}">
        <p14:creationId xmlns:p14="http://schemas.microsoft.com/office/powerpoint/2010/main" val="29189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492004" y="1648691"/>
            <a:ext cx="3932237" cy="723207"/>
          </a:xfrm>
        </p:spPr>
        <p:txBody>
          <a:bodyPr>
            <a:normAutofit fontScale="90000"/>
          </a:bodyPr>
          <a:lstStyle/>
          <a:p>
            <a:pPr algn="l"/>
            <a:r>
              <a:rPr lang="es-CO" sz="5000" b="1" dirty="0">
                <a:solidFill>
                  <a:srgbClr val="1B1B6D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Temática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294967295"/>
          </p:nvPr>
        </p:nvSpPr>
        <p:spPr>
          <a:xfrm>
            <a:off x="896411" y="2880592"/>
            <a:ext cx="10399178" cy="2328717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CO" b="1" dirty="0">
                <a:solidFill>
                  <a:srgbClr val="002060"/>
                </a:solidFill>
                <a:latin typeface="Arial,Bold"/>
              </a:rPr>
              <a:t>Unidad 1: Fundamentos generales de Liderazgo </a:t>
            </a:r>
          </a:p>
          <a:p>
            <a:pPr>
              <a:lnSpc>
                <a:spcPct val="100000"/>
              </a:lnSpc>
            </a:pPr>
            <a:r>
              <a:rPr lang="es-CO" b="1" dirty="0">
                <a:solidFill>
                  <a:srgbClr val="002060"/>
                </a:solidFill>
                <a:latin typeface="Arial,Bold"/>
              </a:rPr>
              <a:t>Unidad 2: Liderazgo Gerencial y adaptativo</a:t>
            </a:r>
            <a:endParaRPr lang="es-CO" b="1" dirty="0">
              <a:solidFill>
                <a:srgbClr val="002060"/>
              </a:solidFill>
            </a:endParaRPr>
          </a:p>
          <a:p>
            <a:pPr>
              <a:lnSpc>
                <a:spcPct val="100000"/>
              </a:lnSpc>
            </a:pPr>
            <a:r>
              <a:rPr lang="es-CO" b="1" dirty="0">
                <a:solidFill>
                  <a:srgbClr val="002060"/>
                </a:solidFill>
                <a:latin typeface="Arial,Bold"/>
              </a:rPr>
              <a:t>Unidad 3: </a:t>
            </a:r>
            <a:r>
              <a:rPr lang="es-CO" b="1" dirty="0">
                <a:solidFill>
                  <a:srgbClr val="002060"/>
                </a:solidFill>
              </a:rPr>
              <a:t>Fundamentos de negociación</a:t>
            </a:r>
          </a:p>
          <a:p>
            <a:pPr>
              <a:lnSpc>
                <a:spcPct val="100000"/>
              </a:lnSpc>
            </a:pPr>
            <a:r>
              <a:rPr lang="es-CO" b="1" dirty="0">
                <a:solidFill>
                  <a:srgbClr val="002060"/>
                </a:solidFill>
                <a:latin typeface="Arial,Bold"/>
              </a:rPr>
              <a:t>Unidad 4: </a:t>
            </a:r>
            <a:r>
              <a:rPr lang="es-CO" b="1" dirty="0">
                <a:solidFill>
                  <a:srgbClr val="002060"/>
                </a:solidFill>
              </a:rPr>
              <a:t>Tendencias modernas de la negociación</a:t>
            </a:r>
          </a:p>
        </p:txBody>
      </p:sp>
    </p:spTree>
    <p:extLst>
      <p:ext uri="{BB962C8B-B14F-4D97-AF65-F5344CB8AC3E}">
        <p14:creationId xmlns:p14="http://schemas.microsoft.com/office/powerpoint/2010/main" val="1630036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884382" y="3034433"/>
            <a:ext cx="10515600" cy="1747429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s-CO" b="1" dirty="0">
                <a:solidFill>
                  <a:schemeClr val="bg1"/>
                </a:solidFill>
                <a:latin typeface="Arial,Bold"/>
              </a:rPr>
              <a:t>Unidad 1: </a:t>
            </a:r>
            <a:br>
              <a:rPr lang="es-CO" b="1" dirty="0">
                <a:solidFill>
                  <a:schemeClr val="bg1"/>
                </a:solidFill>
                <a:latin typeface="Arial,Bold"/>
              </a:rPr>
            </a:br>
            <a:r>
              <a:rPr lang="es-CO" sz="5300" b="1" dirty="0">
                <a:solidFill>
                  <a:schemeClr val="bg1"/>
                </a:solidFill>
                <a:latin typeface="Arial,Bold"/>
              </a:rPr>
              <a:t>Fundamentos generales de Liderazgo </a:t>
            </a:r>
            <a:br>
              <a:rPr lang="es-CO" sz="5300" b="1" dirty="0">
                <a:solidFill>
                  <a:schemeClr val="bg1"/>
                </a:solidFill>
                <a:latin typeface="Arial,Bold"/>
              </a:rPr>
            </a:br>
            <a:br>
              <a:rPr lang="es-CO" b="1" dirty="0">
                <a:solidFill>
                  <a:schemeClr val="bg1"/>
                </a:solidFill>
                <a:latin typeface="Arial,Bold"/>
              </a:rPr>
            </a:br>
            <a:r>
              <a:rPr lang="es-CO" sz="2000" b="1" dirty="0">
                <a:solidFill>
                  <a:schemeClr val="bg1"/>
                </a:solidFill>
                <a:latin typeface="Arial,Bold"/>
              </a:rPr>
              <a:t>https://</a:t>
            </a:r>
            <a:r>
              <a:rPr lang="es-CO" sz="2000" b="1" dirty="0" err="1">
                <a:solidFill>
                  <a:schemeClr val="bg1"/>
                </a:solidFill>
                <a:latin typeface="Arial,Bold"/>
              </a:rPr>
              <a:t>www.youtube.com</a:t>
            </a:r>
            <a:r>
              <a:rPr lang="es-CO" sz="2000" b="1" dirty="0">
                <a:solidFill>
                  <a:schemeClr val="bg1"/>
                </a:solidFill>
                <a:latin typeface="Arial,Bold"/>
              </a:rPr>
              <a:t>/</a:t>
            </a:r>
            <a:r>
              <a:rPr lang="es-CO" sz="2000" b="1" dirty="0" err="1">
                <a:solidFill>
                  <a:schemeClr val="bg1"/>
                </a:solidFill>
                <a:latin typeface="Arial,Bold"/>
              </a:rPr>
              <a:t>watch?v</a:t>
            </a:r>
            <a:r>
              <a:rPr lang="es-CO" sz="2000" b="1" dirty="0">
                <a:solidFill>
                  <a:schemeClr val="bg1"/>
                </a:solidFill>
                <a:latin typeface="Arial,Bold"/>
              </a:rPr>
              <a:t>=jW5KN4Kvpw0 </a:t>
            </a:r>
            <a:endParaRPr lang="es-CO" b="1" dirty="0">
              <a:solidFill>
                <a:schemeClr val="bg1"/>
              </a:solidFill>
              <a:latin typeface="Arial,Bold"/>
            </a:endParaRPr>
          </a:p>
        </p:txBody>
      </p:sp>
    </p:spTree>
    <p:extLst>
      <p:ext uri="{BB962C8B-B14F-4D97-AF65-F5344CB8AC3E}">
        <p14:creationId xmlns:p14="http://schemas.microsoft.com/office/powerpoint/2010/main" val="366384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7864764" y="1055111"/>
            <a:ext cx="3759200" cy="1034184"/>
          </a:xfrm>
        </p:spPr>
        <p:txBody>
          <a:bodyPr>
            <a:normAutofit/>
          </a:bodyPr>
          <a:lstStyle/>
          <a:p>
            <a:r>
              <a:rPr lang="es-CO" sz="3000" b="1" dirty="0">
                <a:solidFill>
                  <a:srgbClr val="1B1C6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Conceptualización</a:t>
            </a:r>
          </a:p>
        </p:txBody>
      </p:sp>
      <p:pic>
        <p:nvPicPr>
          <p:cNvPr id="2" name="Marcador de contenido 1">
            <a:extLst>
              <a:ext uri="{FF2B5EF4-FFF2-40B4-BE49-F238E27FC236}">
                <a16:creationId xmlns:a16="http://schemas.microsoft.com/office/drawing/2014/main" id="{E1C3ADA4-4402-BCFF-6191-ACE4BC8C2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580148" y="2216726"/>
            <a:ext cx="5180013" cy="358616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4A7F6F1-B315-6FF1-A9B3-26A6160091A3}"/>
              </a:ext>
            </a:extLst>
          </p:cNvPr>
          <p:cNvSpPr txBox="1"/>
          <p:nvPr/>
        </p:nvSpPr>
        <p:spPr>
          <a:xfrm>
            <a:off x="431839" y="2413337"/>
            <a:ext cx="6096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¿Qué es liderazgo? </a:t>
            </a:r>
          </a:p>
          <a:p>
            <a:pPr algn="ctr">
              <a:buNone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¿Quién es un líder? </a:t>
            </a:r>
          </a:p>
          <a:p>
            <a:pPr algn="ctr">
              <a:buNone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¿Cómo identificarlo? </a:t>
            </a:r>
          </a:p>
          <a:p>
            <a:pPr algn="ctr"/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Qué es un liderazgo efectivo? </a:t>
            </a:r>
            <a:endParaRPr lang="es-CO" sz="2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¿Qué competencias se deben adquirir para promover el liderazgo? </a:t>
            </a:r>
          </a:p>
          <a:p>
            <a:pPr algn="ctr">
              <a:buNone/>
            </a:pPr>
            <a:endParaRPr lang="es-CO" sz="18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476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0A252C5-EC1F-7F6F-76BD-A111D7B139E4}"/>
              </a:ext>
            </a:extLst>
          </p:cNvPr>
          <p:cNvSpPr txBox="1"/>
          <p:nvPr/>
        </p:nvSpPr>
        <p:spPr>
          <a:xfrm>
            <a:off x="1860271" y="4820811"/>
            <a:ext cx="55018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b="1" dirty="0">
                <a:solidFill>
                  <a:srgbClr val="FF0000"/>
                </a:solidFill>
              </a:rPr>
              <a:t>https://</a:t>
            </a:r>
            <a:r>
              <a:rPr lang="es-CO" b="1" dirty="0" err="1">
                <a:solidFill>
                  <a:srgbClr val="FF0000"/>
                </a:solidFill>
              </a:rPr>
              <a:t>www.youtube.com</a:t>
            </a:r>
            <a:r>
              <a:rPr lang="es-CO" b="1" dirty="0">
                <a:solidFill>
                  <a:srgbClr val="FF0000"/>
                </a:solidFill>
              </a:rPr>
              <a:t>/</a:t>
            </a:r>
            <a:r>
              <a:rPr lang="es-CO" b="1" dirty="0" err="1">
                <a:solidFill>
                  <a:srgbClr val="FF0000"/>
                </a:solidFill>
              </a:rPr>
              <a:t>watch?v</a:t>
            </a:r>
            <a:r>
              <a:rPr lang="es-CO" b="1" dirty="0">
                <a:solidFill>
                  <a:srgbClr val="FF0000"/>
                </a:solidFill>
              </a:rPr>
              <a:t>=UBMYA0ZjtxU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94FF470-6BF9-55D0-36B1-E43487078DA6}"/>
              </a:ext>
            </a:extLst>
          </p:cNvPr>
          <p:cNvSpPr txBox="1"/>
          <p:nvPr/>
        </p:nvSpPr>
        <p:spPr>
          <a:xfrm>
            <a:off x="189084" y="1894999"/>
            <a:ext cx="717300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liderazgo es la capacidad de influir, guiar y motivar a otras personas para alcanzar objetivos comunes. No se trata solo de “mandar”, sino de inspirar, tomar decisiones, generar confianza y sacar lo mejor de un equipo.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908C958-A98E-A733-6004-04825CA16E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248"/>
          <a:stretch>
            <a:fillRect/>
          </a:stretch>
        </p:blipFill>
        <p:spPr>
          <a:xfrm>
            <a:off x="7362092" y="874265"/>
            <a:ext cx="3315179" cy="5302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31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C40D72E-EE34-679B-B120-CCA5836DA777}"/>
              </a:ext>
            </a:extLst>
          </p:cNvPr>
          <p:cNvSpPr txBox="1"/>
          <p:nvPr/>
        </p:nvSpPr>
        <p:spPr>
          <a:xfrm>
            <a:off x="940191" y="2154482"/>
            <a:ext cx="10311618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O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s-CO" sz="4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liderazgo comienza cuando decides ser la inspiración que buscas en otros.”</a:t>
            </a:r>
          </a:p>
          <a:p>
            <a:pPr algn="ctr">
              <a:buNone/>
            </a:pPr>
            <a:endParaRPr lang="es-CO" b="1" dirty="0">
              <a:solidFill>
                <a:srgbClr val="00206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s-CO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www.youtube.com</a:t>
            </a: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CO" sz="2400" b="1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watch?v</a:t>
            </a:r>
            <a:r>
              <a:rPr lang="es-CO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=atjonjXCGh0</a:t>
            </a:r>
          </a:p>
        </p:txBody>
      </p:sp>
    </p:spTree>
    <p:extLst>
      <p:ext uri="{BB962C8B-B14F-4D97-AF65-F5344CB8AC3E}">
        <p14:creationId xmlns:p14="http://schemas.microsoft.com/office/powerpoint/2010/main" val="146325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EEDE39-396A-8315-BCC6-2684296EA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D5A7140-00F6-454A-8447-351BD1DB0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59C70054-2110-9D8C-F5FD-DBE99F00943D}"/>
              </a:ext>
            </a:extLst>
          </p:cNvPr>
          <p:cNvSpPr txBox="1"/>
          <p:nvPr/>
        </p:nvSpPr>
        <p:spPr>
          <a:xfrm>
            <a:off x="203199" y="1831540"/>
            <a:ext cx="1181946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Podemos entender el liderazgo a partir de cinco elementos:</a:t>
            </a:r>
          </a:p>
          <a:p>
            <a:pPr algn="just">
              <a:buNone/>
            </a:pPr>
            <a:endParaRPr lang="es-CO" sz="2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Líder → Seguidores → Influencia → Propósito → Resultados</a:t>
            </a:r>
          </a:p>
          <a:p>
            <a:pPr algn="just">
              <a:buNone/>
            </a:pPr>
            <a:endParaRPr lang="es-CO" sz="2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ejemplo: Un gerente propone mejorar la experiencia del cliente, comunica claramente el propósito, escucha a su equipo, asigna responsabilidades y logra que todos se comprometan con el cambio. Aquí existe liderazgo porque hay </a:t>
            </a:r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influencia, propósito y movilización del equipo</a:t>
            </a: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8736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D0130-0ED2-0885-B14F-51FBE6304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2FE2C5A-55C4-0523-FA32-D4D2B3137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65441FF-DAEE-C8AB-68C6-9CD045DD3626}"/>
              </a:ext>
            </a:extLst>
          </p:cNvPr>
          <p:cNvSpPr txBox="1"/>
          <p:nvPr/>
        </p:nvSpPr>
        <p:spPr>
          <a:xfrm>
            <a:off x="2423298" y="3004450"/>
            <a:ext cx="1562548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Arte de guiar a las personas para que trabajen con entusiasmo hacia una meta común.</a:t>
            </a:r>
          </a:p>
          <a:p>
            <a:pPr algn="just"/>
            <a:endParaRPr lang="es-CO" sz="20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FCA993-D9D0-4B3B-3C9A-BD8A232B31C7}"/>
              </a:ext>
            </a:extLst>
          </p:cNvPr>
          <p:cNvSpPr txBox="1"/>
          <p:nvPr/>
        </p:nvSpPr>
        <p:spPr>
          <a:xfrm>
            <a:off x="8952079" y="3886718"/>
            <a:ext cx="305393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s-CO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se trata solo de mandar o dirigir, sino de </a:t>
            </a: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construir una visión compartida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tomar decisiones estratégicas y fomentar el crecimiento de quienes forman parte del grupo.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FDE3CA6-E7C9-31E0-39EB-FC8704ABEA36}"/>
              </a:ext>
            </a:extLst>
          </p:cNvPr>
          <p:cNvSpPr txBox="1"/>
          <p:nvPr/>
        </p:nvSpPr>
        <p:spPr>
          <a:xfrm>
            <a:off x="3783378" y="438752"/>
            <a:ext cx="521994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Capacidad de influir, guiar, motivar e inspirar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otras personas o equipos para alcanzar objetivos comunes, generando confianza, compromiso y desarrollo tanto individual como colectivo.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122AC89-32FE-3347-22BD-BBB62C6B1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629" y="1802137"/>
            <a:ext cx="2552633" cy="503203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99F556C-4A9E-C8E0-6CFF-61A9A8BC9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1584" y="2405842"/>
            <a:ext cx="3765783" cy="38246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888C254-89F8-D2CD-E56B-182738D8C1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8065" y="199477"/>
            <a:ext cx="3053936" cy="3687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40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A5E26-8185-7A77-1877-E66921CF6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C214D59-3A86-62BA-E1FD-6017F3D15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C346D104-878A-AFC7-073F-4743FD248409}"/>
              </a:ext>
            </a:extLst>
          </p:cNvPr>
          <p:cNvSpPr txBox="1"/>
          <p:nvPr/>
        </p:nvSpPr>
        <p:spPr>
          <a:xfrm>
            <a:off x="166255" y="1651475"/>
            <a:ext cx="509847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de liderar un equipo, es necesario desarrollar la capacidad de </a:t>
            </a: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liderarse a sí mismo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El </a:t>
            </a: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personal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es la capacidad de una persona para dirigir conscientemente sus pensamientos, emociones, decisiones, comportamientos y acciones hacia sus objetivos y valores.</a:t>
            </a:r>
          </a:p>
          <a:p>
            <a:pPr algn="just">
              <a:buNone/>
            </a:pPr>
            <a:endParaRPr lang="es-CO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persona con liderazgo personal puede preguntarse:</a:t>
            </a:r>
          </a:p>
          <a:p>
            <a:pPr algn="just">
              <a:buNone/>
            </a:pPr>
            <a:endParaRPr lang="es-CO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¿Sé hacia dónde quiero ir? ¿Qué estoy haciendo para llegar allí? ¿Cómo reacciono ante las dificultades?</a:t>
            </a:r>
            <a:endParaRPr lang="es-CO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EE046C6-CA28-5EB9-D03B-31F6B0400D19}"/>
              </a:ext>
            </a:extLst>
          </p:cNvPr>
          <p:cNvSpPr txBox="1"/>
          <p:nvPr/>
        </p:nvSpPr>
        <p:spPr>
          <a:xfrm>
            <a:off x="6968837" y="338478"/>
            <a:ext cx="54032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3600" b="1" dirty="0">
                <a:solidFill>
                  <a:srgbClr val="1B1B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liderazgo personal</a:t>
            </a:r>
          </a:p>
        </p:txBody>
      </p:sp>
    </p:spTree>
    <p:extLst>
      <p:ext uri="{BB962C8B-B14F-4D97-AF65-F5344CB8AC3E}">
        <p14:creationId xmlns:p14="http://schemas.microsoft.com/office/powerpoint/2010/main" val="311396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FE40F-5C3F-9412-7703-ACAFF9BE5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C3FB2A5-2804-B0F4-A80F-83BACFEF2C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7564F1E-A3C5-6CB3-4116-3215AC56A831}"/>
              </a:ext>
            </a:extLst>
          </p:cNvPr>
          <p:cNvSpPr txBox="1"/>
          <p:nvPr/>
        </p:nvSpPr>
        <p:spPr>
          <a:xfrm>
            <a:off x="185651" y="1810541"/>
            <a:ext cx="11820698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Autoconocimiento: 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Reconocer fortalezas, debilidades, emociones, valores y áreas de mejora.</a:t>
            </a:r>
          </a:p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Autoconfianza: 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Creer en las propias capacidades sin confundir confianza con arrogancia.</a:t>
            </a:r>
          </a:p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Autodisciplina: 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Mantener comportamientos coherentes con los objetivos, incluso cuando no existe motivación.</a:t>
            </a:r>
          </a:p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emocional: 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Reconocer y regular las propias emociones.</a:t>
            </a:r>
          </a:p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Proactividad; 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Actuar sobre aquello que se puede controlar en lugar de esperar permanentemente instrucciones.</a:t>
            </a:r>
          </a:p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Responsabilidad personal: 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Asumir las consecuencias de las decisiones y acciones.</a:t>
            </a:r>
          </a:p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Propósito: 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Tener claridad sobre aquello que se quiere alcanzar y por qué es importante.</a:t>
            </a:r>
          </a:p>
          <a:p>
            <a:pPr algn="just">
              <a:buNone/>
            </a:pPr>
            <a:endParaRPr lang="es-CO" sz="20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estudiante tiene dificultades para hablar en público. Una respuesta pasiva sería: </a:t>
            </a:r>
            <a:r>
              <a:rPr lang="es-CO" sz="2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"Yo no sirvo para exponer."</a:t>
            </a:r>
          </a:p>
          <a:p>
            <a:pPr algn="just">
              <a:buNone/>
            </a:pP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Desde el liderazgo personal podría decir: "Tengo dificultades para hablar en público, pero puedo desarrollar esa habilidad mediante práctica, preparación y retroalimentación.” Aquí aparece un elemento fundamental: </a:t>
            </a: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mentalidad de desarrollo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C397B2-B09B-341F-23F7-D1AA8F6859E0}"/>
              </a:ext>
            </a:extLst>
          </p:cNvPr>
          <p:cNvSpPr txBox="1"/>
          <p:nvPr/>
        </p:nvSpPr>
        <p:spPr>
          <a:xfrm>
            <a:off x="4558145" y="338478"/>
            <a:ext cx="76338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O" sz="3200" b="1" dirty="0">
                <a:solidFill>
                  <a:srgbClr val="1B1B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Componentes del liderazgo personal</a:t>
            </a:r>
          </a:p>
        </p:txBody>
      </p:sp>
    </p:spTree>
    <p:extLst>
      <p:ext uri="{BB962C8B-B14F-4D97-AF65-F5344CB8AC3E}">
        <p14:creationId xmlns:p14="http://schemas.microsoft.com/office/powerpoint/2010/main" val="4239787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90C970-79E6-65CF-D242-DBEE063F3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262B0B2-3655-822E-E4BC-1253859070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CC45F6D-D811-BF93-1917-65E49FE9D5DD}"/>
              </a:ext>
            </a:extLst>
          </p:cNvPr>
          <p:cNvSpPr txBox="1"/>
          <p:nvPr/>
        </p:nvSpPr>
        <p:spPr>
          <a:xfrm>
            <a:off x="298337" y="1736679"/>
            <a:ext cx="116826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de rasgos: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líder “nace” con ciertas cualidades (carisma, seguridad). </a:t>
            </a:r>
          </a:p>
          <a:p>
            <a:pPr algn="just"/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conductual: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liderazgo se basa en comportamientos (cómo actúa el líder). </a:t>
            </a: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situacional: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líder se adapta según el equipo y el contexto. </a:t>
            </a:r>
          </a:p>
          <a:p>
            <a:pPr algn="just"/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transformacional: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el líder inspira cambios y desarrollo en las personas. </a:t>
            </a:r>
          </a:p>
          <a:p>
            <a:pPr algn="just"/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 transaccional: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 basa en recompensas y cumplimiento de tareas.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D6A9570-5B9B-C9CA-6030-4344423A22CB}"/>
              </a:ext>
            </a:extLst>
          </p:cNvPr>
          <p:cNvSpPr txBox="1"/>
          <p:nvPr/>
        </p:nvSpPr>
        <p:spPr>
          <a:xfrm>
            <a:off x="6916616" y="596776"/>
            <a:ext cx="50643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Enfoques principales</a:t>
            </a:r>
            <a:endParaRPr lang="es-CO" sz="36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3D84BAA-F339-E8AF-92AF-A52CBBCBF055}"/>
              </a:ext>
            </a:extLst>
          </p:cNvPr>
          <p:cNvSpPr txBox="1"/>
          <p:nvPr/>
        </p:nvSpPr>
        <p:spPr>
          <a:xfrm>
            <a:off x="1969477" y="6076558"/>
            <a:ext cx="8253046" cy="36933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CO" sz="1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Hoy en día, el liderazgo más efectivo mezcla varios enfoques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577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C5EF9-5F8B-9261-323F-48697B30C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600630FE-1389-C0BB-CDC2-E6300EA480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DD39BA9-7917-9EFD-D326-168D70165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6433" y="0"/>
            <a:ext cx="5068185" cy="685800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BC4F67C1-DB8A-2435-982C-7731BE72A9D7}"/>
              </a:ext>
            </a:extLst>
          </p:cNvPr>
          <p:cNvSpPr txBox="1"/>
          <p:nvPr/>
        </p:nvSpPr>
        <p:spPr>
          <a:xfrm>
            <a:off x="7737231" y="153812"/>
            <a:ext cx="4171507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3200" b="1" dirty="0">
                <a:latin typeface="Arial" panose="020B0604020202020204" pitchFamily="34" charset="0"/>
                <a:cs typeface="Arial" panose="020B0604020202020204" pitchFamily="34" charset="0"/>
              </a:rPr>
              <a:t>Estilos de liderazgo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8FA6454-93F6-36F3-3E91-CAB663B57D67}"/>
              </a:ext>
            </a:extLst>
          </p:cNvPr>
          <p:cNvSpPr txBox="1"/>
          <p:nvPr/>
        </p:nvSpPr>
        <p:spPr>
          <a:xfrm>
            <a:off x="1463040" y="5228422"/>
            <a:ext cx="10189698" cy="1077218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CO" sz="3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Cada estilo tiene su momento. </a:t>
            </a:r>
          </a:p>
          <a:p>
            <a:pPr algn="ctr"/>
            <a:r>
              <a:rPr lang="es-CO" sz="3200" b="1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buen líder sabe cuándo usar cada uno</a:t>
            </a:r>
            <a:r>
              <a:rPr lang="es-CO" sz="2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8153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1C9088-47CB-5EEE-2B0D-7AD9B3C54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B892161-7815-FAE8-6DC3-B6336859D4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6547A0A-FBD1-C6C2-DC43-B5DC8B96F6B1}"/>
              </a:ext>
            </a:extLst>
          </p:cNvPr>
          <p:cNvSpPr txBox="1"/>
          <p:nvPr/>
        </p:nvSpPr>
        <p:spPr>
          <a:xfrm>
            <a:off x="263236" y="1873148"/>
            <a:ext cx="11665527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autocrático: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líder concentra gran parte de las decisiones.</a:t>
            </a:r>
          </a:p>
          <a:p>
            <a:pPr algn="just">
              <a:buNone/>
            </a:pPr>
            <a:endParaRPr lang="es-CO" sz="24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Características: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Decisiones centralizadas.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Comunicación principalmente descendente.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 nivel de control.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Poca participación del equipo. 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None/>
            </a:pPr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Puede ser útil: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ante situaciones críticas donde se necesita tomar decisiones rápidamente.</a:t>
            </a:r>
          </a:p>
          <a:p>
            <a:pPr algn="just">
              <a:buNone/>
            </a:pPr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Riesgo: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reducir la participación y autonomía.</a:t>
            </a:r>
          </a:p>
        </p:txBody>
      </p:sp>
    </p:spTree>
    <p:extLst>
      <p:ext uri="{BB962C8B-B14F-4D97-AF65-F5344CB8AC3E}">
        <p14:creationId xmlns:p14="http://schemas.microsoft.com/office/powerpoint/2010/main" val="2711732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82352-D822-4BA1-5D71-85E95AE1B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7A09758-F1CF-1CB4-B221-4DC8868D78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D3D2C25-8D8A-75AD-5F49-07160D285C5E}"/>
              </a:ext>
            </a:extLst>
          </p:cNvPr>
          <p:cNvSpPr txBox="1"/>
          <p:nvPr/>
        </p:nvSpPr>
        <p:spPr>
          <a:xfrm>
            <a:off x="207818" y="1748457"/>
            <a:ext cx="1152698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democrático o participativo: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líder incorpora las opiniones del equipo antes de tomar decisiones.</a:t>
            </a:r>
          </a:p>
          <a:p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Características: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Escucha activa. </a:t>
            </a:r>
          </a:p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Participación. </a:t>
            </a:r>
          </a:p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Comunicación bidireccional. </a:t>
            </a:r>
          </a:p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Construcción colectiva. </a:t>
            </a:r>
          </a:p>
          <a:p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empresa necesita rediseñar su estrategia de servicio y reúne al equipo de atención al cliente para identificar problemas y proponer soluciones.</a:t>
            </a:r>
          </a:p>
        </p:txBody>
      </p:sp>
    </p:spTree>
    <p:extLst>
      <p:ext uri="{BB962C8B-B14F-4D97-AF65-F5344CB8AC3E}">
        <p14:creationId xmlns:p14="http://schemas.microsoft.com/office/powerpoint/2010/main" val="3941122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860A99-46E7-8752-7785-484C221E9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B442D1EC-BC74-6E8C-A401-97E671C80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0BAA64BC-C592-FD9F-AD09-AF837F77D31C}"/>
              </a:ext>
            </a:extLst>
          </p:cNvPr>
          <p:cNvSpPr txBox="1"/>
          <p:nvPr/>
        </p:nvSpPr>
        <p:spPr>
          <a:xfrm>
            <a:off x="263237" y="1983984"/>
            <a:ext cx="111667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liberal o laissez-faire: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líder proporciona autonomía y permite que el equipo tenga un alto grado de libertad.</a:t>
            </a:r>
          </a:p>
          <a:p>
            <a:pPr algn="just"/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Características: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Delegación. </a:t>
            </a: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Autonomía. </a:t>
            </a: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Baja supervisión directa. </a:t>
            </a: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Confianza en las capacidades del equipo. </a:t>
            </a: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 mejor: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equipos experimentados y responsables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2343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1C644-6BF1-A34D-1439-552F8CBEC9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E01485B-04DD-BDF7-CC61-861DA64632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7C6E774-582D-FC7E-B1DA-E93285F7DC6B}"/>
              </a:ext>
            </a:extLst>
          </p:cNvPr>
          <p:cNvSpPr txBox="1"/>
          <p:nvPr/>
        </p:nvSpPr>
        <p:spPr>
          <a:xfrm>
            <a:off x="124690" y="1718208"/>
            <a:ext cx="1184563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transformacional: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Busca inspirar al equipo para alcanzar una visión y promover cambios.</a:t>
            </a:r>
          </a:p>
          <a:p>
            <a:endParaRPr lang="es-CO" sz="24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Características: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Inspiración. </a:t>
            </a:r>
          </a:p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Innovación. </a:t>
            </a:r>
          </a:p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Visión. </a:t>
            </a:r>
          </a:p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Motivación. </a:t>
            </a:r>
          </a:p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Desarrollo de las personas. </a:t>
            </a:r>
          </a:p>
          <a:p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Una directora logra que su equipo no vea la transformación digital como una amenaza, sino como una oportunidad para mejorar la experiencia del cliente.</a:t>
            </a:r>
          </a:p>
          <a:p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21582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DE110A-425E-E495-8EF4-66EAAB98E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46B345B8-2EA3-266A-A443-00C8DC910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986B44E-913F-0B70-05AB-1D781A4CE406}"/>
              </a:ext>
            </a:extLst>
          </p:cNvPr>
          <p:cNvSpPr txBox="1"/>
          <p:nvPr/>
        </p:nvSpPr>
        <p:spPr>
          <a:xfrm>
            <a:off x="277090" y="1859293"/>
            <a:ext cx="1165167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liberal o laissez-faire: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líder proporciona autonomía y permite que el equipo tenga un alto grado de libertad.</a:t>
            </a:r>
          </a:p>
          <a:p>
            <a:pPr algn="just"/>
            <a:endParaRPr lang="es-CO" sz="2400" b="1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Características: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Delegación. </a:t>
            </a: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Autonomía. </a:t>
            </a: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Baja supervisión directa. </a:t>
            </a: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Confianza en las capacidades del equipo. </a:t>
            </a: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 mejor: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equipos experimentados y responsables.</a:t>
            </a:r>
          </a:p>
        </p:txBody>
      </p:sp>
    </p:spTree>
    <p:extLst>
      <p:ext uri="{BB962C8B-B14F-4D97-AF65-F5344CB8AC3E}">
        <p14:creationId xmlns:p14="http://schemas.microsoft.com/office/powerpoint/2010/main" val="4368357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622105-7F9D-2A3B-8E9C-FB151DEC6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78046DF-2A6B-34B1-7EDD-4213A61B02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BB0A1CC-9729-6571-669A-DFF321B1173E}"/>
              </a:ext>
            </a:extLst>
          </p:cNvPr>
          <p:cNvSpPr txBox="1"/>
          <p:nvPr/>
        </p:nvSpPr>
        <p:spPr>
          <a:xfrm>
            <a:off x="180110" y="2274930"/>
            <a:ext cx="1162396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transaccional: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enfoca en objetivos, desempeño, recompensas y cumplimiento.</a:t>
            </a:r>
          </a:p>
          <a:p>
            <a:pPr algn="just"/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"Si alcanzamos el objetivo mensual de satisfacción del cliente, tendremos un reconocimiento para el equipo."</a:t>
            </a: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 especialmente visible en contextos donde existen </a:t>
            </a:r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metas e indicadores de desempeño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0380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DAAB4-F4AF-4E1D-E768-BD2D0E54D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FE5A0B98-D23E-AFAA-8527-4EBAB03F99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0E5FDC2-10C1-D591-E53C-EF0B54EFC622}"/>
              </a:ext>
            </a:extLst>
          </p:cNvPr>
          <p:cNvSpPr txBox="1"/>
          <p:nvPr/>
        </p:nvSpPr>
        <p:spPr>
          <a:xfrm>
            <a:off x="235527" y="2067111"/>
            <a:ext cx="11526982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 situacional: 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líder adapta su comportamiento dependiendo de la situación y de las necesidades del colaborador.</a:t>
            </a:r>
          </a:p>
          <a:p>
            <a:pPr algn="just"/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ejemplo:</a:t>
            </a: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Colaborador nuevo →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mayor orientación.</a:t>
            </a:r>
            <a:b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Colaborador con experiencia →</a:t>
            </a: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mayor autonomía.</a:t>
            </a:r>
          </a:p>
          <a:p>
            <a:pPr algn="just"/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pregunta central sería:</a:t>
            </a:r>
          </a:p>
          <a:p>
            <a:pPr algn="just"/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necesita esta persona de mí en este momento?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9558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296BFC-24C4-8432-DC4F-43596D2CF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C194BDA-2BF2-60C5-E1FE-9203411E4D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017418D-A67D-6E73-054D-1868F5A0902B}"/>
              </a:ext>
            </a:extLst>
          </p:cNvPr>
          <p:cNvSpPr txBox="1"/>
          <p:nvPr/>
        </p:nvSpPr>
        <p:spPr>
          <a:xfrm>
            <a:off x="274891" y="1718208"/>
            <a:ext cx="10809373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líder no solo nace, también se forma.</a:t>
            </a:r>
          </a:p>
          <a:p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Habilidades clave:</a:t>
            </a:r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Comunicación efectiva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Toma de decisiones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Resolución de conflictos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Inteligencia emocional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Motivación de equipos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Pensamiento estratégico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Delegación </a:t>
            </a:r>
          </a:p>
          <a:p>
            <a:endParaRPr lang="es-CO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habilidad más poderosa hoy: saber conectar con las personas</a:t>
            </a:r>
            <a:r>
              <a:rPr lang="es-CO" dirty="0"/>
              <a:t>.</a:t>
            </a:r>
          </a:p>
          <a:p>
            <a:endParaRPr lang="es-CO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E6155F-C4E9-826E-CB9F-3F194210B63E}"/>
              </a:ext>
            </a:extLst>
          </p:cNvPr>
          <p:cNvSpPr txBox="1"/>
          <p:nvPr/>
        </p:nvSpPr>
        <p:spPr>
          <a:xfrm>
            <a:off x="6775939" y="386223"/>
            <a:ext cx="5017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3600" b="1" dirty="0">
                <a:solidFill>
                  <a:srgbClr val="1B1C6E"/>
                </a:solidFill>
              </a:rPr>
              <a:t>Habilidades del liderazgo</a:t>
            </a:r>
          </a:p>
        </p:txBody>
      </p:sp>
    </p:spTree>
    <p:extLst>
      <p:ext uri="{BB962C8B-B14F-4D97-AF65-F5344CB8AC3E}">
        <p14:creationId xmlns:p14="http://schemas.microsoft.com/office/powerpoint/2010/main" val="37316988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C5316D-5549-88DE-D774-1FAAB54C1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A2EDE354-1604-BA36-098A-90138DC3E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445F1408-7387-F48A-A1FE-528754A1BF7F}"/>
              </a:ext>
            </a:extLst>
          </p:cNvPr>
          <p:cNvSpPr txBox="1"/>
          <p:nvPr/>
        </p:nvSpPr>
        <p:spPr>
          <a:xfrm>
            <a:off x="5312609" y="1628883"/>
            <a:ext cx="528220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(</a:t>
            </a:r>
            <a:r>
              <a:rPr lang="es-CO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management</a:t>
            </a:r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Planifica, organiza, controla procesos. Se enfoca en eficiencia.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DC04AF7-46AE-7C27-9DF6-09CDD62E9969}"/>
              </a:ext>
            </a:extLst>
          </p:cNvPr>
          <p:cNvSpPr txBox="1"/>
          <p:nvPr/>
        </p:nvSpPr>
        <p:spPr>
          <a:xfrm>
            <a:off x="7405140" y="545787"/>
            <a:ext cx="462388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4000" b="1" dirty="0">
                <a:solidFill>
                  <a:srgbClr val="1B1B6D"/>
                </a:solidFill>
              </a:rPr>
              <a:t>Gestión y liderazgo 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25B0DC2-AA65-1490-CD78-0B8C2E6F495B}"/>
              </a:ext>
            </a:extLst>
          </p:cNvPr>
          <p:cNvSpPr txBox="1"/>
          <p:nvPr/>
        </p:nvSpPr>
        <p:spPr>
          <a:xfrm>
            <a:off x="2173669" y="5548651"/>
            <a:ext cx="8628185" cy="954107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>
              <a:buNone/>
            </a:pPr>
            <a:r>
              <a:rPr lang="es-CO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“La gestión hace que las cosas funcionen, el liderazgo hace que las personas quieran hacerlas.”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B9F0B0D-C6F7-4294-A502-EB226C6B26A3}"/>
              </a:ext>
            </a:extLst>
          </p:cNvPr>
          <p:cNvSpPr txBox="1"/>
          <p:nvPr/>
        </p:nvSpPr>
        <p:spPr>
          <a:xfrm>
            <a:off x="5519646" y="3788446"/>
            <a:ext cx="528220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Liderazgo:</a:t>
            </a: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Inspira, motiva, genera visión. Se enfoca en las personas.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4797C95-2E20-BE06-B905-2A1E22CA3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16" y="1613612"/>
            <a:ext cx="4394808" cy="380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39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A266C8-20A8-4BAD-984C-7D8BEC690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765221C1-74F2-F4C6-843B-CCB452B86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BC1484D5-DC9A-976C-011F-578A2D984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812" y="666274"/>
            <a:ext cx="9146998" cy="589535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11EF81B-7410-E15E-D45F-B4392DB2040E}"/>
              </a:ext>
            </a:extLst>
          </p:cNvPr>
          <p:cNvSpPr txBox="1"/>
          <p:nvPr/>
        </p:nvSpPr>
        <p:spPr>
          <a:xfrm>
            <a:off x="5922722" y="415819"/>
            <a:ext cx="5559744" cy="1200329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s-CO" sz="2400" b="1" dirty="0">
                <a:latin typeface="Arial" panose="020B0604020202020204" pitchFamily="34" charset="0"/>
                <a:cs typeface="Arial" panose="020B0604020202020204" pitchFamily="34" charset="0"/>
              </a:rPr>
              <a:t>No es lo mismo jefe que líder</a:t>
            </a:r>
            <a:endParaRPr lang="es-CO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Un jefe: ordena </a:t>
            </a:r>
          </a:p>
          <a:p>
            <a:r>
              <a:rPr lang="es-CO" sz="2400" dirty="0">
                <a:latin typeface="Arial" panose="020B0604020202020204" pitchFamily="34" charset="0"/>
                <a:cs typeface="Arial" panose="020B0604020202020204" pitchFamily="34" charset="0"/>
              </a:rPr>
              <a:t>Un líder: guía e inspira </a:t>
            </a:r>
          </a:p>
        </p:txBody>
      </p:sp>
    </p:spTree>
    <p:extLst>
      <p:ext uri="{BB962C8B-B14F-4D97-AF65-F5344CB8AC3E}">
        <p14:creationId xmlns:p14="http://schemas.microsoft.com/office/powerpoint/2010/main" val="3570231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8BF59-622A-5AFC-EFEA-CE94D6ED5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051E65D0-9A79-825F-D7FF-01379288C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6584AF2-AC85-708F-05A8-10B4BA50F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520" y="1682172"/>
            <a:ext cx="7577283" cy="500160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AFB7973A-4116-7213-1789-F23A77453DF3}"/>
              </a:ext>
            </a:extLst>
          </p:cNvPr>
          <p:cNvSpPr txBox="1"/>
          <p:nvPr/>
        </p:nvSpPr>
        <p:spPr>
          <a:xfrm>
            <a:off x="1634835" y="615366"/>
            <a:ext cx="102246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dirty="0">
                <a:solidFill>
                  <a:srgbClr val="1B1B6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gestión ayuda a que las cosas funcionen; el liderazgo ayuda a que las personas quieran hacer que funcionen.</a:t>
            </a:r>
          </a:p>
        </p:txBody>
      </p:sp>
    </p:spTree>
    <p:extLst>
      <p:ext uri="{BB962C8B-B14F-4D97-AF65-F5344CB8AC3E}">
        <p14:creationId xmlns:p14="http://schemas.microsoft.com/office/powerpoint/2010/main" val="2339492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B1564-9EA2-D4AA-134A-6F93376EE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41FB246-BBE8-31C9-0EBE-BC4DC2D42DC2}"/>
              </a:ext>
            </a:extLst>
          </p:cNvPr>
          <p:cNvSpPr txBox="1"/>
          <p:nvPr/>
        </p:nvSpPr>
        <p:spPr>
          <a:xfrm>
            <a:off x="169889" y="2723425"/>
            <a:ext cx="1202211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8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¿Quién es un líder?</a:t>
            </a:r>
          </a:p>
          <a:p>
            <a:pPr algn="ctr"/>
            <a:r>
              <a:rPr lang="es-CO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</a:t>
            </a:r>
            <a:r>
              <a:rPr lang="es-CO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www.youtube.com</a:t>
            </a:r>
            <a:r>
              <a:rPr lang="es-CO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es-CO" sz="32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watch?v</a:t>
            </a:r>
            <a:r>
              <a:rPr lang="es-CO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=ByJ5THW9V_s</a:t>
            </a:r>
          </a:p>
        </p:txBody>
      </p:sp>
    </p:spTree>
    <p:extLst>
      <p:ext uri="{BB962C8B-B14F-4D97-AF65-F5344CB8AC3E}">
        <p14:creationId xmlns:p14="http://schemas.microsoft.com/office/powerpoint/2010/main" val="579872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A60565-8F58-6855-7542-AD462486F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36D4A91-BD94-092D-E4AE-8ABFCDDE99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505A0EAA-D2A5-C774-C314-7DE8E6785B2C}"/>
              </a:ext>
            </a:extLst>
          </p:cNvPr>
          <p:cNvSpPr txBox="1"/>
          <p:nvPr/>
        </p:nvSpPr>
        <p:spPr>
          <a:xfrm>
            <a:off x="208395" y="1951672"/>
            <a:ext cx="1152890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líder se reconoce más por su comportamiento que por su título: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 personas lo escuchan y lo siguen voluntariamente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 confianza y respeto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ejemplo con sus acciones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Sabe comunicar y escuchar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 incluso en momentos difíciles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Influye en resultados y en el ambiente del equipo </a:t>
            </a:r>
          </a:p>
          <a:p>
            <a:pPr marL="457200" indent="-457200">
              <a:buFont typeface="+mj-lt"/>
              <a:buAutoNum type="arabicPeriod"/>
            </a:pPr>
            <a:r>
              <a:rPr lang="es-CO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 gente quiere trabajar con él/ella, no solo por obligación…</a:t>
            </a:r>
            <a:endParaRPr lang="es-CO" sz="2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80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47028-BA89-05BB-259D-5D2010CF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5539BC62-5496-EBDA-A495-0192C82FD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8AA14EBC-3CCF-CAFF-3654-D01EA9A01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0"/>
            <a:ext cx="10728959" cy="685800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EFD68E1-2E7F-C961-7353-878C6C426F7B}"/>
              </a:ext>
            </a:extLst>
          </p:cNvPr>
          <p:cNvSpPr txBox="1"/>
          <p:nvPr/>
        </p:nvSpPr>
        <p:spPr>
          <a:xfrm>
            <a:off x="314793" y="4769822"/>
            <a:ext cx="8199619" cy="1323439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líder es aquella persona que inspira, orienta y moviliza a otros hacia una meta, logrando que den lo mejor de sí.</a:t>
            </a:r>
          </a:p>
          <a:p>
            <a:pPr algn="ctr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necesariamente es quien manda, sino quien </a:t>
            </a: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impacta positivamente</a:t>
            </a: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 los demás.</a:t>
            </a:r>
          </a:p>
        </p:txBody>
      </p:sp>
    </p:spTree>
    <p:extLst>
      <p:ext uri="{BB962C8B-B14F-4D97-AF65-F5344CB8AC3E}">
        <p14:creationId xmlns:p14="http://schemas.microsoft.com/office/powerpoint/2010/main" val="3826050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AC657-B07E-C051-75A8-C5CF2BEBC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2D53C71-817E-5649-A608-3BAB72BC01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2306B1D1-ECF7-F2E2-7C32-F285E39186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2762383"/>
              </p:ext>
            </p:extLst>
          </p:nvPr>
        </p:nvGraphicFramePr>
        <p:xfrm>
          <a:off x="1099607" y="2219294"/>
          <a:ext cx="10515600" cy="27432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5843453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273419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Jefe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Líder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7598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Impone autoridad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Inspira confianza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141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 órdenes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Guía y orienta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7654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enfoca en tareas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 enfoca en personas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36211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Desarrolla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5869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Busca obediencia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CO" sz="240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Genera compromiso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201773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5A40DFFF-E724-0738-7E05-9B976C96E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8169" y="689109"/>
            <a:ext cx="4867038" cy="461665"/>
          </a:xfrm>
          <a:prstGeom prst="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O" altLang="es-CO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El jefe dirige, el líder transforma</a:t>
            </a:r>
            <a:endParaRPr kumimoji="0" lang="es-CO" altLang="es-CO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498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994BE8-0AAD-81FE-E45D-F1365235B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EE2D68F7-8031-B56D-835B-6D184C7403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8478"/>
            <a:ext cx="1463040" cy="1162929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D7369F9F-0FF4-42D8-95C3-F5C47AC84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744" y="1683280"/>
            <a:ext cx="541269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br>
              <a:rPr kumimoji="0" lang="es-CO" altLang="es-CO" sz="2000" b="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¿Puede un jefe ser un líder?</a:t>
            </a:r>
          </a:p>
          <a:p>
            <a:pPr algn="just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jefe se convierte en líder cuando:</a:t>
            </a:r>
          </a:p>
          <a:p>
            <a:pPr algn="just"/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Deja de solo mandar y empieza a inspirar, escucha a su equipo, desarrolla a las personas y lidera con el ejemplo.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O" altLang="es-CO" sz="2000" b="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9CD36E2-BF20-C3E7-BCDE-1A03202786E8}"/>
              </a:ext>
            </a:extLst>
          </p:cNvPr>
          <p:cNvSpPr txBox="1"/>
          <p:nvPr/>
        </p:nvSpPr>
        <p:spPr>
          <a:xfrm>
            <a:off x="178744" y="4359112"/>
            <a:ext cx="541269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¿Puede un jefe ser un líder?</a:t>
            </a:r>
          </a:p>
          <a:p>
            <a:pPr>
              <a:buNone/>
            </a:pPr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jefe se convierte en líder cuando:</a:t>
            </a:r>
          </a:p>
          <a:p>
            <a:r>
              <a:rPr lang="es-CO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Deja de solo mandar y empieza a inspirar, escucha a su equipo, desarrolla a las personas y lidera con el ejemplo.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AB22B7A-EAA3-BAAF-94C8-76D06E88B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01407"/>
            <a:ext cx="5917256" cy="3948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4509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3"/>
          <p:cNvSpPr>
            <a:spLocks noGrp="1"/>
          </p:cNvSpPr>
          <p:nvPr>
            <p:ph type="title"/>
          </p:nvPr>
        </p:nvSpPr>
        <p:spPr>
          <a:xfrm>
            <a:off x="1002916" y="3237633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s-CO" sz="5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Y a ti, quien te inspira?</a:t>
            </a:r>
            <a:br>
              <a:rPr lang="es-CO" sz="54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s-CO" sz="31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https://</a:t>
            </a:r>
            <a:r>
              <a:rPr lang="es-CO" sz="3100" b="1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www.youtube.com</a:t>
            </a:r>
            <a:r>
              <a:rPr lang="es-CO" sz="31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es-CO" sz="3100" b="1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watch?v</a:t>
            </a:r>
            <a:r>
              <a:rPr lang="es-CO" sz="3100" b="1" dirty="0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=</a:t>
            </a:r>
            <a:r>
              <a:rPr lang="es-CO" sz="3100" b="1" dirty="0" err="1">
                <a:solidFill>
                  <a:srgbClr val="00206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xIaIWNQGlnE</a:t>
            </a:r>
            <a:endParaRPr lang="es-CO" sz="5400" b="1" dirty="0">
              <a:solidFill>
                <a:srgbClr val="00206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2243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4336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1384</TotalTime>
  <Words>1472</Words>
  <Application>Microsoft Macintosh PowerPoint</Application>
  <PresentationFormat>Panorámica</PresentationFormat>
  <Paragraphs>172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7" baseType="lpstr">
      <vt:lpstr>Arial</vt:lpstr>
      <vt:lpstr>Arial,Bold</vt:lpstr>
      <vt:lpstr>Calibri</vt:lpstr>
      <vt:lpstr>Calibri Light</vt:lpstr>
      <vt:lpstr>Tahoma</vt:lpstr>
      <vt:lpstr>Ubuntu</vt:lpstr>
      <vt:lpstr>Tema de Office</vt:lpstr>
      <vt:lpstr>Liderazgo y Negociación</vt:lpstr>
      <vt:lpstr>Temática</vt:lpstr>
      <vt:lpstr>Unidad 1:  Fundamentos generales de Liderazgo   https://www.youtube.com/watch?v=jW5KN4Kvpw0 </vt:lpstr>
      <vt:lpstr>Conceptualización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Y a ti, quien te inspira? https://www.youtube.com/watch?v=xIaIWNQGlnE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PRESENTACIÓN</dc:title>
  <dc:creator>Oficina de Comunicaciones Escolme</dc:creator>
  <cp:keywords>PLANTILLA</cp:keywords>
  <cp:lastModifiedBy>Andrea Bustamante</cp:lastModifiedBy>
  <cp:revision>42</cp:revision>
  <dcterms:created xsi:type="dcterms:W3CDTF">2026-02-09T16:13:10Z</dcterms:created>
  <dcterms:modified xsi:type="dcterms:W3CDTF">2026-09-30T17:19:21Z</dcterms:modified>
</cp:coreProperties>
</file>