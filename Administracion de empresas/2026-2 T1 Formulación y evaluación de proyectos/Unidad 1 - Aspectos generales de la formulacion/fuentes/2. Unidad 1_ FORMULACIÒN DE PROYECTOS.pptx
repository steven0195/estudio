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99" r:id="rId4"/>
    <p:sldId id="300" r:id="rId5"/>
    <p:sldId id="284" r:id="rId6"/>
    <p:sldId id="287" r:id="rId7"/>
    <p:sldId id="288" r:id="rId8"/>
    <p:sldId id="291" r:id="rId9"/>
    <p:sldId id="292" r:id="rId10"/>
    <p:sldId id="298" r:id="rId11"/>
    <p:sldId id="297" r:id="rId12"/>
    <p:sldId id="285" r:id="rId13"/>
    <p:sldId id="302" r:id="rId14"/>
    <p:sldId id="303" r:id="rId15"/>
    <p:sldId id="304" r:id="rId16"/>
    <p:sldId id="305" r:id="rId17"/>
    <p:sldId id="306" r:id="rId18"/>
    <p:sldId id="307" r:id="rId19"/>
    <p:sldId id="286" r:id="rId20"/>
    <p:sldId id="308" r:id="rId21"/>
    <p:sldId id="315" r:id="rId22"/>
    <p:sldId id="309" r:id="rId23"/>
    <p:sldId id="310" r:id="rId24"/>
    <p:sldId id="311" r:id="rId25"/>
    <p:sldId id="312" r:id="rId26"/>
    <p:sldId id="289" r:id="rId27"/>
    <p:sldId id="290" r:id="rId28"/>
    <p:sldId id="313" r:id="rId29"/>
    <p:sldId id="314" r:id="rId30"/>
    <p:sldId id="293" r:id="rId31"/>
    <p:sldId id="295" r:id="rId32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cio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631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734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imi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927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65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2789581" y="2523434"/>
            <a:ext cx="624369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4000" b="1" dirty="0">
                <a:solidFill>
                  <a:schemeClr val="bg1"/>
                </a:solidFill>
              </a:rPr>
              <a:t>FORMULACIÒN Y </a:t>
            </a:r>
          </a:p>
          <a:p>
            <a:pPr algn="ctr"/>
            <a:r>
              <a:rPr lang="es-CO" sz="4000" b="1" dirty="0">
                <a:solidFill>
                  <a:schemeClr val="bg1"/>
                </a:solidFill>
              </a:rPr>
              <a:t>EVALUACIÒN DE PROYECTOS</a:t>
            </a:r>
          </a:p>
        </p:txBody>
      </p:sp>
    </p:spTree>
    <p:extLst>
      <p:ext uri="{BB962C8B-B14F-4D97-AF65-F5344CB8AC3E}">
        <p14:creationId xmlns:p14="http://schemas.microsoft.com/office/powerpoint/2010/main" val="1890793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Subtítulo"/>
          <p:cNvSpPr txBox="1">
            <a:spLocks/>
          </p:cNvSpPr>
          <p:nvPr/>
        </p:nvSpPr>
        <p:spPr>
          <a:xfrm>
            <a:off x="478949" y="3230563"/>
            <a:ext cx="11713052" cy="30781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s-AR" sz="2800" b="1" u="sng" dirty="0">
                <a:solidFill>
                  <a:srgbClr val="0000CC"/>
                </a:solidFill>
                <a:latin typeface="ArialL"/>
              </a:rPr>
              <a:t>TIPOS DE PROYECTOS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s-AR" sz="1000" u="sng" dirty="0">
              <a:solidFill>
                <a:srgbClr val="0000CC"/>
              </a:solidFill>
              <a:latin typeface="ArialL"/>
            </a:endParaRPr>
          </a:p>
          <a:p>
            <a:pPr>
              <a:defRPr/>
            </a:pPr>
            <a:r>
              <a:rPr lang="es-ES" sz="2800" dirty="0"/>
              <a:t>Proyectos sociales</a:t>
            </a:r>
            <a:endParaRPr lang="es-CO" sz="2800" dirty="0"/>
          </a:p>
          <a:p>
            <a:pPr>
              <a:defRPr/>
            </a:pPr>
            <a:r>
              <a:rPr lang="es-ES" sz="2800" dirty="0">
                <a:solidFill>
                  <a:srgbClr val="0000CC"/>
                </a:solidFill>
              </a:rPr>
              <a:t>Proyectos de investigación</a:t>
            </a:r>
            <a:endParaRPr lang="es-CO" sz="2800" dirty="0">
              <a:solidFill>
                <a:srgbClr val="0000CC"/>
              </a:solidFill>
            </a:endParaRPr>
          </a:p>
          <a:p>
            <a:pPr>
              <a:defRPr/>
            </a:pPr>
            <a:r>
              <a:rPr lang="es-ES" sz="2800" dirty="0">
                <a:solidFill>
                  <a:srgbClr val="FF0000"/>
                </a:solidFill>
              </a:rPr>
              <a:t>Proyectos de inversión</a:t>
            </a:r>
          </a:p>
          <a:p>
            <a:pPr>
              <a:defRPr/>
            </a:pPr>
            <a:r>
              <a:rPr lang="es-ES" sz="2800" dirty="0">
                <a:solidFill>
                  <a:srgbClr val="0000CC"/>
                </a:solidFill>
              </a:rPr>
              <a:t>Proyectos de infraestructura</a:t>
            </a:r>
          </a:p>
          <a:p>
            <a:pPr>
              <a:defRPr/>
            </a:pPr>
            <a:r>
              <a:rPr lang="es-ES" sz="2800" dirty="0"/>
              <a:t>Proyectos de desarrollo sostenible</a:t>
            </a:r>
            <a:endParaRPr lang="es-CO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s-AR" sz="2800" dirty="0">
              <a:solidFill>
                <a:srgbClr val="0000CC"/>
              </a:solidFill>
              <a:latin typeface="ArialL"/>
            </a:endParaRPr>
          </a:p>
        </p:txBody>
      </p:sp>
      <p:sp>
        <p:nvSpPr>
          <p:cNvPr id="5" name="2 CuadroTexto"/>
          <p:cNvSpPr txBox="1">
            <a:spLocks noChangeArrowheads="1"/>
          </p:cNvSpPr>
          <p:nvPr/>
        </p:nvSpPr>
        <p:spPr bwMode="auto">
          <a:xfrm>
            <a:off x="333175" y="1315099"/>
            <a:ext cx="11344880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just" eaLnBrk="1" hangingPunct="1"/>
            <a:r>
              <a:rPr lang="es-ES_tradnl" sz="2600" b="1" dirty="0">
                <a:cs typeface="Arial" pitchFamily="34" charset="0"/>
              </a:rPr>
              <a:t>“Proceso único que consta de un conjunto de </a:t>
            </a:r>
            <a:r>
              <a:rPr lang="es-ES_tradnl" sz="2600" b="1" u="sng" dirty="0">
                <a:solidFill>
                  <a:srgbClr val="0033CC"/>
                </a:solidFill>
                <a:cs typeface="Arial" pitchFamily="34" charset="0"/>
              </a:rPr>
              <a:t>actividades coordinadas y controladas</a:t>
            </a:r>
            <a:r>
              <a:rPr lang="es-ES_tradnl" sz="2600" b="1" dirty="0">
                <a:solidFill>
                  <a:srgbClr val="0033CC"/>
                </a:solidFill>
                <a:cs typeface="Arial" pitchFamily="34" charset="0"/>
              </a:rPr>
              <a:t>, </a:t>
            </a:r>
            <a:r>
              <a:rPr lang="es-ES_tradnl" sz="2600" b="1" dirty="0">
                <a:cs typeface="Arial" pitchFamily="34" charset="0"/>
              </a:rPr>
              <a:t>con fechas de </a:t>
            </a:r>
            <a:r>
              <a:rPr lang="es-ES_tradnl" sz="2600" b="1" u="sng" dirty="0">
                <a:solidFill>
                  <a:srgbClr val="0033CC"/>
                </a:solidFill>
                <a:cs typeface="Arial" pitchFamily="34" charset="0"/>
              </a:rPr>
              <a:t>comienzo y terminación</a:t>
            </a:r>
            <a:r>
              <a:rPr lang="es-ES_tradnl" sz="2600" b="1" dirty="0">
                <a:cs typeface="Arial" pitchFamily="34" charset="0"/>
              </a:rPr>
              <a:t>, que se emprenden para suministrar un </a:t>
            </a:r>
            <a:r>
              <a:rPr lang="es-ES_tradnl" sz="2600" b="1" u="sng" dirty="0">
                <a:solidFill>
                  <a:srgbClr val="0033CC"/>
                </a:solidFill>
                <a:cs typeface="Arial" pitchFamily="34" charset="0"/>
              </a:rPr>
              <a:t>producto o servicio</a:t>
            </a:r>
            <a:r>
              <a:rPr lang="es-ES_tradnl" sz="2600" b="1" dirty="0">
                <a:solidFill>
                  <a:srgbClr val="0033CC"/>
                </a:solidFill>
                <a:cs typeface="Arial" pitchFamily="34" charset="0"/>
              </a:rPr>
              <a:t> </a:t>
            </a:r>
            <a:r>
              <a:rPr lang="es-ES_tradnl" sz="2600" b="1" dirty="0">
                <a:cs typeface="Arial" pitchFamily="34" charset="0"/>
              </a:rPr>
              <a:t>que cumpla requisitos específicos, dentro de </a:t>
            </a:r>
            <a:r>
              <a:rPr lang="es-ES_tradnl" sz="2600" b="1" u="sng" dirty="0">
                <a:solidFill>
                  <a:srgbClr val="0033CC"/>
                </a:solidFill>
                <a:cs typeface="Arial" pitchFamily="34" charset="0"/>
              </a:rPr>
              <a:t>tiempo, costo y recursos</a:t>
            </a:r>
            <a:r>
              <a:rPr lang="es-ES_tradnl" sz="2600" b="1" dirty="0">
                <a:cs typeface="Arial" pitchFamily="34" charset="0"/>
              </a:rPr>
              <a:t>”. </a:t>
            </a:r>
            <a:endParaRPr lang="es-CO" sz="2600" b="1" dirty="0">
              <a:cs typeface="Arial" pitchFamily="34" charset="0"/>
            </a:endParaRPr>
          </a:p>
        </p:txBody>
      </p:sp>
      <p:sp>
        <p:nvSpPr>
          <p:cNvPr id="2" name="1 CuadroTexto"/>
          <p:cNvSpPr txBox="1"/>
          <p:nvPr/>
        </p:nvSpPr>
        <p:spPr>
          <a:xfrm>
            <a:off x="4757530" y="514880"/>
            <a:ext cx="21915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s-CO" sz="2800" b="1" u="sng" dirty="0">
                <a:solidFill>
                  <a:srgbClr val="0000CC"/>
                </a:solidFill>
                <a:latin typeface="ArialL"/>
                <a:cs typeface="Arial" pitchFamily="34" charset="0"/>
              </a:rPr>
              <a:t>PROYECTO</a:t>
            </a:r>
          </a:p>
        </p:txBody>
      </p:sp>
    </p:spTree>
    <p:extLst>
      <p:ext uri="{BB962C8B-B14F-4D97-AF65-F5344CB8AC3E}">
        <p14:creationId xmlns:p14="http://schemas.microsoft.com/office/powerpoint/2010/main" val="1821685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4757530" y="514880"/>
            <a:ext cx="21915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s-CO" sz="2800" b="1" u="sng" dirty="0">
                <a:solidFill>
                  <a:srgbClr val="0000CC"/>
                </a:solidFill>
                <a:latin typeface="ArialL"/>
                <a:cs typeface="Arial" pitchFamily="34" charset="0"/>
              </a:rPr>
              <a:t>PROYECTO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CF09743-F432-1D18-DECC-2B30DD2C2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671" y="1495424"/>
            <a:ext cx="9432658" cy="467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33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4757530" y="514880"/>
            <a:ext cx="21915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s-CO" sz="2800" b="1" u="sng" dirty="0">
                <a:solidFill>
                  <a:srgbClr val="0000CC"/>
                </a:solidFill>
                <a:latin typeface="ArialL"/>
                <a:cs typeface="Arial" pitchFamily="34" charset="0"/>
              </a:rPr>
              <a:t>PROYECTO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B674DA3-0179-DC29-0071-89C76DB2D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967" y="1600661"/>
            <a:ext cx="10209830" cy="417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442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Subtítulo"/>
          <p:cNvSpPr txBox="1">
            <a:spLocks/>
          </p:cNvSpPr>
          <p:nvPr/>
        </p:nvSpPr>
        <p:spPr bwMode="auto">
          <a:xfrm>
            <a:off x="219111" y="1895061"/>
            <a:ext cx="11713052" cy="307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lang="es-AR" sz="2600" b="1" dirty="0">
                <a:latin typeface="ArialL"/>
                <a:cs typeface="Arial" pitchFamily="34" charset="0"/>
              </a:rPr>
              <a:t>IDENTIFICACION DE LA IDEA DE PROYECTO Y ANALISIS DE PRE-FACTIBILIDAD (PROBLEMA , OBJETIVOS, INDICADORES).</a:t>
            </a:r>
          </a:p>
          <a:p>
            <a:pPr marL="0" indent="0" algn="just" eaLnBrk="1" hangingPunct="1">
              <a:spcBef>
                <a:spcPct val="20000"/>
              </a:spcBef>
            </a:pPr>
            <a:endParaRPr lang="es-AR" sz="500" b="1" dirty="0">
              <a:latin typeface="ArialL"/>
              <a:cs typeface="Arial" pitchFamily="34" charset="0"/>
            </a:endParaRPr>
          </a:p>
          <a:p>
            <a:pPr marL="0" indent="0" algn="just" eaLnBrk="1" hangingPunct="1">
              <a:spcBef>
                <a:spcPct val="20000"/>
              </a:spcBef>
            </a:pPr>
            <a:endParaRPr lang="es-AR" sz="500" b="1" dirty="0">
              <a:latin typeface="ArialL"/>
              <a:cs typeface="Arial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lang="es-AR" sz="2600" b="1" dirty="0">
                <a:solidFill>
                  <a:srgbClr val="0000CC"/>
                </a:solidFill>
                <a:latin typeface="ArialL"/>
                <a:cs typeface="Arial" pitchFamily="34" charset="0"/>
              </a:rPr>
              <a:t>ESTUDIO DEL MERCADO DEL PROYECTO.</a:t>
            </a:r>
          </a:p>
          <a:p>
            <a:pPr marL="0" indent="0" algn="just" eaLnBrk="1" hangingPunct="1">
              <a:spcBef>
                <a:spcPct val="20000"/>
              </a:spcBef>
            </a:pPr>
            <a:endParaRPr lang="es-AR" sz="500" b="1" dirty="0">
              <a:solidFill>
                <a:srgbClr val="0000CC"/>
              </a:solidFill>
              <a:latin typeface="ArialL"/>
              <a:cs typeface="Arial" pitchFamily="34" charset="0"/>
            </a:endParaRPr>
          </a:p>
          <a:p>
            <a:pPr marL="0" indent="0" algn="just" eaLnBrk="1" hangingPunct="1">
              <a:spcBef>
                <a:spcPct val="20000"/>
              </a:spcBef>
            </a:pPr>
            <a:endParaRPr lang="es-AR" sz="500" b="1" dirty="0">
              <a:latin typeface="ArialL"/>
              <a:cs typeface="Arial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lang="es-AR" sz="2600" b="1" dirty="0">
                <a:latin typeface="ArialL"/>
                <a:cs typeface="Arial" pitchFamily="34" charset="0"/>
              </a:rPr>
              <a:t>ESTUDIO TECNICO.</a:t>
            </a:r>
          </a:p>
          <a:p>
            <a:pPr marL="0" indent="0" algn="just" eaLnBrk="1" hangingPunct="1">
              <a:spcBef>
                <a:spcPct val="20000"/>
              </a:spcBef>
            </a:pPr>
            <a:endParaRPr lang="es-AR" sz="2600" b="1" dirty="0">
              <a:latin typeface="ArialL"/>
              <a:cs typeface="Arial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lang="es-AR" sz="2600" b="1" dirty="0">
                <a:solidFill>
                  <a:srgbClr val="0033CC"/>
                </a:solidFill>
                <a:latin typeface="ArialL"/>
                <a:cs typeface="Arial" pitchFamily="34" charset="0"/>
              </a:rPr>
              <a:t>ESTUDIO LEGAL, AMBIENTAL Y SOCIAL DEL PROYECTO.</a:t>
            </a:r>
          </a:p>
          <a:p>
            <a:pPr marL="0" indent="0" algn="just" eaLnBrk="1" hangingPunct="1">
              <a:spcBef>
                <a:spcPct val="20000"/>
              </a:spcBef>
            </a:pPr>
            <a:endParaRPr lang="es-AR" sz="2600" b="1" dirty="0">
              <a:solidFill>
                <a:srgbClr val="0033CC"/>
              </a:solidFill>
              <a:latin typeface="ArialL"/>
              <a:cs typeface="Arial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lang="es-AR" sz="2600" b="1" dirty="0">
                <a:latin typeface="ArialL"/>
                <a:cs typeface="Arial" pitchFamily="34" charset="0"/>
              </a:rPr>
              <a:t>EVALUACION ECONOMICA Y FINANCIERA DE LOS PROYECTOS</a:t>
            </a:r>
            <a:r>
              <a:rPr lang="es-AR" sz="2800" b="1" dirty="0">
                <a:latin typeface="ArialL"/>
                <a:cs typeface="Arial" pitchFamily="34" charset="0"/>
              </a:rPr>
              <a:t>.</a:t>
            </a:r>
          </a:p>
        </p:txBody>
      </p:sp>
      <p:sp>
        <p:nvSpPr>
          <p:cNvPr id="7" name="2 Título"/>
          <p:cNvSpPr txBox="1">
            <a:spLocks/>
          </p:cNvSpPr>
          <p:nvPr/>
        </p:nvSpPr>
        <p:spPr>
          <a:xfrm>
            <a:off x="604387" y="993913"/>
            <a:ext cx="10942499" cy="696119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s-AR" altLang="es-CO" dirty="0">
                <a:solidFill>
                  <a:srgbClr val="0000CC"/>
                </a:solidFill>
                <a:latin typeface="ArialL"/>
              </a:rPr>
              <a:t>ETAPAS DE LA FORMULACIÒN DE PROYECTOS</a:t>
            </a:r>
          </a:p>
        </p:txBody>
      </p:sp>
    </p:spTree>
    <p:extLst>
      <p:ext uri="{BB962C8B-B14F-4D97-AF65-F5344CB8AC3E}">
        <p14:creationId xmlns:p14="http://schemas.microsoft.com/office/powerpoint/2010/main" val="2251444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7838" y="6308726"/>
            <a:ext cx="123809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938840" y="927004"/>
            <a:ext cx="80043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2800" b="1" dirty="0">
                <a:solidFill>
                  <a:srgbClr val="0000CC"/>
                </a:solidFill>
                <a:latin typeface="ArialL"/>
              </a:rPr>
              <a:t>ESTUDIO O INVESTIGACIÒN DEL MERCADO</a:t>
            </a:r>
            <a:endParaRPr lang="es-CO" sz="2800" b="1" dirty="0"/>
          </a:p>
        </p:txBody>
      </p:sp>
      <p:sp>
        <p:nvSpPr>
          <p:cNvPr id="7" name="6 Rectángulo"/>
          <p:cNvSpPr/>
          <p:nvPr/>
        </p:nvSpPr>
        <p:spPr>
          <a:xfrm>
            <a:off x="596348" y="1605530"/>
            <a:ext cx="1081377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s-CO" sz="3200" b="1" dirty="0"/>
              <a:t>Fuerzas  o factores que inciden sobre el mercado </a:t>
            </a:r>
          </a:p>
          <a:p>
            <a:pPr algn="just"/>
            <a:r>
              <a:rPr lang="es-CO" sz="3200" b="1" dirty="0"/>
              <a:t>Proveedores; clientes; competencia, productos sustitutos</a:t>
            </a:r>
          </a:p>
          <a:p>
            <a:pPr algn="just"/>
            <a:endParaRPr lang="es-CO" sz="3200" b="1" dirty="0"/>
          </a:p>
          <a:p>
            <a:pPr marL="457200" indent="-457200" algn="just">
              <a:buFont typeface="Wingdings" pitchFamily="2" charset="2"/>
              <a:buChar char="Ø"/>
            </a:pPr>
            <a:r>
              <a:rPr lang="es-CO" sz="3200" b="1" dirty="0">
                <a:solidFill>
                  <a:srgbClr val="0000FF"/>
                </a:solidFill>
              </a:rPr>
              <a:t>Estudio de Demanda _ Pronósticos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s-CO" sz="3200" b="1" dirty="0"/>
              <a:t>Estudio de Oferta _ Proyecciones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s-CO" sz="3200" b="1" dirty="0">
                <a:solidFill>
                  <a:srgbClr val="0000FF"/>
                </a:solidFill>
              </a:rPr>
              <a:t>Estudio de Precios.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s-CO" sz="3200" b="1" dirty="0"/>
              <a:t>Estudio de Comercialización</a:t>
            </a:r>
          </a:p>
        </p:txBody>
      </p:sp>
    </p:spTree>
    <p:extLst>
      <p:ext uri="{BB962C8B-B14F-4D97-AF65-F5344CB8AC3E}">
        <p14:creationId xmlns:p14="http://schemas.microsoft.com/office/powerpoint/2010/main" val="2343082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7838" y="6308726"/>
            <a:ext cx="123809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569843" y="1406748"/>
            <a:ext cx="10813774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s-CO" sz="2800" b="1" dirty="0"/>
              <a:t>Capacidad de producción de la empresa y tamaño de la empresa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s-CO" sz="2800" b="1" dirty="0"/>
              <a:t>Localización y distribución de los espacios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s-CO" sz="2800" b="1" dirty="0"/>
              <a:t>Tecnología a utilizar</a:t>
            </a:r>
          </a:p>
          <a:p>
            <a:pPr algn="just"/>
            <a:endParaRPr lang="es-CO" sz="2800" b="1" dirty="0"/>
          </a:p>
          <a:p>
            <a:pPr marL="457200" indent="-457200" algn="just">
              <a:buFont typeface="Wingdings" pitchFamily="2" charset="2"/>
              <a:buChar char="Ø"/>
            </a:pPr>
            <a:r>
              <a:rPr lang="es-CO" sz="2800" b="1" u="sng" dirty="0">
                <a:solidFill>
                  <a:srgbClr val="0033CC"/>
                </a:solidFill>
              </a:rPr>
              <a:t>ANÁLISIS DEL PUNTO DE EQUILIBRIO </a:t>
            </a:r>
          </a:p>
          <a:p>
            <a:pPr algn="just"/>
            <a:r>
              <a:rPr lang="es-CO" sz="2400" b="1" dirty="0">
                <a:solidFill>
                  <a:srgbClr val="0033CC"/>
                </a:solidFill>
              </a:rPr>
              <a:t>      </a:t>
            </a:r>
            <a:r>
              <a:rPr lang="es-CO" sz="2600" b="1" dirty="0"/>
              <a:t>Costos fijos y variables</a:t>
            </a:r>
          </a:p>
          <a:p>
            <a:pPr algn="just"/>
            <a:r>
              <a:rPr lang="es-CO" sz="2600" b="1" dirty="0"/>
              <a:t>      Margen de contribución</a:t>
            </a:r>
          </a:p>
          <a:p>
            <a:pPr algn="just"/>
            <a:r>
              <a:rPr lang="es-CO" sz="2600" b="1" dirty="0"/>
              <a:t>      Mezcla de productos y Utilidad esperada</a:t>
            </a:r>
          </a:p>
          <a:p>
            <a:pPr algn="just"/>
            <a:endParaRPr lang="es-CO" sz="2800" b="1" u="sng" dirty="0">
              <a:solidFill>
                <a:srgbClr val="0000FF"/>
              </a:solidFill>
            </a:endParaRPr>
          </a:p>
          <a:p>
            <a:pPr marL="457200" indent="-457200" algn="just">
              <a:buFont typeface="Wingdings" pitchFamily="2" charset="2"/>
              <a:buChar char="Ø"/>
            </a:pPr>
            <a:r>
              <a:rPr lang="es-AR" altLang="es-CO" sz="2800" b="1" dirty="0">
                <a:solidFill>
                  <a:srgbClr val="0033CC"/>
                </a:solidFill>
              </a:rPr>
              <a:t>Planeación de la proyección y programación de la  Producción o de los servicios.</a:t>
            </a:r>
          </a:p>
          <a:p>
            <a:pPr algn="just"/>
            <a:endParaRPr lang="es-CO" sz="2800" b="1" u="sng" dirty="0">
              <a:solidFill>
                <a:srgbClr val="0000FF"/>
              </a:solidFill>
            </a:endParaRPr>
          </a:p>
          <a:p>
            <a:pPr marL="457200" indent="-457200" algn="just">
              <a:buFont typeface="Wingdings" pitchFamily="2" charset="2"/>
              <a:buChar char="Ø"/>
            </a:pPr>
            <a:endParaRPr lang="es-CO" sz="2800" b="1" u="sng" dirty="0">
              <a:solidFill>
                <a:srgbClr val="0000FF"/>
              </a:solidFill>
            </a:endParaRPr>
          </a:p>
          <a:p>
            <a:pPr marL="457200" indent="-457200" algn="just">
              <a:buFont typeface="Wingdings" pitchFamily="2" charset="2"/>
              <a:buChar char="Ø"/>
            </a:pPr>
            <a:endParaRPr lang="es-CO" sz="2800" b="1" dirty="0"/>
          </a:p>
        </p:txBody>
      </p:sp>
      <p:sp>
        <p:nvSpPr>
          <p:cNvPr id="3" name="2 Rectángulo"/>
          <p:cNvSpPr/>
          <p:nvPr/>
        </p:nvSpPr>
        <p:spPr>
          <a:xfrm>
            <a:off x="2292626" y="693939"/>
            <a:ext cx="80043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2800" b="1" dirty="0">
                <a:solidFill>
                  <a:srgbClr val="0000CC"/>
                </a:solidFill>
                <a:latin typeface="ArialL"/>
              </a:rPr>
              <a:t>ESTUDIO TÈCNICO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1539095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424071" y="1238000"/>
            <a:ext cx="10933042" cy="527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20000"/>
              </a:spcBef>
            </a:pPr>
            <a:r>
              <a:rPr lang="es-AR" altLang="es-CO" sz="2800" b="1" dirty="0">
                <a:cs typeface="Arial" pitchFamily="34" charset="0"/>
              </a:rPr>
              <a:t>En esta última fase se toman decisiones económicas financieras. </a:t>
            </a:r>
          </a:p>
          <a:p>
            <a:pPr marL="457200" indent="-457200" algn="just">
              <a:spcBef>
                <a:spcPct val="20000"/>
              </a:spcBef>
              <a:buFont typeface="Wingdings" pitchFamily="2" charset="2"/>
              <a:buChar char="Ø"/>
            </a:pPr>
            <a:r>
              <a:rPr lang="es-AR" altLang="es-CO" sz="2800" b="1" dirty="0">
                <a:solidFill>
                  <a:srgbClr val="0033CC"/>
                </a:solidFill>
                <a:cs typeface="Arial" pitchFamily="34" charset="0"/>
              </a:rPr>
              <a:t>Se evalúan presupuestos de inversiones</a:t>
            </a:r>
            <a:r>
              <a:rPr lang="es-AR" altLang="es-CO" sz="2800" b="1" dirty="0">
                <a:cs typeface="Arial" pitchFamily="34" charset="0"/>
              </a:rPr>
              <a:t>.</a:t>
            </a:r>
          </a:p>
          <a:p>
            <a:pPr marL="457200" indent="-457200" algn="just">
              <a:spcBef>
                <a:spcPct val="20000"/>
              </a:spcBef>
              <a:buFont typeface="Wingdings" pitchFamily="2" charset="2"/>
              <a:buChar char="Ø"/>
            </a:pPr>
            <a:r>
              <a:rPr lang="es-AR" altLang="es-CO" sz="2800" b="1" dirty="0">
                <a:cs typeface="Arial" pitchFamily="34" charset="0"/>
              </a:rPr>
              <a:t>Determinación de ingresos y  egresos (gastos).</a:t>
            </a:r>
          </a:p>
          <a:p>
            <a:pPr algn="just">
              <a:spcBef>
                <a:spcPct val="20000"/>
              </a:spcBef>
            </a:pPr>
            <a:endParaRPr lang="es-AR" altLang="es-CO" sz="1000" b="1" dirty="0">
              <a:cs typeface="Arial" pitchFamily="34" charset="0"/>
            </a:endParaRPr>
          </a:p>
          <a:p>
            <a:pPr algn="just">
              <a:spcBef>
                <a:spcPct val="20000"/>
              </a:spcBef>
            </a:pPr>
            <a:r>
              <a:rPr lang="es-AR" altLang="es-CO" sz="2800" b="1" dirty="0">
                <a:cs typeface="Arial" pitchFamily="34" charset="0"/>
              </a:rPr>
              <a:t>Se establecen criterios para la evaluación de la inversión a través de indicadores</a:t>
            </a:r>
            <a:r>
              <a:rPr lang="es-AR" altLang="es-CO" sz="2800" b="1" dirty="0">
                <a:solidFill>
                  <a:srgbClr val="0000CC"/>
                </a:solidFill>
                <a:cs typeface="Arial" pitchFamily="34" charset="0"/>
              </a:rPr>
              <a:t>:  </a:t>
            </a:r>
          </a:p>
          <a:p>
            <a:pPr algn="just">
              <a:spcBef>
                <a:spcPct val="20000"/>
              </a:spcBef>
            </a:pPr>
            <a:endParaRPr lang="es-AR" altLang="es-CO" sz="2800" b="1" dirty="0">
              <a:solidFill>
                <a:srgbClr val="0000CC"/>
              </a:solidFill>
              <a:cs typeface="Arial" pitchFamily="34" charset="0"/>
            </a:endParaRPr>
          </a:p>
          <a:p>
            <a:pPr marL="457200" indent="-457200" algn="just">
              <a:spcBef>
                <a:spcPct val="20000"/>
              </a:spcBef>
              <a:buFont typeface="Wingdings" pitchFamily="2" charset="2"/>
              <a:buChar char="Ø"/>
            </a:pPr>
            <a:r>
              <a:rPr lang="es-AR" altLang="es-CO" sz="2800" b="1" i="1" dirty="0">
                <a:solidFill>
                  <a:srgbClr val="0000CC"/>
                </a:solidFill>
                <a:cs typeface="Arial" pitchFamily="34" charset="0"/>
              </a:rPr>
              <a:t>Período de Recuperación</a:t>
            </a:r>
          </a:p>
          <a:p>
            <a:pPr marL="457200" indent="-457200" algn="just">
              <a:spcBef>
                <a:spcPct val="20000"/>
              </a:spcBef>
              <a:buFont typeface="Wingdings" pitchFamily="2" charset="2"/>
              <a:buChar char="Ø"/>
            </a:pPr>
            <a:r>
              <a:rPr lang="es-AR" altLang="es-CO" sz="2800" b="1" i="1" dirty="0">
                <a:cs typeface="Arial" pitchFamily="34" charset="0"/>
              </a:rPr>
              <a:t>VAN y TIR, para determinar el Riesgo de la inversión</a:t>
            </a:r>
            <a:r>
              <a:rPr lang="es-AR" altLang="es-CO" sz="2800" b="1" i="1" dirty="0">
                <a:solidFill>
                  <a:srgbClr val="0000CC"/>
                </a:solidFill>
                <a:cs typeface="Arial" pitchFamily="34" charset="0"/>
              </a:rPr>
              <a:t>, </a:t>
            </a:r>
          </a:p>
          <a:p>
            <a:pPr marL="457200" indent="-457200" algn="just">
              <a:spcBef>
                <a:spcPct val="20000"/>
              </a:spcBef>
              <a:buFont typeface="Wingdings" pitchFamily="2" charset="2"/>
              <a:buChar char="Ø"/>
            </a:pPr>
            <a:r>
              <a:rPr lang="es-AR" altLang="es-CO" sz="2800" b="1" i="1" dirty="0">
                <a:solidFill>
                  <a:srgbClr val="0000CC"/>
                </a:solidFill>
                <a:cs typeface="Arial" pitchFamily="34" charset="0"/>
              </a:rPr>
              <a:t>CAUE  _costo anual equivalente </a:t>
            </a:r>
          </a:p>
          <a:p>
            <a:pPr marL="457200" indent="-457200" algn="just">
              <a:spcBef>
                <a:spcPct val="20000"/>
              </a:spcBef>
              <a:buFont typeface="Wingdings" pitchFamily="2" charset="2"/>
              <a:buChar char="Ø"/>
            </a:pPr>
            <a:r>
              <a:rPr lang="es-AR" altLang="es-CO" sz="2800" b="1" i="1" dirty="0">
                <a:cs typeface="Arial" pitchFamily="34" charset="0"/>
              </a:rPr>
              <a:t>La tasa relación costo_beneficio</a:t>
            </a:r>
            <a:endParaRPr lang="es-CO" sz="2800" b="1" dirty="0"/>
          </a:p>
        </p:txBody>
      </p:sp>
      <p:sp>
        <p:nvSpPr>
          <p:cNvPr id="3" name="2 Rectángulo"/>
          <p:cNvSpPr/>
          <p:nvPr/>
        </p:nvSpPr>
        <p:spPr>
          <a:xfrm>
            <a:off x="2292626" y="693939"/>
            <a:ext cx="80043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2800" b="1" dirty="0">
                <a:solidFill>
                  <a:srgbClr val="0000CC"/>
                </a:solidFill>
                <a:latin typeface="ArialL"/>
              </a:rPr>
              <a:t>ESTUDIO ECONOMICO FINANCIERO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656739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384313" y="1217135"/>
            <a:ext cx="10972800" cy="621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20000"/>
              </a:spcBef>
            </a:pPr>
            <a:r>
              <a:rPr lang="es-AR" altLang="es-CO" sz="2800" b="1" dirty="0">
                <a:cs typeface="Arial" pitchFamily="34" charset="0"/>
              </a:rPr>
              <a:t>FINANCIAMIENTO DEL PROYECTO</a:t>
            </a:r>
          </a:p>
          <a:p>
            <a:pPr algn="just">
              <a:spcBef>
                <a:spcPct val="20000"/>
              </a:spcBef>
            </a:pPr>
            <a:r>
              <a:rPr lang="es-AR" altLang="es-CO" sz="2800" b="1" i="1" dirty="0">
                <a:solidFill>
                  <a:srgbClr val="0033CC"/>
                </a:solidFill>
                <a:cs typeface="Arial" pitchFamily="34" charset="0"/>
              </a:rPr>
              <a:t>Estrategias de financiamiento y el costo de capital</a:t>
            </a:r>
          </a:p>
          <a:p>
            <a:pPr algn="just">
              <a:spcBef>
                <a:spcPct val="20000"/>
              </a:spcBef>
            </a:pPr>
            <a:endParaRPr lang="es-AR" altLang="es-CO" sz="2800" b="1" i="1" dirty="0">
              <a:solidFill>
                <a:srgbClr val="0033CC"/>
              </a:solidFill>
              <a:cs typeface="Arial" pitchFamily="34" charset="0"/>
            </a:endParaRPr>
          </a:p>
          <a:p>
            <a:pPr algn="just">
              <a:spcBef>
                <a:spcPct val="20000"/>
              </a:spcBef>
            </a:pPr>
            <a:r>
              <a:rPr lang="es-AR" altLang="es-CO" sz="2800" b="1" i="1" dirty="0">
                <a:solidFill>
                  <a:srgbClr val="0033CC"/>
                </a:solidFill>
                <a:cs typeface="Arial" pitchFamily="34" charset="0"/>
              </a:rPr>
              <a:t>Estudio de escenarios de sensibilidad</a:t>
            </a:r>
          </a:p>
          <a:p>
            <a:pPr algn="just">
              <a:spcBef>
                <a:spcPct val="20000"/>
              </a:spcBef>
            </a:pPr>
            <a:r>
              <a:rPr lang="es-AR" altLang="es-CO" sz="2800" b="1" i="1" dirty="0">
                <a:cs typeface="Arial" pitchFamily="34" charset="0"/>
              </a:rPr>
              <a:t>Optimista_ Normal_ Pesimista</a:t>
            </a:r>
          </a:p>
          <a:p>
            <a:pPr algn="just">
              <a:spcBef>
                <a:spcPct val="20000"/>
              </a:spcBef>
            </a:pPr>
            <a:endParaRPr lang="es-CO" sz="2800" b="1" dirty="0">
              <a:solidFill>
                <a:srgbClr val="0033CC"/>
              </a:solidFill>
            </a:endParaRPr>
          </a:p>
          <a:p>
            <a:pPr>
              <a:defRPr/>
            </a:pPr>
            <a:r>
              <a:rPr lang="es-CO" sz="2800" b="1" dirty="0">
                <a:solidFill>
                  <a:srgbClr val="0033CC"/>
                </a:solidFill>
              </a:rPr>
              <a:t>CONSIDERACIONES DE CARÁCTER LEGAL; SOCIAL Y AMBIENTAL</a:t>
            </a:r>
          </a:p>
          <a:p>
            <a:pPr>
              <a:defRPr/>
            </a:pPr>
            <a:endParaRPr lang="es-CO" sz="2800" b="1" dirty="0">
              <a:solidFill>
                <a:srgbClr val="0033CC"/>
              </a:solidFill>
            </a:endParaRPr>
          </a:p>
          <a:p>
            <a:pPr>
              <a:defRPr/>
            </a:pPr>
            <a:r>
              <a:rPr lang="es-CO" sz="2800" b="1" dirty="0"/>
              <a:t>Constitución jurídica de la empresa</a:t>
            </a:r>
          </a:p>
          <a:p>
            <a:pPr>
              <a:defRPr/>
            </a:pPr>
            <a:r>
              <a:rPr lang="es-CO" sz="2800" b="1" dirty="0"/>
              <a:t>Aspectos legales de acuerdo a la normatividad del estado</a:t>
            </a:r>
          </a:p>
          <a:p>
            <a:pPr algn="just">
              <a:spcBef>
                <a:spcPct val="20000"/>
              </a:spcBef>
            </a:pPr>
            <a:endParaRPr lang="es-AR" altLang="es-CO" sz="2800" b="1" i="1" dirty="0">
              <a:solidFill>
                <a:srgbClr val="0033CC"/>
              </a:solidFill>
              <a:cs typeface="Arial" pitchFamily="34" charset="0"/>
            </a:endParaRPr>
          </a:p>
          <a:p>
            <a:pPr algn="just"/>
            <a:endParaRPr lang="es-CO" sz="2800" b="1" u="sng" dirty="0">
              <a:solidFill>
                <a:srgbClr val="0000FF"/>
              </a:solidFill>
            </a:endParaRPr>
          </a:p>
          <a:p>
            <a:pPr marL="457200" indent="-457200" algn="just">
              <a:buFont typeface="Wingdings" pitchFamily="2" charset="2"/>
              <a:buChar char="Ø"/>
            </a:pPr>
            <a:endParaRPr lang="es-CO" sz="2800" b="1" dirty="0"/>
          </a:p>
        </p:txBody>
      </p:sp>
      <p:sp>
        <p:nvSpPr>
          <p:cNvPr id="3" name="2 Rectángulo"/>
          <p:cNvSpPr/>
          <p:nvPr/>
        </p:nvSpPr>
        <p:spPr>
          <a:xfrm>
            <a:off x="2292626" y="665394"/>
            <a:ext cx="80043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2800" b="1" dirty="0">
                <a:solidFill>
                  <a:srgbClr val="0000CC"/>
                </a:solidFill>
                <a:latin typeface="ArialL"/>
              </a:rPr>
              <a:t>ESTUDIO ECONOMICO FINANCIERO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2988893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1683025" y="665394"/>
            <a:ext cx="966083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2800" b="1" dirty="0">
                <a:solidFill>
                  <a:srgbClr val="0000CC"/>
                </a:solidFill>
                <a:latin typeface="ArialL"/>
              </a:rPr>
              <a:t>MODELO MARCO LÒGICO _ </a:t>
            </a:r>
          </a:p>
          <a:p>
            <a:pPr algn="ctr"/>
            <a:r>
              <a:rPr lang="es-AR" sz="2800" b="1" dirty="0">
                <a:solidFill>
                  <a:srgbClr val="0000CC"/>
                </a:solidFill>
                <a:latin typeface="ArialL"/>
              </a:rPr>
              <a:t>PROYECTOS  DE INVERSIÒN</a:t>
            </a:r>
            <a:endParaRPr lang="es-CO" sz="28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06" y="1619501"/>
            <a:ext cx="11144250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1401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1683025" y="665394"/>
            <a:ext cx="966083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2400" b="1" dirty="0">
                <a:solidFill>
                  <a:srgbClr val="0000CC"/>
                </a:solidFill>
                <a:latin typeface="ArialL"/>
              </a:rPr>
              <a:t>MODELO MARCO LÒGICO _ </a:t>
            </a:r>
          </a:p>
          <a:p>
            <a:pPr algn="ctr"/>
            <a:r>
              <a:rPr lang="es-AR" sz="2400" b="1" dirty="0">
                <a:solidFill>
                  <a:srgbClr val="0000CC"/>
                </a:solidFill>
                <a:latin typeface="ArialL"/>
              </a:rPr>
              <a:t>PROYECTOS  DE  MAYOR INVERSIÒN</a:t>
            </a:r>
          </a:p>
          <a:p>
            <a:pPr algn="ctr"/>
            <a:r>
              <a:rPr lang="es-AR" sz="2400" b="1" dirty="0">
                <a:solidFill>
                  <a:srgbClr val="0000CC"/>
                </a:solidFill>
                <a:latin typeface="ArialL"/>
              </a:rPr>
              <a:t>(OBLIGAORIO EN LOS PROYECTOS DE INVERSIÒN PÙBLICA)</a:t>
            </a:r>
          </a:p>
          <a:p>
            <a:pPr algn="ctr"/>
            <a:endParaRPr lang="es-AR" sz="2800" b="1" dirty="0">
              <a:solidFill>
                <a:srgbClr val="0000CC"/>
              </a:solidFill>
              <a:latin typeface="ArialL"/>
            </a:endParaRPr>
          </a:p>
          <a:p>
            <a:pPr algn="ctr"/>
            <a:endParaRPr lang="es-CO" sz="2800" b="1" dirty="0"/>
          </a:p>
        </p:txBody>
      </p:sp>
      <p:sp>
        <p:nvSpPr>
          <p:cNvPr id="5" name="4 Rectángulo"/>
          <p:cNvSpPr/>
          <p:nvPr/>
        </p:nvSpPr>
        <p:spPr>
          <a:xfrm>
            <a:off x="689112" y="2202980"/>
            <a:ext cx="10853530" cy="4487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20000"/>
              </a:spcBef>
            </a:pPr>
            <a:r>
              <a:rPr lang="es-AR" altLang="es-CO" sz="2800" b="1" dirty="0">
                <a:cs typeface="Arial" pitchFamily="34" charset="0"/>
              </a:rPr>
              <a:t>PLANTEAMIENTOY FORMULACIÒN DEL PROYECTO</a:t>
            </a:r>
          </a:p>
          <a:p>
            <a:pPr algn="just">
              <a:spcBef>
                <a:spcPct val="20000"/>
              </a:spcBef>
            </a:pPr>
            <a:endParaRPr lang="es-AR" altLang="es-CO" sz="2800" b="1" i="1" dirty="0">
              <a:solidFill>
                <a:srgbClr val="0033CC"/>
              </a:solidFill>
              <a:cs typeface="Arial" pitchFamily="34" charset="0"/>
            </a:endParaRPr>
          </a:p>
          <a:p>
            <a:pPr algn="just">
              <a:spcBef>
                <a:spcPct val="20000"/>
              </a:spcBef>
            </a:pPr>
            <a:r>
              <a:rPr lang="es-AR" altLang="es-CO" sz="2800" b="1" i="1" dirty="0">
                <a:solidFill>
                  <a:srgbClr val="0033CC"/>
                </a:solidFill>
                <a:cs typeface="Arial" pitchFamily="34" charset="0"/>
              </a:rPr>
              <a:t>IDEA DEL PROYECTO (PROBLEMA O NECESIDAD A RESOLVER).</a:t>
            </a:r>
          </a:p>
          <a:p>
            <a:pPr algn="just">
              <a:spcBef>
                <a:spcPct val="20000"/>
              </a:spcBef>
            </a:pPr>
            <a:r>
              <a:rPr lang="es-AR" altLang="es-CO" sz="2800" b="1" i="1" dirty="0">
                <a:solidFill>
                  <a:srgbClr val="0033CC"/>
                </a:solidFill>
                <a:cs typeface="Arial" pitchFamily="34" charset="0"/>
              </a:rPr>
              <a:t>ÀRBOL DE PROBLEMAS</a:t>
            </a:r>
          </a:p>
          <a:p>
            <a:pPr algn="just">
              <a:spcBef>
                <a:spcPct val="20000"/>
              </a:spcBef>
            </a:pPr>
            <a:r>
              <a:rPr lang="es-AR" altLang="es-CO" sz="2800" b="1" i="1" dirty="0">
                <a:cs typeface="Arial" pitchFamily="34" charset="0"/>
              </a:rPr>
              <a:t>ÀRBOL DE OBJETIVOS</a:t>
            </a:r>
          </a:p>
          <a:p>
            <a:pPr algn="just">
              <a:spcBef>
                <a:spcPct val="20000"/>
              </a:spcBef>
            </a:pPr>
            <a:r>
              <a:rPr lang="es-AR" altLang="es-CO" sz="2800" b="1" i="1" dirty="0">
                <a:solidFill>
                  <a:srgbClr val="0033CC"/>
                </a:solidFill>
                <a:cs typeface="Arial" pitchFamily="34" charset="0"/>
              </a:rPr>
              <a:t>DISEÑO DE INDICADORES DE MEDICIÒN DEL PROYECTO</a:t>
            </a:r>
          </a:p>
          <a:p>
            <a:pPr algn="just">
              <a:spcBef>
                <a:spcPct val="20000"/>
              </a:spcBef>
            </a:pPr>
            <a:endParaRPr lang="es-AR" altLang="es-CO" sz="2800" b="1" i="1" dirty="0">
              <a:solidFill>
                <a:srgbClr val="0033CC"/>
              </a:solidFill>
              <a:cs typeface="Arial" pitchFamily="34" charset="0"/>
            </a:endParaRPr>
          </a:p>
          <a:p>
            <a:pPr algn="just"/>
            <a:endParaRPr lang="es-CO" sz="2800" b="1" u="sng" dirty="0">
              <a:solidFill>
                <a:srgbClr val="0000FF"/>
              </a:solidFill>
            </a:endParaRPr>
          </a:p>
          <a:p>
            <a:pPr marL="457200" indent="-457200" algn="just">
              <a:buFont typeface="Wingdings" pitchFamily="2" charset="2"/>
              <a:buChar char="Ø"/>
            </a:pP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3649300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2155579" y="427980"/>
            <a:ext cx="7617085" cy="155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3175" b="1" dirty="0">
                <a:solidFill>
                  <a:srgbClr val="0033CC"/>
                </a:solidFill>
              </a:rPr>
              <a:t>PROBLEMAS  COMUNES EN LAS EMPRESA Y </a:t>
            </a:r>
          </a:p>
          <a:p>
            <a:pPr algn="ctr"/>
            <a:r>
              <a:rPr lang="es-CO" sz="3175" b="1" dirty="0">
                <a:solidFill>
                  <a:srgbClr val="0033CC"/>
                </a:solidFill>
              </a:rPr>
              <a:t>ORGANIZACIONES</a:t>
            </a:r>
          </a:p>
          <a:p>
            <a:pPr algn="ctr"/>
            <a:r>
              <a:rPr lang="es-CO" sz="3175" b="1" dirty="0"/>
              <a:t>GESTIÒN HUMANA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557144" y="2166734"/>
            <a:ext cx="10650543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3600" indent="-453600">
              <a:buFontTx/>
              <a:buChar char="-"/>
            </a:pPr>
            <a:r>
              <a:rPr lang="es-CO" sz="3175" b="1" dirty="0">
                <a:solidFill>
                  <a:srgbClr val="0033CC"/>
                </a:solidFill>
              </a:rPr>
              <a:t>Clima laboral</a:t>
            </a:r>
          </a:p>
          <a:p>
            <a:pPr marL="453600" indent="-453600">
              <a:buFontTx/>
              <a:buChar char="-"/>
            </a:pPr>
            <a:r>
              <a:rPr lang="es-CO" sz="3175" b="1" dirty="0"/>
              <a:t>Alta rotación de personal</a:t>
            </a:r>
          </a:p>
          <a:p>
            <a:pPr marL="453600" indent="-453600">
              <a:buFontTx/>
              <a:buChar char="-"/>
            </a:pPr>
            <a:r>
              <a:rPr lang="es-CO" sz="3175" b="1" dirty="0">
                <a:solidFill>
                  <a:srgbClr val="0033CC"/>
                </a:solidFill>
              </a:rPr>
              <a:t>Re procesos en la selección del personal</a:t>
            </a:r>
          </a:p>
          <a:p>
            <a:pPr marL="453600" indent="-453600">
              <a:buFontTx/>
              <a:buChar char="-"/>
            </a:pPr>
            <a:r>
              <a:rPr lang="es-CO" sz="3175" b="1" dirty="0"/>
              <a:t>Error en la definición de perfiles</a:t>
            </a:r>
          </a:p>
          <a:p>
            <a:pPr marL="453600" indent="-453600">
              <a:buFontTx/>
              <a:buChar char="-"/>
            </a:pPr>
            <a:r>
              <a:rPr lang="es-CO" sz="3175" b="1" dirty="0">
                <a:solidFill>
                  <a:srgbClr val="0033CC"/>
                </a:solidFill>
              </a:rPr>
              <a:t>Perfiles desactualizados</a:t>
            </a:r>
          </a:p>
          <a:p>
            <a:pPr marL="453600" indent="-453600">
              <a:buFontTx/>
              <a:buChar char="-"/>
            </a:pPr>
            <a:r>
              <a:rPr lang="es-CO" sz="3175" b="1" dirty="0"/>
              <a:t>Manuales de funciones y procedimientos desactualizados</a:t>
            </a:r>
          </a:p>
          <a:p>
            <a:pPr marL="453600" indent="-453600">
              <a:buFontTx/>
              <a:buChar char="-"/>
            </a:pPr>
            <a:r>
              <a:rPr lang="es-CO" sz="3175" b="1" dirty="0">
                <a:solidFill>
                  <a:srgbClr val="0033CC"/>
                </a:solidFill>
              </a:rPr>
              <a:t>Ausencia de manuales de funciones y procedimientos</a:t>
            </a:r>
          </a:p>
          <a:p>
            <a:pPr marL="453600" indent="-453600">
              <a:buFontTx/>
              <a:buChar char="-"/>
            </a:pPr>
            <a:endParaRPr lang="es-CO" sz="3175" b="1" dirty="0"/>
          </a:p>
        </p:txBody>
      </p:sp>
    </p:spTree>
    <p:extLst>
      <p:ext uri="{BB962C8B-B14F-4D97-AF65-F5344CB8AC3E}">
        <p14:creationId xmlns:p14="http://schemas.microsoft.com/office/powerpoint/2010/main" val="2542067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2155579" y="427980"/>
            <a:ext cx="7617085" cy="155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3175" b="1" dirty="0">
                <a:solidFill>
                  <a:srgbClr val="0033CC"/>
                </a:solidFill>
              </a:rPr>
              <a:t>PROBLEMAS  COMUNES EN LAS EMPRESA Y </a:t>
            </a:r>
          </a:p>
          <a:p>
            <a:pPr algn="ctr"/>
            <a:r>
              <a:rPr lang="es-CO" sz="3175" b="1" dirty="0">
                <a:solidFill>
                  <a:srgbClr val="0033CC"/>
                </a:solidFill>
              </a:rPr>
              <a:t>ORGANIZACIONES</a:t>
            </a:r>
          </a:p>
          <a:p>
            <a:pPr algn="ctr"/>
            <a:r>
              <a:rPr lang="es-CO" sz="3175" b="1" dirty="0"/>
              <a:t>LOGÌSTICA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557144" y="2166734"/>
            <a:ext cx="10650543" cy="3512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3600" indent="-453600">
              <a:buFontTx/>
              <a:buChar char="-"/>
            </a:pPr>
            <a:r>
              <a:rPr lang="es-CO" sz="3175" b="1" dirty="0">
                <a:solidFill>
                  <a:srgbClr val="0033CC"/>
                </a:solidFill>
              </a:rPr>
              <a:t>Control y rotación de inventarios</a:t>
            </a:r>
          </a:p>
          <a:p>
            <a:pPr marL="453600" indent="-453600">
              <a:buFontTx/>
              <a:buChar char="-"/>
            </a:pPr>
            <a:r>
              <a:rPr lang="es-CO" sz="3175" b="1" dirty="0"/>
              <a:t>Retraso en los despachos</a:t>
            </a:r>
          </a:p>
          <a:p>
            <a:pPr marL="453600" indent="-453600">
              <a:buFontTx/>
              <a:buChar char="-"/>
            </a:pPr>
            <a:r>
              <a:rPr lang="es-CO" sz="3175" b="1" dirty="0">
                <a:solidFill>
                  <a:srgbClr val="0033CC"/>
                </a:solidFill>
              </a:rPr>
              <a:t>Capacidad de almacenamiento</a:t>
            </a:r>
          </a:p>
          <a:p>
            <a:pPr marL="453600" indent="-453600">
              <a:buFontTx/>
              <a:buChar char="-"/>
            </a:pPr>
            <a:r>
              <a:rPr lang="es-CO" sz="3175" b="1" dirty="0"/>
              <a:t>Error en el despacho de productos</a:t>
            </a:r>
          </a:p>
          <a:p>
            <a:pPr marL="453600" indent="-453600">
              <a:buFontTx/>
              <a:buChar char="-"/>
            </a:pPr>
            <a:r>
              <a:rPr lang="es-CO" sz="3175" b="1" dirty="0">
                <a:solidFill>
                  <a:srgbClr val="0033CC"/>
                </a:solidFill>
              </a:rPr>
              <a:t>Novedades en el transporte</a:t>
            </a:r>
          </a:p>
          <a:p>
            <a:pPr marL="453600" indent="-453600">
              <a:buFontTx/>
              <a:buChar char="-"/>
            </a:pPr>
            <a:r>
              <a:rPr lang="es-CO" sz="3175" b="1" dirty="0"/>
              <a:t>Deterioro del producto</a:t>
            </a:r>
            <a:endParaRPr lang="es-CO" sz="3175" b="1" dirty="0">
              <a:solidFill>
                <a:srgbClr val="0033CC"/>
              </a:solidFill>
            </a:endParaRPr>
          </a:p>
          <a:p>
            <a:pPr marL="453600" indent="-453600">
              <a:buFontTx/>
              <a:buChar char="-"/>
            </a:pPr>
            <a:endParaRPr lang="es-CO" sz="3175" b="1" dirty="0"/>
          </a:p>
        </p:txBody>
      </p:sp>
    </p:spTree>
    <p:extLst>
      <p:ext uri="{BB962C8B-B14F-4D97-AF65-F5344CB8AC3E}">
        <p14:creationId xmlns:p14="http://schemas.microsoft.com/office/powerpoint/2010/main" val="448605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2155579" y="427980"/>
            <a:ext cx="7617085" cy="155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3175" b="1" dirty="0">
                <a:solidFill>
                  <a:srgbClr val="0033CC"/>
                </a:solidFill>
              </a:rPr>
              <a:t>PROBLEMAS  COMUNES EN LAS EMPRESA Y </a:t>
            </a:r>
          </a:p>
          <a:p>
            <a:pPr algn="ctr"/>
            <a:r>
              <a:rPr lang="es-CO" sz="3175" b="1" dirty="0">
                <a:solidFill>
                  <a:srgbClr val="0033CC"/>
                </a:solidFill>
              </a:rPr>
              <a:t>ORGANIZACIONES</a:t>
            </a:r>
          </a:p>
          <a:p>
            <a:pPr algn="ctr"/>
            <a:r>
              <a:rPr lang="es-CO" sz="3175" b="1" dirty="0"/>
              <a:t>PRODUCCIÒN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557144" y="2166734"/>
            <a:ext cx="10650543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3600" indent="-453600">
              <a:buFontTx/>
              <a:buChar char="-"/>
            </a:pPr>
            <a:r>
              <a:rPr lang="es-CO" sz="3175" b="1" dirty="0">
                <a:solidFill>
                  <a:srgbClr val="0033CC"/>
                </a:solidFill>
              </a:rPr>
              <a:t>Baja productividad </a:t>
            </a:r>
            <a:endParaRPr lang="es-CO" sz="3175" b="1" dirty="0"/>
          </a:p>
          <a:p>
            <a:pPr marL="453600" indent="-453600">
              <a:buFontTx/>
              <a:buChar char="-"/>
            </a:pPr>
            <a:r>
              <a:rPr lang="es-CO" sz="3175" b="1" dirty="0">
                <a:solidFill>
                  <a:srgbClr val="0033CC"/>
                </a:solidFill>
              </a:rPr>
              <a:t>Calidad del producto</a:t>
            </a:r>
          </a:p>
          <a:p>
            <a:pPr marL="453600" indent="-453600">
              <a:buFontTx/>
              <a:buChar char="-"/>
            </a:pPr>
            <a:r>
              <a:rPr lang="es-CO" sz="3175" b="1" dirty="0"/>
              <a:t>Tecnología obsoleta</a:t>
            </a:r>
          </a:p>
          <a:p>
            <a:pPr marL="453600" indent="-453600">
              <a:buFontTx/>
              <a:buChar char="-"/>
            </a:pPr>
            <a:r>
              <a:rPr lang="es-CO" sz="3175" b="1" dirty="0">
                <a:solidFill>
                  <a:srgbClr val="0033CC"/>
                </a:solidFill>
              </a:rPr>
              <a:t>Control de inventarios</a:t>
            </a:r>
          </a:p>
          <a:p>
            <a:pPr marL="453600" indent="-453600">
              <a:buFontTx/>
              <a:buChar char="-"/>
            </a:pPr>
            <a:r>
              <a:rPr lang="es-CO" sz="3175" b="1" dirty="0"/>
              <a:t>Clima laboral</a:t>
            </a:r>
          </a:p>
          <a:p>
            <a:pPr marL="453600" indent="-453600">
              <a:buFontTx/>
              <a:buChar char="-"/>
            </a:pPr>
            <a:r>
              <a:rPr lang="es-CO" sz="3175" b="1" dirty="0">
                <a:solidFill>
                  <a:srgbClr val="0033CC"/>
                </a:solidFill>
              </a:rPr>
              <a:t>Capacitación y formaciòn del personal</a:t>
            </a:r>
          </a:p>
          <a:p>
            <a:pPr marL="453600" indent="-453600">
              <a:buFontTx/>
              <a:buChar char="-"/>
            </a:pPr>
            <a:r>
              <a:rPr lang="es-CO" sz="3175" b="1" dirty="0"/>
              <a:t>Portafolio de productos desactualizados</a:t>
            </a:r>
          </a:p>
          <a:p>
            <a:pPr marL="453600" indent="-453600">
              <a:buFontTx/>
              <a:buChar char="-"/>
            </a:pPr>
            <a:endParaRPr lang="es-CO" sz="3175" b="1" dirty="0"/>
          </a:p>
        </p:txBody>
      </p:sp>
    </p:spTree>
    <p:extLst>
      <p:ext uri="{BB962C8B-B14F-4D97-AF65-F5344CB8AC3E}">
        <p14:creationId xmlns:p14="http://schemas.microsoft.com/office/powerpoint/2010/main" val="3975373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2155579" y="427980"/>
            <a:ext cx="7617085" cy="155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3175" b="1" dirty="0">
                <a:solidFill>
                  <a:srgbClr val="0033CC"/>
                </a:solidFill>
              </a:rPr>
              <a:t>PROBLEMAS  COMUNES EN LAS EMPRESA Y </a:t>
            </a:r>
          </a:p>
          <a:p>
            <a:pPr algn="ctr"/>
            <a:r>
              <a:rPr lang="es-CO" sz="3175" b="1" dirty="0">
                <a:solidFill>
                  <a:srgbClr val="0033CC"/>
                </a:solidFill>
              </a:rPr>
              <a:t>ORGANIZACIONES</a:t>
            </a:r>
          </a:p>
          <a:p>
            <a:pPr algn="ctr"/>
            <a:r>
              <a:rPr lang="es-CO" sz="3175" b="1" dirty="0"/>
              <a:t>INFORMÀTICA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557144" y="2166734"/>
            <a:ext cx="10650543" cy="3512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3600" indent="-453600">
              <a:buFontTx/>
              <a:buChar char="-"/>
            </a:pPr>
            <a:r>
              <a:rPr lang="es-CO" sz="3175" b="1" dirty="0">
                <a:solidFill>
                  <a:srgbClr val="0033CC"/>
                </a:solidFill>
              </a:rPr>
              <a:t>Software desactualizado</a:t>
            </a:r>
            <a:endParaRPr lang="es-CO" sz="3175" b="1" dirty="0"/>
          </a:p>
          <a:p>
            <a:pPr marL="453600" indent="-453600">
              <a:buFontTx/>
              <a:buChar char="-"/>
            </a:pPr>
            <a:r>
              <a:rPr lang="es-CO" sz="3175" b="1" dirty="0">
                <a:solidFill>
                  <a:srgbClr val="0033CC"/>
                </a:solidFill>
              </a:rPr>
              <a:t>Tecnología obsoleta</a:t>
            </a:r>
          </a:p>
          <a:p>
            <a:pPr marL="453600" indent="-453600">
              <a:buFontTx/>
              <a:buChar char="-"/>
            </a:pPr>
            <a:r>
              <a:rPr lang="es-CO" sz="3175" b="1" dirty="0"/>
              <a:t>Capacidad de respuesta</a:t>
            </a:r>
          </a:p>
          <a:p>
            <a:pPr marL="453600" indent="-453600">
              <a:buFontTx/>
              <a:buChar char="-"/>
            </a:pPr>
            <a:r>
              <a:rPr lang="es-CO" sz="3175" b="1" dirty="0">
                <a:solidFill>
                  <a:srgbClr val="0033CC"/>
                </a:solidFill>
              </a:rPr>
              <a:t>Clima laboral</a:t>
            </a:r>
          </a:p>
          <a:p>
            <a:pPr marL="453600" indent="-453600">
              <a:buFontTx/>
              <a:buChar char="-"/>
            </a:pPr>
            <a:r>
              <a:rPr lang="es-CO" sz="3175" b="1" dirty="0"/>
              <a:t>Capacitación y formaciòn del personal</a:t>
            </a:r>
          </a:p>
          <a:p>
            <a:pPr marL="453600" indent="-453600">
              <a:buFontTx/>
              <a:buChar char="-"/>
            </a:pPr>
            <a:r>
              <a:rPr lang="es-CO" sz="3175" b="1" dirty="0">
                <a:solidFill>
                  <a:srgbClr val="0033CC"/>
                </a:solidFill>
              </a:rPr>
              <a:t>Errores en las instalaciones</a:t>
            </a:r>
          </a:p>
          <a:p>
            <a:pPr marL="453600" indent="-453600">
              <a:buFontTx/>
              <a:buChar char="-"/>
            </a:pPr>
            <a:endParaRPr lang="es-CO" sz="3175" b="1" dirty="0"/>
          </a:p>
        </p:txBody>
      </p:sp>
    </p:spTree>
    <p:extLst>
      <p:ext uri="{BB962C8B-B14F-4D97-AF65-F5344CB8AC3E}">
        <p14:creationId xmlns:p14="http://schemas.microsoft.com/office/powerpoint/2010/main" val="1925029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2155579" y="427980"/>
            <a:ext cx="7617085" cy="155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3175" b="1" dirty="0">
                <a:solidFill>
                  <a:srgbClr val="0033CC"/>
                </a:solidFill>
              </a:rPr>
              <a:t>PROBLEMAS  COMUNES EN LAS EMPRESA Y </a:t>
            </a:r>
          </a:p>
          <a:p>
            <a:pPr algn="ctr"/>
            <a:r>
              <a:rPr lang="es-CO" sz="3175" b="1" dirty="0">
                <a:solidFill>
                  <a:srgbClr val="0033CC"/>
                </a:solidFill>
              </a:rPr>
              <a:t>ORGANIZACIONES</a:t>
            </a:r>
          </a:p>
          <a:p>
            <a:pPr algn="ctr"/>
            <a:r>
              <a:rPr lang="es-CO" sz="3175" b="1" dirty="0"/>
              <a:t>COMERCIAL O MERCADEO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557144" y="2166734"/>
            <a:ext cx="10650543" cy="3023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3600" indent="-453600">
              <a:buFontTx/>
              <a:buChar char="-"/>
            </a:pPr>
            <a:r>
              <a:rPr lang="es-CO" sz="3175" b="1" dirty="0">
                <a:solidFill>
                  <a:srgbClr val="0033CC"/>
                </a:solidFill>
              </a:rPr>
              <a:t>Servicio al cliente</a:t>
            </a:r>
            <a:endParaRPr lang="es-CO" sz="3175" b="1" dirty="0"/>
          </a:p>
          <a:p>
            <a:pPr marL="453600" indent="-453600">
              <a:buFontTx/>
              <a:buChar char="-"/>
            </a:pPr>
            <a:r>
              <a:rPr lang="es-CO" sz="3175" b="1" dirty="0"/>
              <a:t>Entrega de pedidos</a:t>
            </a:r>
          </a:p>
          <a:p>
            <a:pPr marL="453600" indent="-453600">
              <a:buFontTx/>
              <a:buChar char="-"/>
            </a:pPr>
            <a:r>
              <a:rPr lang="es-CO" sz="3175" b="1" dirty="0">
                <a:solidFill>
                  <a:srgbClr val="0033CC"/>
                </a:solidFill>
              </a:rPr>
              <a:t>Clima laboral</a:t>
            </a:r>
          </a:p>
          <a:p>
            <a:pPr marL="453600" indent="-453600">
              <a:buFontTx/>
              <a:buChar char="-"/>
            </a:pPr>
            <a:r>
              <a:rPr lang="es-CO" sz="3175" b="1" dirty="0"/>
              <a:t>Facturación de los pedidos</a:t>
            </a:r>
          </a:p>
          <a:p>
            <a:pPr marL="453600" indent="-453600">
              <a:buFontTx/>
              <a:buChar char="-"/>
            </a:pPr>
            <a:r>
              <a:rPr lang="es-CO" sz="3175" b="1" dirty="0">
                <a:solidFill>
                  <a:srgbClr val="0033CC"/>
                </a:solidFill>
              </a:rPr>
              <a:t>PQRS de los clientes</a:t>
            </a:r>
          </a:p>
          <a:p>
            <a:pPr marL="453600" indent="-453600">
              <a:buFontTx/>
              <a:buChar char="-"/>
            </a:pPr>
            <a:endParaRPr lang="es-CO" sz="3175" b="1" dirty="0"/>
          </a:p>
        </p:txBody>
      </p:sp>
    </p:spTree>
    <p:extLst>
      <p:ext uri="{BB962C8B-B14F-4D97-AF65-F5344CB8AC3E}">
        <p14:creationId xmlns:p14="http://schemas.microsoft.com/office/powerpoint/2010/main" val="3656497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2155579" y="427980"/>
            <a:ext cx="7617085" cy="1558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3175" b="1" dirty="0">
                <a:solidFill>
                  <a:srgbClr val="0033CC"/>
                </a:solidFill>
              </a:rPr>
              <a:t>PROBLEMAS  COMUNES EN LAS EMPRESA Y </a:t>
            </a:r>
          </a:p>
          <a:p>
            <a:pPr algn="ctr"/>
            <a:r>
              <a:rPr lang="es-CO" sz="3175" b="1" dirty="0">
                <a:solidFill>
                  <a:srgbClr val="0033CC"/>
                </a:solidFill>
              </a:rPr>
              <a:t>ORGANIZACIONES</a:t>
            </a:r>
            <a:endParaRPr lang="es-CO" sz="3175" b="1" dirty="0"/>
          </a:p>
          <a:p>
            <a:pPr algn="ctr"/>
            <a:r>
              <a:rPr lang="es-CO" sz="3175" b="1" dirty="0"/>
              <a:t>SALUD, SEGURIDAD y MEDIO AMBIENTE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557143" y="2166734"/>
            <a:ext cx="10650543" cy="2535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3600" indent="-453600">
              <a:buFontTx/>
              <a:buChar char="-"/>
            </a:pPr>
            <a:r>
              <a:rPr lang="es-CO" sz="3175" b="1" dirty="0">
                <a:solidFill>
                  <a:srgbClr val="0033CC"/>
                </a:solidFill>
              </a:rPr>
              <a:t>Accidentes</a:t>
            </a:r>
            <a:endParaRPr lang="es-CO" sz="3175" b="1" dirty="0"/>
          </a:p>
          <a:p>
            <a:pPr marL="453600" indent="-453600">
              <a:buFontTx/>
              <a:buChar char="-"/>
            </a:pPr>
            <a:r>
              <a:rPr lang="es-CO" sz="3175" b="1" dirty="0"/>
              <a:t>Incapacidades</a:t>
            </a:r>
          </a:p>
          <a:p>
            <a:pPr marL="453600" indent="-453600">
              <a:buFontTx/>
              <a:buChar char="-"/>
            </a:pPr>
            <a:r>
              <a:rPr lang="es-CO" sz="3175" b="1" dirty="0">
                <a:solidFill>
                  <a:srgbClr val="0033CC"/>
                </a:solidFill>
              </a:rPr>
              <a:t>Incidentes</a:t>
            </a:r>
          </a:p>
          <a:p>
            <a:pPr marL="453600" indent="-453600">
              <a:buFontTx/>
              <a:buChar char="-"/>
            </a:pPr>
            <a:r>
              <a:rPr lang="es-CO" sz="3175" b="1" dirty="0"/>
              <a:t>Impactos ambientales</a:t>
            </a:r>
          </a:p>
          <a:p>
            <a:pPr marL="453600" indent="-453600">
              <a:buFontTx/>
              <a:buChar char="-"/>
            </a:pPr>
            <a:endParaRPr lang="es-CO" sz="3175" b="1" dirty="0"/>
          </a:p>
        </p:txBody>
      </p:sp>
    </p:spTree>
    <p:extLst>
      <p:ext uri="{BB962C8B-B14F-4D97-AF65-F5344CB8AC3E}">
        <p14:creationId xmlns:p14="http://schemas.microsoft.com/office/powerpoint/2010/main" val="3979893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9" y="0"/>
            <a:ext cx="1200244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9006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" y="1"/>
            <a:ext cx="11941966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0878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8" y="1"/>
            <a:ext cx="1200244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131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F4CDD63-8FF0-4963-985E-DA41FD5C4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4" y="1"/>
            <a:ext cx="121663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368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CuadroTexto"/>
          <p:cNvSpPr txBox="1">
            <a:spLocks noChangeArrowheads="1"/>
          </p:cNvSpPr>
          <p:nvPr/>
        </p:nvSpPr>
        <p:spPr bwMode="auto">
          <a:xfrm>
            <a:off x="873338" y="89327"/>
            <a:ext cx="10368226" cy="385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CO" sz="1905" b="1" dirty="0">
                <a:solidFill>
                  <a:srgbClr val="0000FF"/>
                </a:solidFill>
              </a:rPr>
              <a:t>AUMENTO DE LAS QUEJAS Y RECLAMOS DE LOS CLIENTES</a:t>
            </a:r>
          </a:p>
        </p:txBody>
      </p:sp>
      <p:pic>
        <p:nvPicPr>
          <p:cNvPr id="4" name="3 Imagen" descr="C:\Users\Personal\Desktop\Ejemplo-de-arbol-de-problemas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9" y="455742"/>
            <a:ext cx="12002444" cy="64022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8139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CuadroTexto"/>
          <p:cNvSpPr txBox="1">
            <a:spLocks noChangeArrowheads="1"/>
          </p:cNvSpPr>
          <p:nvPr/>
        </p:nvSpPr>
        <p:spPr bwMode="auto">
          <a:xfrm>
            <a:off x="873338" y="89327"/>
            <a:ext cx="10368226" cy="385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CO" sz="1905" b="1" dirty="0">
                <a:solidFill>
                  <a:srgbClr val="0000FF"/>
                </a:solidFill>
              </a:rPr>
              <a:t>AUMENTO DE LAS QUEJAS Y RECLAMOS DE LOS CLIENTES</a:t>
            </a:r>
          </a:p>
        </p:txBody>
      </p:sp>
      <p:pic>
        <p:nvPicPr>
          <p:cNvPr id="6" name="5 Imagen" descr="C:\Users\Personal\Desktop\ejemplo-de-árbol-de-objetivos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8" y="455742"/>
            <a:ext cx="12002445" cy="64022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17916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CuadroTexto"/>
          <p:cNvSpPr txBox="1">
            <a:spLocks noChangeArrowheads="1"/>
          </p:cNvSpPr>
          <p:nvPr/>
        </p:nvSpPr>
        <p:spPr bwMode="auto">
          <a:xfrm>
            <a:off x="873338" y="89327"/>
            <a:ext cx="10368226" cy="385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CO" sz="1905" b="1" dirty="0">
                <a:solidFill>
                  <a:srgbClr val="0000FF"/>
                </a:solidFill>
              </a:rPr>
              <a:t>AUMENTO DE LAS QUEJAS Y RECLAMOS DE LOS CLIENTES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8" y="455742"/>
            <a:ext cx="12042779" cy="6402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7178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15" y="198699"/>
            <a:ext cx="11654694" cy="6484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4948169" y="5174"/>
            <a:ext cx="2252822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175" b="1" dirty="0"/>
              <a:t>EJEMPLO 2</a:t>
            </a:r>
          </a:p>
        </p:txBody>
      </p:sp>
    </p:spTree>
    <p:extLst>
      <p:ext uri="{BB962C8B-B14F-4D97-AF65-F5344CB8AC3E}">
        <p14:creationId xmlns:p14="http://schemas.microsoft.com/office/powerpoint/2010/main" val="24940378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8" y="1"/>
            <a:ext cx="12002445" cy="6856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70716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8" y="1"/>
            <a:ext cx="12002445" cy="6970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87516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232" y="1"/>
            <a:ext cx="1212945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9989465" y="140707"/>
            <a:ext cx="743345" cy="37330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CO" sz="1826" b="1" dirty="0"/>
              <a:t>META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10813517" y="140707"/>
            <a:ext cx="1318631" cy="37330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CO" sz="1826" b="1" dirty="0"/>
              <a:t>RESULTADO</a:t>
            </a:r>
          </a:p>
        </p:txBody>
      </p:sp>
    </p:spTree>
    <p:extLst>
      <p:ext uri="{BB962C8B-B14F-4D97-AF65-F5344CB8AC3E}">
        <p14:creationId xmlns:p14="http://schemas.microsoft.com/office/powerpoint/2010/main" val="25495858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CuadroTexto"/>
          <p:cNvSpPr txBox="1">
            <a:spLocks noChangeArrowheads="1"/>
          </p:cNvSpPr>
          <p:nvPr/>
        </p:nvSpPr>
        <p:spPr bwMode="auto">
          <a:xfrm>
            <a:off x="1387406" y="140632"/>
            <a:ext cx="10368226" cy="678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CO" sz="1905" b="1" dirty="0">
                <a:solidFill>
                  <a:srgbClr val="0000FF"/>
                </a:solidFill>
              </a:rPr>
              <a:t>DEFICIENCIA EN EL SISTEMA DE COMUNICACIÓN</a:t>
            </a:r>
          </a:p>
          <a:p>
            <a:pPr algn="ctr" eaLnBrk="1" hangingPunct="1"/>
            <a:r>
              <a:rPr lang="es-CO" sz="1905" b="1" dirty="0">
                <a:solidFill>
                  <a:srgbClr val="0000FF"/>
                </a:solidFill>
              </a:rPr>
              <a:t> INTERNO DE EL PERIODICO EL COLOMBIANO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8" y="800177"/>
            <a:ext cx="12002445" cy="6057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09160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CuadroTexto"/>
          <p:cNvSpPr txBox="1">
            <a:spLocks noChangeArrowheads="1"/>
          </p:cNvSpPr>
          <p:nvPr/>
        </p:nvSpPr>
        <p:spPr bwMode="auto">
          <a:xfrm>
            <a:off x="1387405" y="114947"/>
            <a:ext cx="10368226" cy="385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CO" sz="1905" b="1" dirty="0">
                <a:solidFill>
                  <a:srgbClr val="0000FF"/>
                </a:solidFill>
              </a:rPr>
              <a:t>ÀRBOL DE OBJETIVOS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7" y="507046"/>
            <a:ext cx="11998476" cy="6628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18357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CuadroTexto"/>
          <p:cNvSpPr txBox="1">
            <a:spLocks noChangeArrowheads="1"/>
          </p:cNvSpPr>
          <p:nvPr/>
        </p:nvSpPr>
        <p:spPr bwMode="auto">
          <a:xfrm>
            <a:off x="1387405" y="103371"/>
            <a:ext cx="10368226" cy="385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s-CO" sz="1905" b="1" dirty="0">
                <a:solidFill>
                  <a:srgbClr val="0000FF"/>
                </a:solidFill>
              </a:rPr>
              <a:t>INDICADORES DEL PROYECTO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8" y="469785"/>
            <a:ext cx="12002445" cy="6463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392668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c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602</Words>
  <Application>Microsoft Office PowerPoint</Application>
  <PresentationFormat>Panorámica</PresentationFormat>
  <Paragraphs>143</Paragraphs>
  <Slides>31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6" baseType="lpstr">
      <vt:lpstr>Arial</vt:lpstr>
      <vt:lpstr>ArialL</vt:lpstr>
      <vt:lpstr>Calibri</vt:lpstr>
      <vt:lpstr>Wingdings</vt:lpstr>
      <vt:lpstr>presentacion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HOME</cp:lastModifiedBy>
  <cp:revision>59</cp:revision>
  <dcterms:created xsi:type="dcterms:W3CDTF">2017-06-13T14:58:26Z</dcterms:created>
  <dcterms:modified xsi:type="dcterms:W3CDTF">2024-02-03T14:52:38Z</dcterms:modified>
</cp:coreProperties>
</file>