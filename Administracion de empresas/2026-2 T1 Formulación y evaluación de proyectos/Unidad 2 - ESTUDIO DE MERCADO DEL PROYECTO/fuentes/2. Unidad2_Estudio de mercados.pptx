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60" r:id="rId4"/>
    <p:sldId id="273" r:id="rId5"/>
    <p:sldId id="259" r:id="rId6"/>
    <p:sldId id="261" r:id="rId7"/>
    <p:sldId id="262" r:id="rId8"/>
    <p:sldId id="263" r:id="rId9"/>
    <p:sldId id="264" r:id="rId10"/>
    <p:sldId id="265" r:id="rId11"/>
    <p:sldId id="277" r:id="rId12"/>
    <p:sldId id="266" r:id="rId13"/>
    <p:sldId id="278" r:id="rId14"/>
    <p:sldId id="267" r:id="rId15"/>
    <p:sldId id="268" r:id="rId16"/>
    <p:sldId id="280" r:id="rId17"/>
    <p:sldId id="281" r:id="rId18"/>
    <p:sldId id="279" r:id="rId19"/>
    <p:sldId id="269" r:id="rId20"/>
    <p:sldId id="282" r:id="rId21"/>
    <p:sldId id="270" r:id="rId22"/>
    <p:sldId id="275" r:id="rId23"/>
    <p:sldId id="276" r:id="rId24"/>
    <p:sldId id="274" r:id="rId25"/>
    <p:sldId id="272" r:id="rId26"/>
    <p:sldId id="258" r:id="rId2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41" userDrawn="1">
          <p15:clr>
            <a:srgbClr val="A4A3A4"/>
          </p15:clr>
        </p15:guide>
        <p15:guide id="2" pos="41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howGuides="1">
      <p:cViewPr varScale="1">
        <p:scale>
          <a:sx n="71" d="100"/>
          <a:sy n="71" d="100"/>
        </p:scale>
        <p:origin x="696" y="78"/>
      </p:cViewPr>
      <p:guideLst>
        <p:guide orient="horz" pos="2341"/>
        <p:guide pos="41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F20E1C-818D-4DB0-9C0E-30649351AD1F}" type="datetimeFigureOut">
              <a:rPr lang="es-CO" smtClean="0"/>
              <a:t>15/02/2026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A14B17-0759-4F12-9C6E-E76C79D631D6}" type="slidenum">
              <a:rPr lang="es-CO" smtClean="0"/>
              <a:t>‹Nº›</a:t>
            </a:fld>
            <a:endParaRPr lang="es-CO"/>
          </a:p>
        </p:txBody>
      </p:sp>
    </p:spTree>
    <p:extLst>
      <p:ext uri="{BB962C8B-B14F-4D97-AF65-F5344CB8AC3E}">
        <p14:creationId xmlns:p14="http://schemas.microsoft.com/office/powerpoint/2010/main" val="2369571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33A14B17-0759-4F12-9C6E-E76C79D631D6}" type="slidenum">
              <a:rPr lang="es-CO" smtClean="0"/>
              <a:t>1</a:t>
            </a:fld>
            <a:endParaRPr lang="es-CO"/>
          </a:p>
        </p:txBody>
      </p:sp>
    </p:spTree>
    <p:extLst>
      <p:ext uri="{BB962C8B-B14F-4D97-AF65-F5344CB8AC3E}">
        <p14:creationId xmlns:p14="http://schemas.microsoft.com/office/powerpoint/2010/main" val="1950301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A4C564E1-9739-4F00-BD26-02D91FB37D1F}" type="datetimeFigureOut">
              <a:rPr lang="es-CO" smtClean="0"/>
              <a:t>15/02/2026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3A74CCE-E3AA-4B37-AD5E-151F4494813A}" type="slidenum">
              <a:rPr lang="es-CO" smtClean="0"/>
              <a:t>‹Nº›</a:t>
            </a:fld>
            <a:endParaRPr lang="es-CO"/>
          </a:p>
        </p:txBody>
      </p:sp>
    </p:spTree>
    <p:extLst>
      <p:ext uri="{BB962C8B-B14F-4D97-AF65-F5344CB8AC3E}">
        <p14:creationId xmlns:p14="http://schemas.microsoft.com/office/powerpoint/2010/main" val="2123533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A4C564E1-9739-4F00-BD26-02D91FB37D1F}" type="datetimeFigureOut">
              <a:rPr lang="es-CO" smtClean="0"/>
              <a:t>15/02/2026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3A74CCE-E3AA-4B37-AD5E-151F4494813A}" type="slidenum">
              <a:rPr lang="es-CO" smtClean="0"/>
              <a:t>‹Nº›</a:t>
            </a:fld>
            <a:endParaRPr lang="es-CO"/>
          </a:p>
        </p:txBody>
      </p:sp>
    </p:spTree>
    <p:extLst>
      <p:ext uri="{BB962C8B-B14F-4D97-AF65-F5344CB8AC3E}">
        <p14:creationId xmlns:p14="http://schemas.microsoft.com/office/powerpoint/2010/main" val="3326727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A4C564E1-9739-4F00-BD26-02D91FB37D1F}" type="datetimeFigureOut">
              <a:rPr lang="es-CO" smtClean="0"/>
              <a:t>15/02/2026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3A74CCE-E3AA-4B37-AD5E-151F4494813A}" type="slidenum">
              <a:rPr lang="es-CO" smtClean="0"/>
              <a:t>‹Nº›</a:t>
            </a:fld>
            <a:endParaRPr lang="es-CO"/>
          </a:p>
        </p:txBody>
      </p:sp>
    </p:spTree>
    <p:extLst>
      <p:ext uri="{BB962C8B-B14F-4D97-AF65-F5344CB8AC3E}">
        <p14:creationId xmlns:p14="http://schemas.microsoft.com/office/powerpoint/2010/main" val="1196810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A4C564E1-9739-4F00-BD26-02D91FB37D1F}" type="datetimeFigureOut">
              <a:rPr lang="es-CO" smtClean="0"/>
              <a:t>15/02/2026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3A74CCE-E3AA-4B37-AD5E-151F4494813A}" type="slidenum">
              <a:rPr lang="es-CO" smtClean="0"/>
              <a:t>‹Nº›</a:t>
            </a:fld>
            <a:endParaRPr lang="es-CO"/>
          </a:p>
        </p:txBody>
      </p:sp>
    </p:spTree>
    <p:extLst>
      <p:ext uri="{BB962C8B-B14F-4D97-AF65-F5344CB8AC3E}">
        <p14:creationId xmlns:p14="http://schemas.microsoft.com/office/powerpoint/2010/main" val="1512612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A4C564E1-9739-4F00-BD26-02D91FB37D1F}" type="datetimeFigureOut">
              <a:rPr lang="es-CO" smtClean="0"/>
              <a:t>15/02/2026</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3A74CCE-E3AA-4B37-AD5E-151F4494813A}" type="slidenum">
              <a:rPr lang="es-CO" smtClean="0"/>
              <a:t>‹Nº›</a:t>
            </a:fld>
            <a:endParaRPr lang="es-CO"/>
          </a:p>
        </p:txBody>
      </p:sp>
    </p:spTree>
    <p:extLst>
      <p:ext uri="{BB962C8B-B14F-4D97-AF65-F5344CB8AC3E}">
        <p14:creationId xmlns:p14="http://schemas.microsoft.com/office/powerpoint/2010/main" val="1037711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A4C564E1-9739-4F00-BD26-02D91FB37D1F}" type="datetimeFigureOut">
              <a:rPr lang="es-CO" smtClean="0"/>
              <a:t>15/02/2026</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3A74CCE-E3AA-4B37-AD5E-151F4494813A}" type="slidenum">
              <a:rPr lang="es-CO" smtClean="0"/>
              <a:t>‹Nº›</a:t>
            </a:fld>
            <a:endParaRPr lang="es-CO"/>
          </a:p>
        </p:txBody>
      </p:sp>
    </p:spTree>
    <p:extLst>
      <p:ext uri="{BB962C8B-B14F-4D97-AF65-F5344CB8AC3E}">
        <p14:creationId xmlns:p14="http://schemas.microsoft.com/office/powerpoint/2010/main" val="630160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A4C564E1-9739-4F00-BD26-02D91FB37D1F}" type="datetimeFigureOut">
              <a:rPr lang="es-CO" smtClean="0"/>
              <a:t>15/02/2026</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3A74CCE-E3AA-4B37-AD5E-151F4494813A}" type="slidenum">
              <a:rPr lang="es-CO" smtClean="0"/>
              <a:t>‹Nº›</a:t>
            </a:fld>
            <a:endParaRPr lang="es-CO"/>
          </a:p>
        </p:txBody>
      </p:sp>
    </p:spTree>
    <p:extLst>
      <p:ext uri="{BB962C8B-B14F-4D97-AF65-F5344CB8AC3E}">
        <p14:creationId xmlns:p14="http://schemas.microsoft.com/office/powerpoint/2010/main" val="721511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A4C564E1-9739-4F00-BD26-02D91FB37D1F}" type="datetimeFigureOut">
              <a:rPr lang="es-CO" smtClean="0"/>
              <a:t>15/02/2026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3A74CCE-E3AA-4B37-AD5E-151F4494813A}" type="slidenum">
              <a:rPr lang="es-CO" smtClean="0"/>
              <a:t>‹Nº›</a:t>
            </a:fld>
            <a:endParaRPr lang="es-CO"/>
          </a:p>
        </p:txBody>
      </p:sp>
    </p:spTree>
    <p:extLst>
      <p:ext uri="{BB962C8B-B14F-4D97-AF65-F5344CB8AC3E}">
        <p14:creationId xmlns:p14="http://schemas.microsoft.com/office/powerpoint/2010/main" val="1830788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A4C564E1-9739-4F00-BD26-02D91FB37D1F}" type="datetimeFigureOut">
              <a:rPr lang="es-CO" smtClean="0"/>
              <a:t>15/02/2026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3A74CCE-E3AA-4B37-AD5E-151F4494813A}" type="slidenum">
              <a:rPr lang="es-CO" smtClean="0"/>
              <a:t>‹Nº›</a:t>
            </a:fld>
            <a:endParaRPr lang="es-CO"/>
          </a:p>
        </p:txBody>
      </p:sp>
    </p:spTree>
    <p:extLst>
      <p:ext uri="{BB962C8B-B14F-4D97-AF65-F5344CB8AC3E}">
        <p14:creationId xmlns:p14="http://schemas.microsoft.com/office/powerpoint/2010/main" val="900265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A4C564E1-9739-4F00-BD26-02D91FB37D1F}" type="datetimeFigureOut">
              <a:rPr lang="es-CO" smtClean="0"/>
              <a:t>15/02/2026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3A74CCE-E3AA-4B37-AD5E-151F4494813A}" type="slidenum">
              <a:rPr lang="es-CO" smtClean="0"/>
              <a:t>‹Nº›</a:t>
            </a:fld>
            <a:endParaRPr lang="es-CO"/>
          </a:p>
        </p:txBody>
      </p:sp>
    </p:spTree>
    <p:extLst>
      <p:ext uri="{BB962C8B-B14F-4D97-AF65-F5344CB8AC3E}">
        <p14:creationId xmlns:p14="http://schemas.microsoft.com/office/powerpoint/2010/main" val="1055842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A4C564E1-9739-4F00-BD26-02D91FB37D1F}" type="datetimeFigureOut">
              <a:rPr lang="es-CO" smtClean="0"/>
              <a:t>15/02/2026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3A74CCE-E3AA-4B37-AD5E-151F4494813A}" type="slidenum">
              <a:rPr lang="es-CO" smtClean="0"/>
              <a:t>‹Nº›</a:t>
            </a:fld>
            <a:endParaRPr lang="es-CO"/>
          </a:p>
        </p:txBody>
      </p:sp>
    </p:spTree>
    <p:extLst>
      <p:ext uri="{BB962C8B-B14F-4D97-AF65-F5344CB8AC3E}">
        <p14:creationId xmlns:p14="http://schemas.microsoft.com/office/powerpoint/2010/main" val="2567224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C564E1-9739-4F00-BD26-02D91FB37D1F}" type="datetimeFigureOut">
              <a:rPr lang="es-CO" smtClean="0"/>
              <a:t>15/02/2026</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A74CCE-E3AA-4B37-AD5E-151F4494813A}" type="slidenum">
              <a:rPr lang="es-CO" smtClean="0"/>
              <a:t>‹Nº›</a:t>
            </a:fld>
            <a:endParaRPr lang="es-CO"/>
          </a:p>
        </p:txBody>
      </p:sp>
    </p:spTree>
    <p:extLst>
      <p:ext uri="{BB962C8B-B14F-4D97-AF65-F5344CB8AC3E}">
        <p14:creationId xmlns:p14="http://schemas.microsoft.com/office/powerpoint/2010/main" val="2092492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webyempresas.com/la-matriz-del-perfil-competitivo/"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distplantaml.blogspot.com.co/2013/05/metodo-de-los-factores-ponderados.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proyectos.ingenotas.com/2014/02/metodo-cualitativo-por-puntos-ventajas.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oda.ustadistancia.edu.co/enlinea/Proyecto%20de%20Grado%20Fase%20I%20(Segundo%20Momento)/tamao_del_proyecto.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www.crecenegocios.com/los-presupuestos-de-una-empresa"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www.crecenegocios.com/el-pronostico-de-venta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1 Título"/>
          <p:cNvSpPr>
            <a:spLocks noGrp="1"/>
          </p:cNvSpPr>
          <p:nvPr>
            <p:ph type="ctrTitle"/>
          </p:nvPr>
        </p:nvSpPr>
        <p:spPr>
          <a:xfrm>
            <a:off x="2891644" y="872716"/>
            <a:ext cx="6300700" cy="2232248"/>
          </a:xfrm>
        </p:spPr>
        <p:txBody>
          <a:bodyPr>
            <a:normAutofit/>
          </a:bodyPr>
          <a:lstStyle/>
          <a:p>
            <a:r>
              <a:rPr lang="es-CO" sz="40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ESTUDIO DEL MERCADO</a:t>
            </a:r>
          </a:p>
        </p:txBody>
      </p:sp>
      <p:sp>
        <p:nvSpPr>
          <p:cNvPr id="3" name="2 Subtítulo"/>
          <p:cNvSpPr>
            <a:spLocks noGrp="1"/>
          </p:cNvSpPr>
          <p:nvPr>
            <p:ph type="subTitle" idx="1"/>
          </p:nvPr>
        </p:nvSpPr>
        <p:spPr>
          <a:xfrm>
            <a:off x="6384032" y="3104964"/>
            <a:ext cx="5436344" cy="2736998"/>
          </a:xfrm>
        </p:spPr>
        <p:txBody>
          <a:bodyPr>
            <a:normAutofit lnSpcReduction="10000"/>
          </a:bodyPr>
          <a:lstStyle/>
          <a:p>
            <a:pPr algn="l"/>
            <a:r>
              <a:rPr lang="es-CO" sz="2400" b="1" dirty="0">
                <a:latin typeface="Verdana" panose="020B0604030504040204" pitchFamily="34" charset="0"/>
                <a:ea typeface="Verdana" panose="020B0604030504040204" pitchFamily="34" charset="0"/>
                <a:cs typeface="Verdana" panose="020B0604030504040204" pitchFamily="34" charset="0"/>
              </a:rPr>
              <a:t>Docente Autor: JOSÉ ALFREDO JIMÉNEZ LONDOÑO</a:t>
            </a:r>
          </a:p>
          <a:p>
            <a:pPr algn="l"/>
            <a:endParaRPr lang="es-CO" sz="2400" dirty="0">
              <a:latin typeface="Verdana" panose="020B0604030504040204" pitchFamily="34" charset="0"/>
              <a:ea typeface="Verdana" panose="020B0604030504040204" pitchFamily="34" charset="0"/>
              <a:cs typeface="Verdana" panose="020B0604030504040204" pitchFamily="34" charset="0"/>
            </a:endParaRPr>
          </a:p>
          <a:p>
            <a:pPr algn="l"/>
            <a:r>
              <a:rPr lang="es-CO" sz="2400" b="1" dirty="0">
                <a:latin typeface="Verdana" panose="020B0604030504040204" pitchFamily="34" charset="0"/>
                <a:ea typeface="Verdana" panose="020B0604030504040204" pitchFamily="34" charset="0"/>
                <a:cs typeface="Verdana" panose="020B0604030504040204" pitchFamily="34" charset="0"/>
              </a:rPr>
              <a:t>Asignatura: FORMULACIÓN Y EVALUACIÓN DE PROYECTOS..</a:t>
            </a:r>
          </a:p>
          <a:p>
            <a:pPr algn="l"/>
            <a:endParaRPr lang="es-CO" sz="2400" b="1" dirty="0">
              <a:latin typeface="Verdana" panose="020B0604030504040204" pitchFamily="34" charset="0"/>
              <a:ea typeface="Verdana" panose="020B0604030504040204" pitchFamily="34" charset="0"/>
              <a:cs typeface="Verdana" panose="020B0604030504040204" pitchFamily="34" charset="0"/>
            </a:endParaRPr>
          </a:p>
          <a:p>
            <a:pPr algn="l"/>
            <a:r>
              <a:rPr lang="es-CO" sz="2400" b="1" dirty="0">
                <a:latin typeface="Verdana" panose="020B0604030504040204" pitchFamily="34" charset="0"/>
                <a:ea typeface="Verdana" panose="020B0604030504040204" pitchFamily="34" charset="0"/>
                <a:cs typeface="Verdana" panose="020B0604030504040204" pitchFamily="34" charset="0"/>
              </a:rPr>
              <a:t>Trimestre 1_ Año 2026</a:t>
            </a:r>
          </a:p>
          <a:p>
            <a:pPr algn="l"/>
            <a:endParaRPr lang="es-CO" sz="2400" b="1" dirty="0">
              <a:latin typeface="Verdana" panose="020B0604030504040204" pitchFamily="34" charset="0"/>
              <a:ea typeface="Verdana" panose="020B0604030504040204" pitchFamily="34" charset="0"/>
              <a:cs typeface="Verdana" panose="020B0604030504040204" pitchFamily="34" charset="0"/>
            </a:endParaRPr>
          </a:p>
          <a:p>
            <a:pPr algn="l"/>
            <a:endParaRPr lang="es-CO" sz="2400" b="1" dirty="0">
              <a:latin typeface="Verdana" panose="020B0604030504040204" pitchFamily="34" charset="0"/>
              <a:ea typeface="Verdana" panose="020B0604030504040204" pitchFamily="34" charset="0"/>
              <a:cs typeface="Verdana" panose="020B0604030504040204" pitchFamily="34" charset="0"/>
            </a:endParaRPr>
          </a:p>
          <a:p>
            <a:pPr algn="l"/>
            <a:endParaRPr lang="es-CO" sz="2400" b="1"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656148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4638"/>
            <a:ext cx="10972800" cy="922114"/>
          </a:xfrm>
        </p:spPr>
        <p:txBody>
          <a:bodyPr/>
          <a:lstStyle/>
          <a:p>
            <a:r>
              <a:rPr lang="es-CO" b="1" dirty="0"/>
              <a:t>ESTUDIO DE MERCADOS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489" y="1196752"/>
            <a:ext cx="9168044"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5540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51384" y="692696"/>
            <a:ext cx="10972800" cy="360040"/>
          </a:xfrm>
        </p:spPr>
        <p:txBody>
          <a:bodyPr>
            <a:normAutofit fontScale="90000"/>
          </a:bodyPr>
          <a:lstStyle/>
          <a:p>
            <a:r>
              <a:rPr lang="es-CO" b="1" dirty="0">
                <a:solidFill>
                  <a:srgbClr val="000099"/>
                </a:solidFill>
              </a:rPr>
              <a:t>ANALISIS DE LA COMPETENCIA</a:t>
            </a:r>
            <a:br>
              <a:rPr lang="es-CO" b="1" dirty="0">
                <a:solidFill>
                  <a:srgbClr val="000099"/>
                </a:solidFill>
              </a:rPr>
            </a:br>
            <a:r>
              <a:rPr lang="es-CO" sz="3100" b="1" dirty="0"/>
              <a:t>MATRIZ DE PERFIL COMPETITIVO</a:t>
            </a:r>
          </a:p>
        </p:txBody>
      </p:sp>
      <p:sp>
        <p:nvSpPr>
          <p:cNvPr id="4" name="3 CuadroTexto"/>
          <p:cNvSpPr txBox="1"/>
          <p:nvPr/>
        </p:nvSpPr>
        <p:spPr>
          <a:xfrm>
            <a:off x="551384" y="1484784"/>
            <a:ext cx="11189578" cy="4878259"/>
          </a:xfrm>
          <a:prstGeom prst="rect">
            <a:avLst/>
          </a:prstGeom>
          <a:noFill/>
        </p:spPr>
        <p:txBody>
          <a:bodyPr wrap="square" rtlCol="0">
            <a:spAutoFit/>
          </a:bodyPr>
          <a:lstStyle/>
          <a:p>
            <a:pPr algn="just"/>
            <a:r>
              <a:rPr lang="es-CO" dirty="0">
                <a:latin typeface="Verdana" pitchFamily="34" charset="0"/>
                <a:ea typeface="Verdana" pitchFamily="34" charset="0"/>
                <a:cs typeface="Verdana" pitchFamily="34" charset="0"/>
              </a:rPr>
              <a:t>Es una herramienta analítica que identifica a los competidores más importantes de una empresa e informa sobre sus fortalezas y debilidades particulares. Los resultados de ellas dependen en parte de juicios subjetivos en la selección de factores, en la asignación de ponderaciones y en la determinación de clasificaciones, por ello debe usarse en forma cautelosa como ayuda en el proceso de la toma de decisiones.</a:t>
            </a:r>
          </a:p>
          <a:p>
            <a:pPr algn="just"/>
            <a:endParaRPr lang="es-CO" dirty="0">
              <a:latin typeface="Verdana" pitchFamily="34" charset="0"/>
              <a:ea typeface="Verdana" pitchFamily="34" charset="0"/>
              <a:cs typeface="Verdana" pitchFamily="34" charset="0"/>
            </a:endParaRPr>
          </a:p>
          <a:p>
            <a:pPr algn="just"/>
            <a:r>
              <a:rPr lang="es-CO" b="1" u="sng" dirty="0">
                <a:latin typeface="Verdana" pitchFamily="34" charset="0"/>
                <a:ea typeface="Verdana" pitchFamily="34" charset="0"/>
                <a:cs typeface="Verdana" pitchFamily="34" charset="0"/>
              </a:rPr>
              <a:t>Procedimiento para su desarrollo</a:t>
            </a:r>
          </a:p>
          <a:p>
            <a:pPr algn="just"/>
            <a:endParaRPr lang="es-CO" b="1" u="sng" dirty="0">
              <a:latin typeface="Verdana" pitchFamily="34" charset="0"/>
              <a:ea typeface="Verdana" pitchFamily="34" charset="0"/>
              <a:cs typeface="Verdana" pitchFamily="34" charset="0"/>
            </a:endParaRPr>
          </a:p>
          <a:p>
            <a:pPr marL="342900" indent="-342900" algn="just">
              <a:buAutoNum type="arabicPeriod"/>
            </a:pPr>
            <a:r>
              <a:rPr lang="es-CO" dirty="0">
                <a:latin typeface="Verdana" pitchFamily="34" charset="0"/>
                <a:ea typeface="Verdana" pitchFamily="34" charset="0"/>
                <a:cs typeface="Verdana" pitchFamily="34" charset="0"/>
              </a:rPr>
              <a:t>Se identifican los factores decisivos de éxito en la industria, así como los competidores más representativos del mercado.</a:t>
            </a:r>
          </a:p>
          <a:p>
            <a:pPr algn="just"/>
            <a:endParaRPr lang="es-CO" sz="500" dirty="0">
              <a:latin typeface="Verdana" pitchFamily="34" charset="0"/>
              <a:ea typeface="Verdana" pitchFamily="34" charset="0"/>
              <a:cs typeface="Verdana" pitchFamily="34" charset="0"/>
            </a:endParaRPr>
          </a:p>
          <a:p>
            <a:pPr algn="just"/>
            <a:r>
              <a:rPr lang="es-CO" dirty="0">
                <a:latin typeface="Verdana" pitchFamily="34" charset="0"/>
                <a:ea typeface="Verdana" pitchFamily="34" charset="0"/>
                <a:cs typeface="Verdana" pitchFamily="34" charset="0"/>
              </a:rPr>
              <a:t>2. Asignar una ponderación a cada factor ponderante de éxito con el objeto de indicar la importancia relativa de ese factor para el éxito de la industria.</a:t>
            </a:r>
          </a:p>
          <a:p>
            <a:pPr algn="just"/>
            <a:endParaRPr lang="es-CO" dirty="0">
              <a:latin typeface="Verdana" pitchFamily="34" charset="0"/>
              <a:ea typeface="Verdana" pitchFamily="34" charset="0"/>
              <a:cs typeface="Verdana" pitchFamily="34" charset="0"/>
            </a:endParaRPr>
          </a:p>
          <a:p>
            <a:pPr algn="just"/>
            <a:r>
              <a:rPr lang="es-CO" dirty="0">
                <a:latin typeface="Verdana" pitchFamily="34" charset="0"/>
                <a:ea typeface="Verdana" pitchFamily="34" charset="0"/>
                <a:cs typeface="Verdana" pitchFamily="34" charset="0"/>
              </a:rPr>
              <a:t>0.0 = sin importancia.</a:t>
            </a:r>
          </a:p>
          <a:p>
            <a:pPr algn="just"/>
            <a:r>
              <a:rPr lang="es-CO" dirty="0">
                <a:latin typeface="Verdana" pitchFamily="34" charset="0"/>
                <a:ea typeface="Verdana" pitchFamily="34" charset="0"/>
                <a:cs typeface="Verdana" pitchFamily="34" charset="0"/>
              </a:rPr>
              <a:t>1.0 = muy importante</a:t>
            </a:r>
          </a:p>
          <a:p>
            <a:pPr algn="just"/>
            <a:endParaRPr lang="es-CO" sz="600" dirty="0">
              <a:latin typeface="Verdana" pitchFamily="34" charset="0"/>
              <a:ea typeface="Verdana" pitchFamily="34" charset="0"/>
              <a:cs typeface="Verdana" pitchFamily="34" charset="0"/>
            </a:endParaRPr>
          </a:p>
          <a:p>
            <a:pPr algn="just"/>
            <a:r>
              <a:rPr lang="es-CO" b="1" dirty="0">
                <a:latin typeface="Verdana" pitchFamily="34" charset="0"/>
                <a:ea typeface="Verdana" pitchFamily="34" charset="0"/>
                <a:cs typeface="Verdana" pitchFamily="34" charset="0"/>
              </a:rPr>
              <a:t>NOTA: La suma debe ser igual a 1.</a:t>
            </a:r>
          </a:p>
        </p:txBody>
      </p:sp>
    </p:spTree>
    <p:extLst>
      <p:ext uri="{BB962C8B-B14F-4D97-AF65-F5344CB8AC3E}">
        <p14:creationId xmlns:p14="http://schemas.microsoft.com/office/powerpoint/2010/main" val="3866945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51384" y="692696"/>
            <a:ext cx="10972800" cy="360040"/>
          </a:xfrm>
        </p:spPr>
        <p:txBody>
          <a:bodyPr>
            <a:normAutofit fontScale="90000"/>
          </a:bodyPr>
          <a:lstStyle/>
          <a:p>
            <a:r>
              <a:rPr lang="es-CO" b="1" dirty="0">
                <a:solidFill>
                  <a:srgbClr val="000099"/>
                </a:solidFill>
              </a:rPr>
              <a:t>ANALISIS DE LA COMPETENCIA</a:t>
            </a:r>
            <a:br>
              <a:rPr lang="es-CO" b="1" dirty="0">
                <a:solidFill>
                  <a:srgbClr val="000099"/>
                </a:solidFill>
              </a:rPr>
            </a:br>
            <a:br>
              <a:rPr lang="es-CO" b="1" dirty="0">
                <a:solidFill>
                  <a:srgbClr val="000099"/>
                </a:solidFill>
              </a:rPr>
            </a:br>
            <a:r>
              <a:rPr lang="es-CO" sz="3100" b="1" dirty="0"/>
              <a:t>MATRIZ DE PERFIL COMPETITIVO</a:t>
            </a:r>
          </a:p>
        </p:txBody>
      </p:sp>
      <p:sp>
        <p:nvSpPr>
          <p:cNvPr id="4" name="3 CuadroTexto"/>
          <p:cNvSpPr txBox="1"/>
          <p:nvPr/>
        </p:nvSpPr>
        <p:spPr>
          <a:xfrm>
            <a:off x="551384" y="1695646"/>
            <a:ext cx="11161240" cy="923330"/>
          </a:xfrm>
          <a:prstGeom prst="rect">
            <a:avLst/>
          </a:prstGeom>
          <a:noFill/>
        </p:spPr>
        <p:txBody>
          <a:bodyPr wrap="square" rtlCol="0">
            <a:spAutoFit/>
          </a:bodyPr>
          <a:lstStyle/>
          <a:p>
            <a:pPr algn="just"/>
            <a:r>
              <a:rPr lang="es-CO" dirty="0">
                <a:latin typeface="Verdana" pitchFamily="34" charset="0"/>
                <a:ea typeface="Verdana" pitchFamily="34" charset="0"/>
                <a:cs typeface="Verdana" pitchFamily="34" charset="0"/>
              </a:rPr>
              <a:t>3. Se asigna a cada uno de los competidores, así como también a la empresa que se esta estudiando, al debilidad o fortaleza de esa firma a cada factor clave de éxito.</a:t>
            </a:r>
          </a:p>
          <a:p>
            <a:pPr algn="just"/>
            <a:endParaRPr lang="es-CO" dirty="0">
              <a:latin typeface="Verdana" pitchFamily="34" charset="0"/>
              <a:ea typeface="Verdana" pitchFamily="34" charset="0"/>
              <a:cs typeface="Verdana" pitchFamily="34"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648" y="2618976"/>
            <a:ext cx="8407746" cy="1170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623392" y="3997686"/>
            <a:ext cx="11089232" cy="1754326"/>
          </a:xfrm>
          <a:prstGeom prst="rect">
            <a:avLst/>
          </a:prstGeom>
          <a:noFill/>
        </p:spPr>
        <p:txBody>
          <a:bodyPr wrap="square" rtlCol="0">
            <a:spAutoFit/>
          </a:bodyPr>
          <a:lstStyle/>
          <a:p>
            <a:pPr algn="just"/>
            <a:r>
              <a:rPr lang="es-CO" dirty="0"/>
              <a:t>4. </a:t>
            </a:r>
            <a:r>
              <a:rPr lang="es-CO" dirty="0">
                <a:latin typeface="Verdana" pitchFamily="34" charset="0"/>
                <a:ea typeface="Verdana" pitchFamily="34" charset="0"/>
                <a:cs typeface="Verdana" pitchFamily="34" charset="0"/>
              </a:rPr>
              <a:t>Multiplicar la ponderación asignada a cada factor clave por la clasificación correspondiente otorgada a cada empresa.</a:t>
            </a:r>
          </a:p>
          <a:p>
            <a:pPr algn="just"/>
            <a:endParaRPr lang="es-CO" dirty="0">
              <a:latin typeface="Verdana" pitchFamily="34" charset="0"/>
              <a:ea typeface="Verdana" pitchFamily="34" charset="0"/>
              <a:cs typeface="Verdana" pitchFamily="34" charset="0"/>
            </a:endParaRPr>
          </a:p>
          <a:p>
            <a:pPr algn="just"/>
            <a:r>
              <a:rPr lang="es-CO" dirty="0">
                <a:latin typeface="Verdana" pitchFamily="34" charset="0"/>
                <a:ea typeface="Verdana" pitchFamily="34" charset="0"/>
                <a:cs typeface="Verdana" pitchFamily="34" charset="0"/>
              </a:rPr>
              <a:t>5. Sumar la columna de resultados ponderados para cada empresa. El más alto indicara al competidor más amenazador y el menor al más débil.</a:t>
            </a:r>
          </a:p>
          <a:p>
            <a:pPr algn="just"/>
            <a:endParaRPr lang="es-CO" dirty="0"/>
          </a:p>
        </p:txBody>
      </p:sp>
      <p:sp>
        <p:nvSpPr>
          <p:cNvPr id="5" name="4 CuadroTexto"/>
          <p:cNvSpPr txBox="1"/>
          <p:nvPr/>
        </p:nvSpPr>
        <p:spPr>
          <a:xfrm>
            <a:off x="3791744" y="6001868"/>
            <a:ext cx="8314520" cy="369332"/>
          </a:xfrm>
          <a:prstGeom prst="rect">
            <a:avLst/>
          </a:prstGeom>
          <a:noFill/>
        </p:spPr>
        <p:txBody>
          <a:bodyPr wrap="none" rtlCol="0">
            <a:spAutoFit/>
          </a:bodyPr>
          <a:lstStyle/>
          <a:p>
            <a:r>
              <a:rPr lang="es-CO" dirty="0"/>
              <a:t>Fuente: Tomado de </a:t>
            </a:r>
            <a:r>
              <a:rPr lang="es-CO" dirty="0">
                <a:hlinkClick r:id="rId3"/>
              </a:rPr>
              <a:t>http://www.webyempresas.com/la-matriz-del-perfil-competitivo/</a:t>
            </a:r>
            <a:r>
              <a:rPr lang="es-CO" dirty="0"/>
              <a:t>.  </a:t>
            </a:r>
          </a:p>
        </p:txBody>
      </p:sp>
    </p:spTree>
    <p:extLst>
      <p:ext uri="{BB962C8B-B14F-4D97-AF65-F5344CB8AC3E}">
        <p14:creationId xmlns:p14="http://schemas.microsoft.com/office/powerpoint/2010/main" val="4063818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4638"/>
            <a:ext cx="10972800" cy="850106"/>
          </a:xfrm>
        </p:spPr>
        <p:txBody>
          <a:bodyPr/>
          <a:lstStyle/>
          <a:p>
            <a:r>
              <a:rPr lang="es-CO" b="1" dirty="0">
                <a:solidFill>
                  <a:srgbClr val="000099"/>
                </a:solidFill>
              </a:rPr>
              <a:t>ESTUDIO DE MERCADOS</a:t>
            </a: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440" y="1196752"/>
            <a:ext cx="10297144"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6945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4638"/>
            <a:ext cx="10972800" cy="850106"/>
          </a:xfrm>
        </p:spPr>
        <p:txBody>
          <a:bodyPr/>
          <a:lstStyle/>
          <a:p>
            <a:r>
              <a:rPr lang="es-CO" b="1" dirty="0">
                <a:solidFill>
                  <a:srgbClr val="000099"/>
                </a:solidFill>
              </a:rPr>
              <a:t>LOCALIZACIÓN ÓPTIMA DE LA PLANTA</a:t>
            </a: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495" y="1196752"/>
            <a:ext cx="9023237" cy="4999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6945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7287" y="1268760"/>
            <a:ext cx="9087225" cy="5050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ítulo 1"/>
          <p:cNvSpPr>
            <a:spLocks noGrp="1"/>
          </p:cNvSpPr>
          <p:nvPr>
            <p:ph type="title"/>
          </p:nvPr>
        </p:nvSpPr>
        <p:spPr>
          <a:xfrm>
            <a:off x="609600" y="274638"/>
            <a:ext cx="10972800" cy="850106"/>
          </a:xfrm>
        </p:spPr>
        <p:txBody>
          <a:bodyPr/>
          <a:lstStyle/>
          <a:p>
            <a:r>
              <a:rPr lang="es-CO" b="1" dirty="0">
                <a:solidFill>
                  <a:srgbClr val="000099"/>
                </a:solidFill>
              </a:rPr>
              <a:t>LOCALIZACIÓN ÓPTIMA DE LA PLANTA</a:t>
            </a:r>
          </a:p>
        </p:txBody>
      </p:sp>
    </p:spTree>
    <p:extLst>
      <p:ext uri="{BB962C8B-B14F-4D97-AF65-F5344CB8AC3E}">
        <p14:creationId xmlns:p14="http://schemas.microsoft.com/office/powerpoint/2010/main" val="3866945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530" y="1243590"/>
            <a:ext cx="9133757" cy="513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ítulo 1"/>
          <p:cNvSpPr>
            <a:spLocks noGrp="1"/>
          </p:cNvSpPr>
          <p:nvPr>
            <p:ph type="title"/>
          </p:nvPr>
        </p:nvSpPr>
        <p:spPr>
          <a:xfrm>
            <a:off x="609600" y="274638"/>
            <a:ext cx="10972800" cy="850106"/>
          </a:xfrm>
        </p:spPr>
        <p:txBody>
          <a:bodyPr/>
          <a:lstStyle/>
          <a:p>
            <a:r>
              <a:rPr lang="es-CO" b="1" dirty="0">
                <a:solidFill>
                  <a:srgbClr val="000099"/>
                </a:solidFill>
              </a:rPr>
              <a:t>LOCALIZACIÓN ÓPTIMA DE LA PLANTA</a:t>
            </a:r>
          </a:p>
        </p:txBody>
      </p:sp>
    </p:spTree>
    <p:extLst>
      <p:ext uri="{BB962C8B-B14F-4D97-AF65-F5344CB8AC3E}">
        <p14:creationId xmlns:p14="http://schemas.microsoft.com/office/powerpoint/2010/main" val="3866945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0" y="1340767"/>
            <a:ext cx="8832982" cy="4968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ítulo 1"/>
          <p:cNvSpPr>
            <a:spLocks noGrp="1"/>
          </p:cNvSpPr>
          <p:nvPr>
            <p:ph type="title"/>
          </p:nvPr>
        </p:nvSpPr>
        <p:spPr>
          <a:xfrm>
            <a:off x="609600" y="274638"/>
            <a:ext cx="10972800" cy="850106"/>
          </a:xfrm>
        </p:spPr>
        <p:txBody>
          <a:bodyPr/>
          <a:lstStyle/>
          <a:p>
            <a:r>
              <a:rPr lang="es-CO" b="1" dirty="0">
                <a:solidFill>
                  <a:srgbClr val="000099"/>
                </a:solidFill>
              </a:rPr>
              <a:t>LOCALIZACIÓN ÓPTIMA DE LA PLANTA</a:t>
            </a:r>
          </a:p>
        </p:txBody>
      </p:sp>
    </p:spTree>
    <p:extLst>
      <p:ext uri="{BB962C8B-B14F-4D97-AF65-F5344CB8AC3E}">
        <p14:creationId xmlns:p14="http://schemas.microsoft.com/office/powerpoint/2010/main" val="3866945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512" y="1268761"/>
            <a:ext cx="9226744" cy="518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ítulo 1"/>
          <p:cNvSpPr>
            <a:spLocks noGrp="1"/>
          </p:cNvSpPr>
          <p:nvPr>
            <p:ph type="title"/>
          </p:nvPr>
        </p:nvSpPr>
        <p:spPr>
          <a:xfrm>
            <a:off x="609600" y="274638"/>
            <a:ext cx="10972800" cy="850106"/>
          </a:xfrm>
        </p:spPr>
        <p:txBody>
          <a:bodyPr/>
          <a:lstStyle/>
          <a:p>
            <a:r>
              <a:rPr lang="es-CO" b="1" dirty="0">
                <a:solidFill>
                  <a:srgbClr val="000099"/>
                </a:solidFill>
              </a:rPr>
              <a:t>LOCALIZACIÓN ÓPTIMA DE LA PLANTA</a:t>
            </a:r>
          </a:p>
        </p:txBody>
      </p:sp>
    </p:spTree>
    <p:extLst>
      <p:ext uri="{BB962C8B-B14F-4D97-AF65-F5344CB8AC3E}">
        <p14:creationId xmlns:p14="http://schemas.microsoft.com/office/powerpoint/2010/main" val="3866945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609600" y="274638"/>
            <a:ext cx="10972800" cy="778098"/>
          </a:xfrm>
        </p:spPr>
        <p:txBody>
          <a:bodyPr/>
          <a:lstStyle/>
          <a:p>
            <a:r>
              <a:rPr lang="es-CO" b="1" dirty="0">
                <a:solidFill>
                  <a:srgbClr val="000099"/>
                </a:solidFill>
              </a:rPr>
              <a:t>MÉTODO DE LOS FACTORES PONDERADOS</a:t>
            </a:r>
          </a:p>
        </p:txBody>
      </p:sp>
      <p:sp>
        <p:nvSpPr>
          <p:cNvPr id="2" name="1 CuadroTexto"/>
          <p:cNvSpPr txBox="1"/>
          <p:nvPr/>
        </p:nvSpPr>
        <p:spPr>
          <a:xfrm>
            <a:off x="191344" y="1316760"/>
            <a:ext cx="11712624" cy="5016758"/>
          </a:xfrm>
          <a:prstGeom prst="rect">
            <a:avLst/>
          </a:prstGeom>
          <a:noFill/>
        </p:spPr>
        <p:txBody>
          <a:bodyPr wrap="square" rtlCol="0">
            <a:spAutoFit/>
          </a:bodyPr>
          <a:lstStyle/>
          <a:p>
            <a:pPr algn="just"/>
            <a:r>
              <a:rPr lang="es-CO" sz="1600" dirty="0">
                <a:latin typeface="Verdana" pitchFamily="34" charset="0"/>
                <a:ea typeface="Verdana" pitchFamily="34" charset="0"/>
                <a:cs typeface="Verdana" pitchFamily="34" charset="0"/>
              </a:rPr>
              <a:t>Este modelo permite una fácil identificación de los costos difíciles de evaluar que están relacionados con la localización de instalaciones. </a:t>
            </a:r>
          </a:p>
          <a:p>
            <a:pPr algn="just"/>
            <a:endParaRPr lang="es-CO" sz="1600" dirty="0">
              <a:latin typeface="Verdana" pitchFamily="34" charset="0"/>
              <a:ea typeface="Verdana" pitchFamily="34" charset="0"/>
              <a:cs typeface="Verdana" pitchFamily="34" charset="0"/>
            </a:endParaRPr>
          </a:p>
          <a:p>
            <a:pPr algn="just"/>
            <a:r>
              <a:rPr lang="es-CO" sz="1600" dirty="0">
                <a:latin typeface="Verdana" pitchFamily="34" charset="0"/>
                <a:ea typeface="Verdana" pitchFamily="34" charset="0"/>
                <a:cs typeface="Verdana" pitchFamily="34" charset="0"/>
              </a:rPr>
              <a:t>Los pasos a seguir son: </a:t>
            </a:r>
          </a:p>
          <a:p>
            <a:pPr algn="just"/>
            <a:br>
              <a:rPr lang="es-CO" sz="1600" dirty="0">
                <a:latin typeface="Verdana" pitchFamily="34" charset="0"/>
                <a:ea typeface="Verdana" pitchFamily="34" charset="0"/>
                <a:cs typeface="Verdana" pitchFamily="34" charset="0"/>
              </a:rPr>
            </a:br>
            <a:r>
              <a:rPr lang="es-CO" sz="1600" dirty="0">
                <a:latin typeface="Verdana" pitchFamily="34" charset="0"/>
                <a:ea typeface="Verdana" pitchFamily="34" charset="0"/>
                <a:cs typeface="Verdana" pitchFamily="34" charset="0"/>
              </a:rPr>
              <a:t>1. Desarrollar una lista de factores relevantes (factores que afectan la selección de la localización). </a:t>
            </a:r>
          </a:p>
          <a:p>
            <a:pPr algn="just"/>
            <a:br>
              <a:rPr lang="es-CO" sz="1600" dirty="0">
                <a:latin typeface="Verdana" pitchFamily="34" charset="0"/>
                <a:ea typeface="Verdana" pitchFamily="34" charset="0"/>
                <a:cs typeface="Verdana" pitchFamily="34" charset="0"/>
              </a:rPr>
            </a:br>
            <a:r>
              <a:rPr lang="es-CO" sz="1600" dirty="0">
                <a:latin typeface="Verdana" pitchFamily="34" charset="0"/>
                <a:ea typeface="Verdana" pitchFamily="34" charset="0"/>
                <a:cs typeface="Verdana" pitchFamily="34" charset="0"/>
              </a:rPr>
              <a:t>2. Asignar un peso a cada factor para reflejar su importancia relativa en los objetivos de la compañía. </a:t>
            </a:r>
          </a:p>
          <a:p>
            <a:pPr algn="just"/>
            <a:br>
              <a:rPr lang="es-CO" sz="1600" dirty="0">
                <a:latin typeface="Verdana" pitchFamily="34" charset="0"/>
                <a:ea typeface="Verdana" pitchFamily="34" charset="0"/>
                <a:cs typeface="Verdana" pitchFamily="34" charset="0"/>
              </a:rPr>
            </a:br>
            <a:r>
              <a:rPr lang="es-CO" sz="1600" dirty="0">
                <a:latin typeface="Verdana" pitchFamily="34" charset="0"/>
                <a:ea typeface="Verdana" pitchFamily="34" charset="0"/>
                <a:cs typeface="Verdana" pitchFamily="34" charset="0"/>
              </a:rPr>
              <a:t>3. Desarrollar una escala de calificación para cada factor (por ejemplo, 1-10 o 1-100 puntos). </a:t>
            </a:r>
          </a:p>
          <a:p>
            <a:pPr algn="just"/>
            <a:br>
              <a:rPr lang="es-CO" sz="1600" dirty="0">
                <a:latin typeface="Verdana" pitchFamily="34" charset="0"/>
                <a:ea typeface="Verdana" pitchFamily="34" charset="0"/>
                <a:cs typeface="Verdana" pitchFamily="34" charset="0"/>
              </a:rPr>
            </a:br>
            <a:r>
              <a:rPr lang="es-CO" sz="1600" dirty="0">
                <a:latin typeface="Verdana" pitchFamily="34" charset="0"/>
                <a:ea typeface="Verdana" pitchFamily="34" charset="0"/>
                <a:cs typeface="Verdana" pitchFamily="34" charset="0"/>
              </a:rPr>
              <a:t>4. Hacer que la administración califique cada localidad para cada factor, utilizando la escala del paso 3. </a:t>
            </a:r>
          </a:p>
          <a:p>
            <a:pPr algn="just"/>
            <a:br>
              <a:rPr lang="es-CO" sz="1600" dirty="0">
                <a:latin typeface="Verdana" pitchFamily="34" charset="0"/>
                <a:ea typeface="Verdana" pitchFamily="34" charset="0"/>
                <a:cs typeface="Verdana" pitchFamily="34" charset="0"/>
              </a:rPr>
            </a:br>
            <a:r>
              <a:rPr lang="es-CO" sz="1600" dirty="0">
                <a:latin typeface="Verdana" pitchFamily="34" charset="0"/>
                <a:ea typeface="Verdana" pitchFamily="34" charset="0"/>
                <a:cs typeface="Verdana" pitchFamily="34" charset="0"/>
              </a:rPr>
              <a:t>5. Multiplicar cada calificación por los pesos de cada factor, y totalizar la calificación para cada localidad. </a:t>
            </a:r>
          </a:p>
          <a:p>
            <a:pPr algn="just"/>
            <a:br>
              <a:rPr lang="es-CO" sz="1600" dirty="0">
                <a:latin typeface="Verdana" pitchFamily="34" charset="0"/>
                <a:ea typeface="Verdana" pitchFamily="34" charset="0"/>
                <a:cs typeface="Verdana" pitchFamily="34" charset="0"/>
              </a:rPr>
            </a:br>
            <a:r>
              <a:rPr lang="es-CO" sz="1600" dirty="0">
                <a:latin typeface="Verdana" pitchFamily="34" charset="0"/>
                <a:ea typeface="Verdana" pitchFamily="34" charset="0"/>
                <a:cs typeface="Verdana" pitchFamily="34" charset="0"/>
              </a:rPr>
              <a:t>6. Hacer una recomendación basada en la máxima calificación en puntaje, considerando los resultados de sistemas cuantitativos también. </a:t>
            </a:r>
          </a:p>
          <a:p>
            <a:pPr algn="just"/>
            <a:endParaRPr lang="es-CO" sz="1600" dirty="0">
              <a:latin typeface="Verdana" pitchFamily="34" charset="0"/>
              <a:ea typeface="Verdana" pitchFamily="34" charset="0"/>
              <a:cs typeface="Verdana" pitchFamily="34" charset="0"/>
            </a:endParaRPr>
          </a:p>
          <a:p>
            <a:pPr algn="just"/>
            <a:endParaRPr lang="es-CO" sz="1600" dirty="0">
              <a:latin typeface="Verdana" pitchFamily="34" charset="0"/>
              <a:ea typeface="Verdana" pitchFamily="34" charset="0"/>
              <a:cs typeface="Verdana" pitchFamily="34" charset="0"/>
            </a:endParaRPr>
          </a:p>
          <a:p>
            <a:pPr algn="just"/>
            <a:r>
              <a:rPr lang="es-CO" sz="1600" dirty="0">
                <a:latin typeface="Verdana" pitchFamily="34" charset="0"/>
                <a:ea typeface="Verdana" pitchFamily="34" charset="0"/>
                <a:cs typeface="Verdana" pitchFamily="34" charset="0"/>
              </a:rPr>
              <a:t>     FUENTE: Tomado de </a:t>
            </a:r>
            <a:r>
              <a:rPr lang="es-CO" sz="1600" dirty="0">
                <a:latin typeface="Verdana" pitchFamily="34" charset="0"/>
                <a:ea typeface="Verdana" pitchFamily="34" charset="0"/>
                <a:cs typeface="Verdana" pitchFamily="34" charset="0"/>
                <a:hlinkClick r:id="rId2"/>
              </a:rPr>
              <a:t>http://distplantaml.blogspot.com.co/2013/05/metodo-de-los-factores-ponderados.html</a:t>
            </a:r>
            <a:r>
              <a:rPr lang="es-CO" sz="1600" dirty="0">
                <a:latin typeface="Verdana" pitchFamily="34" charset="0"/>
                <a:ea typeface="Verdana" pitchFamily="34" charset="0"/>
                <a:cs typeface="Verdana" pitchFamily="34" charset="0"/>
              </a:rPr>
              <a:t> </a:t>
            </a:r>
          </a:p>
        </p:txBody>
      </p:sp>
    </p:spTree>
    <p:extLst>
      <p:ext uri="{BB962C8B-B14F-4D97-AF65-F5344CB8AC3E}">
        <p14:creationId xmlns:p14="http://schemas.microsoft.com/office/powerpoint/2010/main" val="3982782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480" y="1196752"/>
            <a:ext cx="9793088" cy="4328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ítulo 1"/>
          <p:cNvSpPr>
            <a:spLocks noGrp="1"/>
          </p:cNvSpPr>
          <p:nvPr>
            <p:ph type="title"/>
          </p:nvPr>
        </p:nvSpPr>
        <p:spPr>
          <a:xfrm>
            <a:off x="609600" y="274638"/>
            <a:ext cx="10972800" cy="850106"/>
          </a:xfrm>
        </p:spPr>
        <p:txBody>
          <a:bodyPr/>
          <a:lstStyle/>
          <a:p>
            <a:r>
              <a:rPr lang="es-CO" b="1" dirty="0">
                <a:solidFill>
                  <a:srgbClr val="000099"/>
                </a:solidFill>
              </a:rPr>
              <a:t>LOCALIZACIÓN ÓPTIMA DE LA PLANTA</a:t>
            </a:r>
          </a:p>
        </p:txBody>
      </p:sp>
      <p:sp>
        <p:nvSpPr>
          <p:cNvPr id="5" name="4 CuadroTexto"/>
          <p:cNvSpPr txBox="1"/>
          <p:nvPr/>
        </p:nvSpPr>
        <p:spPr>
          <a:xfrm>
            <a:off x="995283" y="5661248"/>
            <a:ext cx="11067645" cy="923330"/>
          </a:xfrm>
          <a:prstGeom prst="rect">
            <a:avLst/>
          </a:prstGeom>
          <a:noFill/>
        </p:spPr>
        <p:txBody>
          <a:bodyPr wrap="none" rtlCol="0">
            <a:spAutoFit/>
          </a:bodyPr>
          <a:lstStyle/>
          <a:p>
            <a:pPr algn="just"/>
            <a:r>
              <a:rPr lang="es-CO" dirty="0"/>
              <a:t>La mejor alternativa de localización es la zona A ya que obtuvo una puntuación de 5,88 , esto se debe a que </a:t>
            </a:r>
          </a:p>
          <a:p>
            <a:pPr algn="just"/>
            <a:r>
              <a:rPr lang="es-CO" dirty="0"/>
              <a:t>Tiene factores claves de éxito como son: la disponibilidad de materia prima, bajos costos laborales y bajos costos de </a:t>
            </a:r>
          </a:p>
          <a:p>
            <a:pPr algn="just"/>
            <a:r>
              <a:rPr lang="es-CO" dirty="0"/>
              <a:t>instalación</a:t>
            </a:r>
          </a:p>
        </p:txBody>
      </p:sp>
    </p:spTree>
    <p:extLst>
      <p:ext uri="{BB962C8B-B14F-4D97-AF65-F5344CB8AC3E}">
        <p14:creationId xmlns:p14="http://schemas.microsoft.com/office/powerpoint/2010/main" val="3866945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a:spLocks noGrp="1"/>
          </p:cNvSpPr>
          <p:nvPr>
            <p:ph type="title"/>
          </p:nvPr>
        </p:nvSpPr>
        <p:spPr>
          <a:xfrm>
            <a:off x="609600" y="274638"/>
            <a:ext cx="10972800" cy="778098"/>
          </a:xfrm>
        </p:spPr>
        <p:txBody>
          <a:bodyPr/>
          <a:lstStyle/>
          <a:p>
            <a:r>
              <a:rPr lang="es-CO" b="1" dirty="0">
                <a:solidFill>
                  <a:srgbClr val="000099"/>
                </a:solidFill>
              </a:rPr>
              <a:t>MÉTODO CUALITATIVO POR PUNTOS</a:t>
            </a:r>
          </a:p>
        </p:txBody>
      </p:sp>
      <p:sp>
        <p:nvSpPr>
          <p:cNvPr id="2" name="1 CuadroTexto"/>
          <p:cNvSpPr txBox="1"/>
          <p:nvPr/>
        </p:nvSpPr>
        <p:spPr>
          <a:xfrm>
            <a:off x="191344" y="1316760"/>
            <a:ext cx="11712624" cy="5016758"/>
          </a:xfrm>
          <a:prstGeom prst="rect">
            <a:avLst/>
          </a:prstGeom>
          <a:noFill/>
        </p:spPr>
        <p:txBody>
          <a:bodyPr wrap="square" rtlCol="0">
            <a:spAutoFit/>
          </a:bodyPr>
          <a:lstStyle/>
          <a:p>
            <a:pPr algn="just"/>
            <a:r>
              <a:rPr lang="es-CO" sz="1600" dirty="0">
                <a:latin typeface="Verdana" pitchFamily="34" charset="0"/>
                <a:ea typeface="Verdana" pitchFamily="34" charset="0"/>
                <a:cs typeface="Verdana" pitchFamily="34" charset="0"/>
              </a:rPr>
              <a:t>Consiste en asignar factores cuantitativos a una serie de factores que se consideran relevantes para la localización Esto conduce a una comparación cuantitativa de diferentes sitios. El método permite ponderar factores de preferencia para el investigador al tomar la decisión. Se sugiere aplicar el siguiente procedimiento para jerarquizar los factores cualitativos. </a:t>
            </a:r>
          </a:p>
          <a:p>
            <a:pPr algn="just"/>
            <a:endParaRPr lang="es-CO" sz="1600" dirty="0">
              <a:latin typeface="Verdana" pitchFamily="34" charset="0"/>
              <a:ea typeface="Verdana" pitchFamily="34" charset="0"/>
              <a:cs typeface="Verdana" pitchFamily="34" charset="0"/>
            </a:endParaRPr>
          </a:p>
          <a:p>
            <a:r>
              <a:rPr lang="es-CO" sz="1600" dirty="0">
                <a:latin typeface="Verdana" pitchFamily="34" charset="0"/>
                <a:ea typeface="Verdana" pitchFamily="34" charset="0"/>
                <a:cs typeface="Verdana" pitchFamily="34" charset="0"/>
              </a:rPr>
              <a:t>1. Desarrollar una lista de factores relevantes. </a:t>
            </a:r>
          </a:p>
          <a:p>
            <a:endParaRPr lang="es-CO" sz="1600" dirty="0">
              <a:latin typeface="Verdana" pitchFamily="34" charset="0"/>
              <a:ea typeface="Verdana" pitchFamily="34" charset="0"/>
              <a:cs typeface="Verdana" pitchFamily="34" charset="0"/>
            </a:endParaRPr>
          </a:p>
          <a:p>
            <a:r>
              <a:rPr lang="es-CO" sz="1600" dirty="0">
                <a:latin typeface="Verdana" pitchFamily="34" charset="0"/>
                <a:ea typeface="Verdana" pitchFamily="34" charset="0"/>
                <a:cs typeface="Verdana" pitchFamily="34" charset="0"/>
              </a:rPr>
              <a:t>2. Asignar un peso a cada factor para indicar su importancia relativa (los pesos deben sumar I 00), y el peso asignado dependerá exclusivamente del criterio del investigador. </a:t>
            </a:r>
          </a:p>
          <a:p>
            <a:br>
              <a:rPr lang="es-CO" sz="1600" dirty="0">
                <a:latin typeface="Verdana" pitchFamily="34" charset="0"/>
                <a:ea typeface="Verdana" pitchFamily="34" charset="0"/>
                <a:cs typeface="Verdana" pitchFamily="34" charset="0"/>
              </a:rPr>
            </a:br>
            <a:r>
              <a:rPr lang="es-CO" sz="1600" dirty="0">
                <a:latin typeface="Verdana" pitchFamily="34" charset="0"/>
                <a:ea typeface="Verdana" pitchFamily="34" charset="0"/>
                <a:cs typeface="Verdana" pitchFamily="34" charset="0"/>
              </a:rPr>
              <a:t>3. Asignar una escala común a cada factor (por ejemplo, de 0 a 10) y elegir cualquier mínimo </a:t>
            </a:r>
          </a:p>
          <a:p>
            <a:br>
              <a:rPr lang="es-CO" sz="1600" dirty="0">
                <a:latin typeface="Verdana" pitchFamily="34" charset="0"/>
                <a:ea typeface="Verdana" pitchFamily="34" charset="0"/>
                <a:cs typeface="Verdana" pitchFamily="34" charset="0"/>
              </a:rPr>
            </a:br>
            <a:r>
              <a:rPr lang="es-CO" sz="1600" dirty="0">
                <a:latin typeface="Verdana" pitchFamily="34" charset="0"/>
                <a:ea typeface="Verdana" pitchFamily="34" charset="0"/>
                <a:cs typeface="Verdana" pitchFamily="34" charset="0"/>
              </a:rPr>
              <a:t>4. Calificar a cada sitio potencial de acuerdo con la escala designada y multiplicar la calificación por el peso </a:t>
            </a:r>
          </a:p>
          <a:p>
            <a:br>
              <a:rPr lang="es-CO" sz="1600" dirty="0">
                <a:latin typeface="Verdana" pitchFamily="34" charset="0"/>
                <a:ea typeface="Verdana" pitchFamily="34" charset="0"/>
                <a:cs typeface="Verdana" pitchFamily="34" charset="0"/>
              </a:rPr>
            </a:br>
            <a:r>
              <a:rPr lang="es-CO" sz="1600" dirty="0">
                <a:latin typeface="Verdana" pitchFamily="34" charset="0"/>
                <a:ea typeface="Verdana" pitchFamily="34" charset="0"/>
                <a:cs typeface="Verdana" pitchFamily="34" charset="0"/>
              </a:rPr>
              <a:t>5. Sumar la puntación de cada sitio y elegir el de máxima puntuación</a:t>
            </a:r>
          </a:p>
          <a:p>
            <a:pPr algn="just"/>
            <a:endParaRPr lang="es-CO" sz="1600" dirty="0">
              <a:latin typeface="Verdana" pitchFamily="34" charset="0"/>
              <a:ea typeface="Verdana" pitchFamily="34" charset="0"/>
              <a:cs typeface="Verdana" pitchFamily="34" charset="0"/>
            </a:endParaRPr>
          </a:p>
          <a:p>
            <a:pPr algn="just"/>
            <a:br>
              <a:rPr lang="es-CO" sz="1600" dirty="0">
                <a:latin typeface="Verdana" pitchFamily="34" charset="0"/>
                <a:ea typeface="Verdana" pitchFamily="34" charset="0"/>
                <a:cs typeface="Verdana" pitchFamily="34" charset="0"/>
              </a:rPr>
            </a:br>
            <a:endParaRPr lang="es-CO" sz="1600" dirty="0">
              <a:latin typeface="Verdana" pitchFamily="34" charset="0"/>
              <a:ea typeface="Verdana" pitchFamily="34" charset="0"/>
              <a:cs typeface="Verdana" pitchFamily="34" charset="0"/>
            </a:endParaRPr>
          </a:p>
          <a:p>
            <a:pPr algn="just"/>
            <a:endParaRPr lang="es-CO" sz="1600" dirty="0">
              <a:latin typeface="Verdana" pitchFamily="34" charset="0"/>
              <a:ea typeface="Verdana" pitchFamily="34" charset="0"/>
              <a:cs typeface="Verdana" pitchFamily="34" charset="0"/>
            </a:endParaRPr>
          </a:p>
          <a:p>
            <a:pPr algn="just"/>
            <a:r>
              <a:rPr lang="es-CO" sz="1600" dirty="0">
                <a:latin typeface="Verdana" pitchFamily="34" charset="0"/>
                <a:ea typeface="Verdana" pitchFamily="34" charset="0"/>
                <a:cs typeface="Verdana" pitchFamily="34" charset="0"/>
              </a:rPr>
              <a:t>     FUENTE: Tomado de </a:t>
            </a:r>
            <a:r>
              <a:rPr lang="es-CO" sz="1600" dirty="0">
                <a:latin typeface="Verdana" pitchFamily="34" charset="0"/>
                <a:ea typeface="Verdana" pitchFamily="34" charset="0"/>
                <a:cs typeface="Verdana" pitchFamily="34" charset="0"/>
                <a:hlinkClick r:id="rId2"/>
              </a:rPr>
              <a:t>http://proyectos.ingenotas.com/2014/02/metodo-cualitativo-por-puntos-ventajas.html</a:t>
            </a:r>
            <a:r>
              <a:rPr lang="es-CO" sz="1600" dirty="0">
                <a:latin typeface="Verdana" pitchFamily="34" charset="0"/>
                <a:ea typeface="Verdana" pitchFamily="34" charset="0"/>
                <a:cs typeface="Verdana" pitchFamily="34" charset="0"/>
              </a:rPr>
              <a:t> </a:t>
            </a:r>
          </a:p>
        </p:txBody>
      </p:sp>
    </p:spTree>
    <p:extLst>
      <p:ext uri="{BB962C8B-B14F-4D97-AF65-F5344CB8AC3E}">
        <p14:creationId xmlns:p14="http://schemas.microsoft.com/office/powerpoint/2010/main" val="2689734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408" y="1552674"/>
            <a:ext cx="11089505" cy="4108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ítulo 1"/>
          <p:cNvSpPr>
            <a:spLocks noGrp="1"/>
          </p:cNvSpPr>
          <p:nvPr>
            <p:ph type="title"/>
          </p:nvPr>
        </p:nvSpPr>
        <p:spPr>
          <a:xfrm>
            <a:off x="609600" y="274638"/>
            <a:ext cx="10972800" cy="850106"/>
          </a:xfrm>
        </p:spPr>
        <p:txBody>
          <a:bodyPr/>
          <a:lstStyle/>
          <a:p>
            <a:r>
              <a:rPr lang="es-CO" b="1" dirty="0">
                <a:solidFill>
                  <a:srgbClr val="000099"/>
                </a:solidFill>
              </a:rPr>
              <a:t>LOCALIZACIÓN ÓPTIMA DE LA PLANTA</a:t>
            </a:r>
          </a:p>
        </p:txBody>
      </p:sp>
      <p:sp>
        <p:nvSpPr>
          <p:cNvPr id="4" name="3 CuadroTexto"/>
          <p:cNvSpPr txBox="1"/>
          <p:nvPr/>
        </p:nvSpPr>
        <p:spPr>
          <a:xfrm>
            <a:off x="911424" y="5659247"/>
            <a:ext cx="10513168" cy="923330"/>
          </a:xfrm>
          <a:prstGeom prst="rect">
            <a:avLst/>
          </a:prstGeom>
          <a:noFill/>
        </p:spPr>
        <p:txBody>
          <a:bodyPr wrap="square" rtlCol="0">
            <a:spAutoFit/>
          </a:bodyPr>
          <a:lstStyle/>
          <a:p>
            <a:pPr algn="just"/>
            <a:r>
              <a:rPr lang="es-CO" dirty="0"/>
              <a:t>La mejor alternativa de localización es la zona B ya que obtuvo un puntaje de 5,65; </a:t>
            </a:r>
            <a:r>
              <a:rPr lang="es-CO" dirty="0" err="1"/>
              <a:t>ésto</a:t>
            </a:r>
            <a:r>
              <a:rPr lang="es-CO" dirty="0"/>
              <a:t> se debe a que tiene factores claves como son: la distribución logística, la disponibilidad de mano de obra y la disponibilidad de materia prima.</a:t>
            </a:r>
          </a:p>
        </p:txBody>
      </p:sp>
    </p:spTree>
    <p:extLst>
      <p:ext uri="{BB962C8B-B14F-4D97-AF65-F5344CB8AC3E}">
        <p14:creationId xmlns:p14="http://schemas.microsoft.com/office/powerpoint/2010/main" val="4045670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23392" y="116632"/>
            <a:ext cx="10972800" cy="1143000"/>
          </a:xfrm>
        </p:spPr>
        <p:txBody>
          <a:bodyPr/>
          <a:lstStyle/>
          <a:p>
            <a:r>
              <a:rPr lang="es-CO" b="1" dirty="0">
                <a:solidFill>
                  <a:srgbClr val="000099"/>
                </a:solidFill>
              </a:rPr>
              <a:t>DEMANDA ÓPTIMA DEL PROYECTO</a:t>
            </a:r>
          </a:p>
        </p:txBody>
      </p:sp>
      <p:sp>
        <p:nvSpPr>
          <p:cNvPr id="5" name="4 CuadroTexto"/>
          <p:cNvSpPr txBox="1"/>
          <p:nvPr/>
        </p:nvSpPr>
        <p:spPr>
          <a:xfrm>
            <a:off x="263352" y="1165205"/>
            <a:ext cx="11712624" cy="4816703"/>
          </a:xfrm>
          <a:prstGeom prst="rect">
            <a:avLst/>
          </a:prstGeom>
          <a:noFill/>
        </p:spPr>
        <p:txBody>
          <a:bodyPr wrap="square" rtlCol="0">
            <a:spAutoFit/>
          </a:bodyPr>
          <a:lstStyle/>
          <a:p>
            <a:pPr algn="just"/>
            <a:r>
              <a:rPr lang="es-CO" sz="1700" dirty="0"/>
              <a:t>El tamaño del proyecto,  expresa la cantidad de producto  o servicio, por unidad de tiempo, por esto lo podemos definir en </a:t>
            </a:r>
          </a:p>
          <a:p>
            <a:pPr algn="just"/>
            <a:r>
              <a:rPr lang="es-CO" sz="1700" dirty="0"/>
              <a:t>función de su capacidad  de producción de bienes o prestación de servicios, durante un período de tiempo determinado.</a:t>
            </a:r>
          </a:p>
          <a:p>
            <a:pPr algn="just"/>
            <a:endParaRPr lang="es-CO" sz="1700" dirty="0"/>
          </a:p>
          <a:p>
            <a:pPr algn="just"/>
            <a:r>
              <a:rPr lang="es-CO" sz="1700" dirty="0"/>
              <a:t>ay que tener en cuenta la naturaleza del proyecto para definir el tamaño; como el caso de un proyecto de transporte de pasajeros: sería la capacidad para transportar mil pasajeros por día utilizando diez vehículos; y la capacidad  de un estadio deportivo sería: el número de sillas disponibles para los espectadores.</a:t>
            </a:r>
          </a:p>
          <a:p>
            <a:pPr algn="just"/>
            <a:endParaRPr lang="es-CO" sz="1700" dirty="0"/>
          </a:p>
          <a:p>
            <a:pPr algn="just"/>
            <a:r>
              <a:rPr lang="es-CO" sz="1700" dirty="0"/>
              <a:t>Debemos buscar siempre un tamaño óptimo, es decir el </a:t>
            </a:r>
            <a:r>
              <a:rPr lang="es-CO" sz="1700" dirty="0" err="1"/>
              <a:t>lque</a:t>
            </a:r>
            <a:r>
              <a:rPr lang="es-CO" sz="1700" dirty="0"/>
              <a:t> asegure la más alta rentabilidad desde el punto de vista privado o la mayor diferencia entre beneficios y costos sociales.</a:t>
            </a:r>
          </a:p>
          <a:p>
            <a:pPr algn="just"/>
            <a:endParaRPr lang="es-CO" sz="1700" dirty="0"/>
          </a:p>
          <a:p>
            <a:pPr algn="just"/>
            <a:r>
              <a:rPr lang="es-CO" sz="1700" b="1" dirty="0"/>
              <a:t>VARIABLES DEL TAMAÑO DEL PROYECTO</a:t>
            </a:r>
          </a:p>
          <a:p>
            <a:pPr algn="just"/>
            <a:endParaRPr lang="es-CO" sz="1700" dirty="0"/>
          </a:p>
          <a:p>
            <a:pPr algn="just"/>
            <a:r>
              <a:rPr lang="es-CO" sz="1700" dirty="0"/>
              <a:t>Los Factores que determinan o condicionan el tamaño de una planta que se implementará con la propuesta del proyecto, es una tarea limitada por las relaciones recíprocas que existen entre el tamaño y la demanda, la disponibilidad de las materias primas, la tecnología, los equipos y el financiamiento. Todos estos factores contribuyen a simplificar el proceso de aproximaciones sucesivas, y las alternativas de tamaño entre las cuáles se puede escoger, se van reduciendo a medida que se examinan los factores condicionantes mencionados, y que detallaremos a continuación.</a:t>
            </a:r>
          </a:p>
          <a:p>
            <a:pPr algn="just"/>
            <a:endParaRPr lang="es-CO" dirty="0"/>
          </a:p>
        </p:txBody>
      </p:sp>
    </p:spTree>
    <p:extLst>
      <p:ext uri="{BB962C8B-B14F-4D97-AF65-F5344CB8AC3E}">
        <p14:creationId xmlns:p14="http://schemas.microsoft.com/office/powerpoint/2010/main" val="4045670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23392" y="116632"/>
            <a:ext cx="10972800" cy="1143000"/>
          </a:xfrm>
        </p:spPr>
        <p:txBody>
          <a:bodyPr/>
          <a:lstStyle/>
          <a:p>
            <a:r>
              <a:rPr lang="es-CO" b="1" dirty="0">
                <a:solidFill>
                  <a:srgbClr val="000099"/>
                </a:solidFill>
              </a:rPr>
              <a:t>DEMANDA ÓPTIMA DEL PROYECTO</a:t>
            </a:r>
          </a:p>
        </p:txBody>
      </p:sp>
      <p:sp>
        <p:nvSpPr>
          <p:cNvPr id="5" name="4 CuadroTexto"/>
          <p:cNvSpPr txBox="1"/>
          <p:nvPr/>
        </p:nvSpPr>
        <p:spPr>
          <a:xfrm>
            <a:off x="119337" y="992465"/>
            <a:ext cx="11953328" cy="5586145"/>
          </a:xfrm>
          <a:prstGeom prst="rect">
            <a:avLst/>
          </a:prstGeom>
          <a:noFill/>
        </p:spPr>
        <p:txBody>
          <a:bodyPr wrap="square" rtlCol="0">
            <a:spAutoFit/>
          </a:bodyPr>
          <a:lstStyle/>
          <a:p>
            <a:pPr algn="just"/>
            <a:endParaRPr lang="es-CO" sz="1700" b="1" dirty="0"/>
          </a:p>
          <a:p>
            <a:pPr algn="just"/>
            <a:r>
              <a:rPr lang="es-CO" sz="1700" b="1" dirty="0"/>
              <a:t>DIMENSIONES DEL MERCADO</a:t>
            </a:r>
          </a:p>
          <a:p>
            <a:pPr algn="just"/>
            <a:endParaRPr lang="es-CO" sz="1700" dirty="0"/>
          </a:p>
          <a:p>
            <a:pPr algn="just"/>
            <a:r>
              <a:rPr lang="es-CO" sz="1700" dirty="0"/>
              <a:t>De acuerdo al segmento del mercado que se obtuvo mediante el estudio de mercado, se determina la cantidad de productos a producir y así el tamaño de la planta, se puede también basar tanto en la demanda presente y en la futura.</a:t>
            </a:r>
          </a:p>
          <a:p>
            <a:pPr algn="just"/>
            <a:endParaRPr lang="es-CO" sz="1700" dirty="0"/>
          </a:p>
          <a:p>
            <a:pPr algn="just"/>
            <a:r>
              <a:rPr lang="es-CO" sz="1700" b="1" dirty="0"/>
              <a:t>LA CAPACIDAD DE FINANCIAMIENTO</a:t>
            </a:r>
          </a:p>
          <a:p>
            <a:pPr algn="just"/>
            <a:endParaRPr lang="es-CO" sz="1700" dirty="0"/>
          </a:p>
          <a:p>
            <a:pPr algn="just"/>
            <a:r>
              <a:rPr lang="es-CO" sz="1700" dirty="0"/>
              <a:t>Esta Segunda variable que condiciona el tamaño del proyecto, es la capacidad de financiamiento de los gestores del proyecto; hay que tener en cuenta que el proyecto no solo se puede desarrollar con recursos propios, sino que también es posible acudir a las diferentes fuentes de financiamiento que propone el sector financiero del país, pero siempre teniendo en cuenta las siguientes consideraciones:</a:t>
            </a:r>
          </a:p>
          <a:p>
            <a:pPr algn="just"/>
            <a:endParaRPr lang="es-CO" sz="1700" dirty="0"/>
          </a:p>
          <a:p>
            <a:pPr algn="just"/>
            <a:r>
              <a:rPr lang="es-CO" sz="1700" dirty="0"/>
              <a:t>Cuando los recursos propios y los financiados no son suficientes para atender las exigencias del tamaño mínimo a producir, se hace imposible la implementación y operación del proyecto.</a:t>
            </a:r>
          </a:p>
          <a:p>
            <a:pPr algn="just"/>
            <a:endParaRPr lang="es-CO" sz="1700" dirty="0"/>
          </a:p>
          <a:p>
            <a:pPr algn="just"/>
            <a:r>
              <a:rPr lang="es-CO" sz="1700" dirty="0"/>
              <a:t>Cuando estos dos recursos (los propios y los del crédito), solo responden por un tamaño mínimo, se puede aceptar, la implementación y operación del proyecto, pero por etapas, iniciando con un tamaño mínimo ye irlo ampliando en transcurso del tiempo, en la medida que se vayan superando los problemas financieros.</a:t>
            </a:r>
          </a:p>
          <a:p>
            <a:pPr algn="just"/>
            <a:endParaRPr lang="es-CO" sz="1700" dirty="0"/>
          </a:p>
          <a:p>
            <a:pPr algn="just"/>
            <a:r>
              <a:rPr lang="es-CO" sz="1700" dirty="0"/>
              <a:t>Cuando los recursos financieros son suficientes y facilitan la selección del mejor tamaño, se tendrá una financiación cómoda y confiable del proyecto.</a:t>
            </a:r>
          </a:p>
        </p:txBody>
      </p:sp>
    </p:spTree>
    <p:extLst>
      <p:ext uri="{BB962C8B-B14F-4D97-AF65-F5344CB8AC3E}">
        <p14:creationId xmlns:p14="http://schemas.microsoft.com/office/powerpoint/2010/main" val="3469511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23392" y="116632"/>
            <a:ext cx="10972800" cy="1143000"/>
          </a:xfrm>
        </p:spPr>
        <p:txBody>
          <a:bodyPr/>
          <a:lstStyle/>
          <a:p>
            <a:r>
              <a:rPr lang="es-CO" b="1" dirty="0">
                <a:solidFill>
                  <a:srgbClr val="000099"/>
                </a:solidFill>
              </a:rPr>
              <a:t>DEMANDA ÓPTIMA DEL PROYECTO</a:t>
            </a:r>
          </a:p>
        </p:txBody>
      </p:sp>
      <p:sp>
        <p:nvSpPr>
          <p:cNvPr id="5" name="4 CuadroTexto"/>
          <p:cNvSpPr txBox="1"/>
          <p:nvPr/>
        </p:nvSpPr>
        <p:spPr>
          <a:xfrm>
            <a:off x="119337" y="1118349"/>
            <a:ext cx="11953328" cy="5016758"/>
          </a:xfrm>
          <a:prstGeom prst="rect">
            <a:avLst/>
          </a:prstGeom>
          <a:noFill/>
        </p:spPr>
        <p:txBody>
          <a:bodyPr wrap="square" rtlCol="0">
            <a:spAutoFit/>
          </a:bodyPr>
          <a:lstStyle/>
          <a:p>
            <a:pPr algn="just"/>
            <a:r>
              <a:rPr lang="es-CO" sz="1600" b="1" dirty="0"/>
              <a:t>LA TECNOLOGÍA UTILIZADA</a:t>
            </a:r>
          </a:p>
          <a:p>
            <a:pPr algn="just"/>
            <a:r>
              <a:rPr lang="es-CO" sz="1600" dirty="0"/>
              <a:t>Esta otra variable condicionante del tamaño, tiene que ver con ciertos procesos tecnológicos que exigen un volumen mínimo de producción que puede ser superior las necesidades y programación del proyecto, de tal manera que los costos de operación pueden resultar muy elevados, que no permiten la implementación y por ende la operación del proyecto.</a:t>
            </a:r>
          </a:p>
          <a:p>
            <a:pPr algn="just"/>
            <a:endParaRPr lang="es-CO" sz="1600" dirty="0"/>
          </a:p>
          <a:p>
            <a:pPr algn="just"/>
            <a:r>
              <a:rPr lang="es-CO" sz="1600" b="1" dirty="0"/>
              <a:t>DISPONIBILIDAD DE INSUMOS</a:t>
            </a:r>
          </a:p>
          <a:p>
            <a:pPr algn="just"/>
            <a:r>
              <a:rPr lang="es-CO" sz="1600" dirty="0"/>
              <a:t>Esta otra variable determinante del tamaño, y nos obliga analizar la oferta actual y futura de los insumos más importantes, con el fin de conocer  a corto y largo plazo su existencia; a demás se debe  evaluar la posibilidad de emplear insumos sustitutos si el proyecto lo permite.</a:t>
            </a:r>
          </a:p>
          <a:p>
            <a:pPr algn="just"/>
            <a:r>
              <a:rPr lang="es-CO" sz="1600" dirty="0"/>
              <a:t>Por lo tanto, debemos tener seguridad de conseguir las materias primas en cualquier momento para darle confiabilidad al proyecto y así poder definir con toda seguridad su tamaño.</a:t>
            </a:r>
          </a:p>
          <a:p>
            <a:pPr algn="just"/>
            <a:endParaRPr lang="es-CO" sz="1600" dirty="0"/>
          </a:p>
          <a:p>
            <a:pPr algn="just"/>
            <a:r>
              <a:rPr lang="es-CO" sz="1600" b="1" dirty="0"/>
              <a:t>LA DISTRIBUCIÓN GEOGRÁFICA DEL MERCADO</a:t>
            </a:r>
          </a:p>
          <a:p>
            <a:pPr algn="just"/>
            <a:r>
              <a:rPr lang="es-CO" sz="1600" dirty="0"/>
              <a:t>Igualmente, se debe tener en cuenta la ubicación geográfica de los consumidores y / clientes del proyecto, para pensar en:</a:t>
            </a:r>
          </a:p>
          <a:p>
            <a:pPr algn="just"/>
            <a:r>
              <a:rPr lang="es-CO" sz="1600" dirty="0"/>
              <a:t>Una sola unidad productiva para atender todo el mercado.</a:t>
            </a:r>
          </a:p>
          <a:p>
            <a:pPr algn="just"/>
            <a:r>
              <a:rPr lang="es-CO" sz="1600" dirty="0"/>
              <a:t>Varias unidades de producción, ubicadas en diferentes zonas geográficas para atender las necesidades de cada una.</a:t>
            </a:r>
          </a:p>
          <a:p>
            <a:pPr algn="just"/>
            <a:r>
              <a:rPr lang="es-CO" sz="1600" dirty="0"/>
              <a:t>Una unidad productiva central, y varias unidades satélites de menor tamaño para cubrir con las exigencias del mercado en las diferentes zonas.</a:t>
            </a:r>
          </a:p>
          <a:p>
            <a:pPr algn="just"/>
            <a:endParaRPr lang="es-CO" sz="1600" dirty="0"/>
          </a:p>
          <a:p>
            <a:pPr algn="just"/>
            <a:r>
              <a:rPr lang="es-CO" sz="1600" b="1" dirty="0"/>
              <a:t>VARIABLES ESTACIONALES</a:t>
            </a:r>
            <a:endParaRPr lang="es-CO" sz="1600" dirty="0"/>
          </a:p>
          <a:p>
            <a:pPr algn="just"/>
            <a:r>
              <a:rPr lang="es-CO" sz="1600" dirty="0"/>
              <a:t>Tiene que ver con el comportamiento de la demanda de los insumos principales en el trascurso del año, provocada por períodos de lluvia o sequía; también las marcadas por las festividades tradicionales, como por ejemplo la semana santa y la navidad entre otras.</a:t>
            </a:r>
          </a:p>
        </p:txBody>
      </p:sp>
      <p:sp>
        <p:nvSpPr>
          <p:cNvPr id="3" name="2 CuadroTexto"/>
          <p:cNvSpPr txBox="1"/>
          <p:nvPr/>
        </p:nvSpPr>
        <p:spPr>
          <a:xfrm>
            <a:off x="479376" y="6199707"/>
            <a:ext cx="11743343" cy="307777"/>
          </a:xfrm>
          <a:prstGeom prst="rect">
            <a:avLst/>
          </a:prstGeom>
          <a:noFill/>
        </p:spPr>
        <p:txBody>
          <a:bodyPr wrap="none" rtlCol="0">
            <a:spAutoFit/>
          </a:bodyPr>
          <a:lstStyle/>
          <a:p>
            <a:r>
              <a:rPr lang="es-CO" sz="1400" dirty="0"/>
              <a:t>FUENTE: Tomado de  </a:t>
            </a:r>
            <a:r>
              <a:rPr lang="es-CO" sz="1400" dirty="0">
                <a:hlinkClick r:id="rId2"/>
              </a:rPr>
              <a:t>http://soda.ustadistancia.edu.co/enlinea/Proyecto%20de%20Grado%20Fase%20I%20(Segundo%20Momento)/tamao_del_proyecto.html</a:t>
            </a:r>
            <a:r>
              <a:rPr lang="es-CO" sz="1400" dirty="0"/>
              <a:t> </a:t>
            </a:r>
          </a:p>
        </p:txBody>
      </p:sp>
    </p:spTree>
    <p:extLst>
      <p:ext uri="{BB962C8B-B14F-4D97-AF65-F5344CB8AC3E}">
        <p14:creationId xmlns:p14="http://schemas.microsoft.com/office/powerpoint/2010/main" val="3992084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a:solidFill>
                  <a:srgbClr val="000099"/>
                </a:solidFill>
              </a:rPr>
              <a:t>DEMANDA ÓPTIMA DEL PROYECTO</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391" y="1700808"/>
            <a:ext cx="11060975"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911424" y="1300118"/>
            <a:ext cx="1113575" cy="369332"/>
          </a:xfrm>
          <a:prstGeom prst="rect">
            <a:avLst/>
          </a:prstGeom>
          <a:noFill/>
        </p:spPr>
        <p:txBody>
          <a:bodyPr wrap="none" rtlCol="0">
            <a:spAutoFit/>
          </a:bodyPr>
          <a:lstStyle/>
          <a:p>
            <a:r>
              <a:rPr lang="es-CO" b="1" i="1" dirty="0">
                <a:solidFill>
                  <a:srgbClr val="000099"/>
                </a:solidFill>
              </a:rPr>
              <a:t>EJEMPLO </a:t>
            </a:r>
          </a:p>
        </p:txBody>
      </p:sp>
    </p:spTree>
    <p:extLst>
      <p:ext uri="{BB962C8B-B14F-4D97-AF65-F5344CB8AC3E}">
        <p14:creationId xmlns:p14="http://schemas.microsoft.com/office/powerpoint/2010/main" val="141134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423" y="1669450"/>
            <a:ext cx="10700281" cy="4034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ítulo 1"/>
          <p:cNvSpPr>
            <a:spLocks noGrp="1"/>
          </p:cNvSpPr>
          <p:nvPr>
            <p:ph type="title"/>
          </p:nvPr>
        </p:nvSpPr>
        <p:spPr>
          <a:xfrm>
            <a:off x="638904" y="131163"/>
            <a:ext cx="10972800" cy="1143000"/>
          </a:xfrm>
        </p:spPr>
        <p:txBody>
          <a:bodyPr>
            <a:normAutofit/>
          </a:bodyPr>
          <a:lstStyle/>
          <a:p>
            <a:r>
              <a:rPr lang="es-CO" sz="4000" b="1" dirty="0">
                <a:solidFill>
                  <a:srgbClr val="000099"/>
                </a:solidFill>
              </a:rPr>
              <a:t>DEMANDA ÓPTIMA DEL PROYECTO</a:t>
            </a:r>
          </a:p>
        </p:txBody>
      </p:sp>
      <p:sp>
        <p:nvSpPr>
          <p:cNvPr id="6" name="5 CuadroTexto"/>
          <p:cNvSpPr txBox="1"/>
          <p:nvPr/>
        </p:nvSpPr>
        <p:spPr>
          <a:xfrm>
            <a:off x="911423" y="1300118"/>
            <a:ext cx="2437911" cy="369332"/>
          </a:xfrm>
          <a:prstGeom prst="rect">
            <a:avLst/>
          </a:prstGeom>
          <a:noFill/>
        </p:spPr>
        <p:txBody>
          <a:bodyPr wrap="none" rtlCol="0">
            <a:spAutoFit/>
          </a:bodyPr>
          <a:lstStyle/>
          <a:p>
            <a:r>
              <a:rPr lang="es-CO" dirty="0"/>
              <a:t>SOLUCIÓN AL EJERCICIO</a:t>
            </a:r>
          </a:p>
        </p:txBody>
      </p:sp>
    </p:spTree>
    <p:extLst>
      <p:ext uri="{BB962C8B-B14F-4D97-AF65-F5344CB8AC3E}">
        <p14:creationId xmlns:p14="http://schemas.microsoft.com/office/powerpoint/2010/main" val="4045670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a:solidFill>
                  <a:srgbClr val="000099"/>
                </a:solidFill>
              </a:rPr>
              <a:t>DEMANDA ÓPTIMA DEL PROYECTO</a:t>
            </a:r>
          </a:p>
        </p:txBody>
      </p:sp>
      <p:sp>
        <p:nvSpPr>
          <p:cNvPr id="3" name="2 CuadroTexto"/>
          <p:cNvSpPr txBox="1"/>
          <p:nvPr/>
        </p:nvSpPr>
        <p:spPr>
          <a:xfrm>
            <a:off x="911424" y="1300118"/>
            <a:ext cx="2912400" cy="369332"/>
          </a:xfrm>
          <a:prstGeom prst="rect">
            <a:avLst/>
          </a:prstGeom>
          <a:noFill/>
        </p:spPr>
        <p:txBody>
          <a:bodyPr wrap="none" rtlCol="0">
            <a:spAutoFit/>
          </a:bodyPr>
          <a:lstStyle/>
          <a:p>
            <a:r>
              <a:rPr lang="es-CO" b="1" i="1" dirty="0">
                <a:solidFill>
                  <a:srgbClr val="000099"/>
                </a:solidFill>
              </a:rPr>
              <a:t>EXPLICACIÓN DEL EJERCICIO.</a:t>
            </a:r>
          </a:p>
        </p:txBody>
      </p:sp>
      <p:sp>
        <p:nvSpPr>
          <p:cNvPr id="6" name="5 CuadroTexto"/>
          <p:cNvSpPr txBox="1"/>
          <p:nvPr/>
        </p:nvSpPr>
        <p:spPr>
          <a:xfrm>
            <a:off x="911424" y="1855012"/>
            <a:ext cx="11098861" cy="2970044"/>
          </a:xfrm>
          <a:prstGeom prst="rect">
            <a:avLst/>
          </a:prstGeom>
          <a:noFill/>
        </p:spPr>
        <p:txBody>
          <a:bodyPr wrap="square" rtlCol="0">
            <a:spAutoFit/>
          </a:bodyPr>
          <a:lstStyle/>
          <a:p>
            <a:r>
              <a:rPr lang="es-CO" sz="1700" b="1" dirty="0"/>
              <a:t>DEMANDA POTENCIAL DE CLIENTES </a:t>
            </a:r>
            <a:r>
              <a:rPr lang="es-CO" sz="1700" dirty="0"/>
              <a:t>= NÚMERO TOTAL DE HABITANTES X EL PORCENTAJE ASIGNADO A CADA LÍNEA DE PRODUCTOS</a:t>
            </a:r>
          </a:p>
          <a:p>
            <a:endParaRPr lang="es-CO" sz="1700" dirty="0"/>
          </a:p>
          <a:p>
            <a:r>
              <a:rPr lang="es-CO" sz="1700" b="1" dirty="0"/>
              <a:t>CONSUMO PERCAPITA ANUAL =  </a:t>
            </a:r>
            <a:r>
              <a:rPr lang="es-CO" sz="1700" dirty="0"/>
              <a:t>ES ASIGNADO DE ACUERDO AL ESTUDIO DE MERCADO (LA INFORMACIÓN LA DA EL EJERCICIO)</a:t>
            </a:r>
          </a:p>
          <a:p>
            <a:endParaRPr lang="es-CO" sz="1700" dirty="0"/>
          </a:p>
          <a:p>
            <a:r>
              <a:rPr lang="es-CO" sz="1700" b="1" dirty="0"/>
              <a:t>DEMANDA POTENCIAL EN VENTAS =  </a:t>
            </a:r>
            <a:r>
              <a:rPr lang="es-CO" sz="1700" dirty="0"/>
              <a:t>DEMANDA POTENCIAL DE CLIENTES X EL PRECIO DE VENTA PROMEDIO X CONSUMO </a:t>
            </a:r>
          </a:p>
          <a:p>
            <a:r>
              <a:rPr lang="es-CO" sz="1700" dirty="0"/>
              <a:t>PERCAPITA ANUAL.</a:t>
            </a:r>
          </a:p>
          <a:p>
            <a:endParaRPr lang="es-CO" sz="1700" dirty="0"/>
          </a:p>
          <a:p>
            <a:r>
              <a:rPr lang="es-CO" sz="1700" dirty="0"/>
              <a:t>DEMANDA POTENCIAL PARA EL PROYECTO =  DEMANDA POTENCIAL EN VENTAS X OBJETIVO DE PARTICIPACIÓN DEL PROYECTO</a:t>
            </a:r>
          </a:p>
        </p:txBody>
      </p:sp>
    </p:spTree>
    <p:extLst>
      <p:ext uri="{BB962C8B-B14F-4D97-AF65-F5344CB8AC3E}">
        <p14:creationId xmlns:p14="http://schemas.microsoft.com/office/powerpoint/2010/main" val="2403501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38904" y="131163"/>
            <a:ext cx="10972800" cy="849565"/>
          </a:xfrm>
        </p:spPr>
        <p:txBody>
          <a:bodyPr>
            <a:normAutofit/>
          </a:bodyPr>
          <a:lstStyle/>
          <a:p>
            <a:r>
              <a:rPr lang="es-CO" sz="4000" b="1" dirty="0">
                <a:solidFill>
                  <a:srgbClr val="000099"/>
                </a:solidFill>
              </a:rPr>
              <a:t>PRONÓSTICO DE VENTAS</a:t>
            </a:r>
          </a:p>
        </p:txBody>
      </p:sp>
      <p:sp>
        <p:nvSpPr>
          <p:cNvPr id="5" name="4 CuadroTexto"/>
          <p:cNvSpPr txBox="1"/>
          <p:nvPr/>
        </p:nvSpPr>
        <p:spPr>
          <a:xfrm>
            <a:off x="526311" y="1700808"/>
            <a:ext cx="11161240" cy="3785652"/>
          </a:xfrm>
          <a:prstGeom prst="rect">
            <a:avLst/>
          </a:prstGeom>
          <a:noFill/>
        </p:spPr>
        <p:txBody>
          <a:bodyPr wrap="square" rtlCol="0">
            <a:spAutoFit/>
          </a:bodyPr>
          <a:lstStyle/>
          <a:p>
            <a:pPr lvl="0" algn="just"/>
            <a:r>
              <a:rPr lang="es-CO" sz="1600" dirty="0">
                <a:latin typeface="Verdana" pitchFamily="34" charset="0"/>
                <a:ea typeface="Verdana" pitchFamily="34" charset="0"/>
                <a:cs typeface="Verdana" pitchFamily="34" charset="0"/>
              </a:rPr>
              <a:t>El pronóstico de ventas es una estimación de las ventas futuras (ya sea en términos físicos o monetarios) de uno o varios productos (generalmente todos) para un periodo de tiempo determinado.</a:t>
            </a:r>
          </a:p>
          <a:p>
            <a:pPr lvl="0" algn="just"/>
            <a:endParaRPr lang="es-CO" sz="1600"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El pronóstico de ventas es una estimación de las ventas futuras (ya sea en términos físicos o monetarios) de uno o varios productos (generalmente todos) para un periodo de tiempo determinado.</a:t>
            </a:r>
          </a:p>
          <a:p>
            <a:pPr algn="just" fontAlgn="base"/>
            <a:endParaRPr lang="es-CO" sz="1600"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Realizar el pronóstico de ventas nos permite elaborar el presupuesto de ventas y, a partir de éste, elaborar los demás </a:t>
            </a:r>
            <a:r>
              <a:rPr lang="es-CO" sz="1600" dirty="0">
                <a:latin typeface="Verdana" pitchFamily="34" charset="0"/>
                <a:ea typeface="Verdana" pitchFamily="34" charset="0"/>
                <a:cs typeface="Verdana" pitchFamily="34" charset="0"/>
                <a:hlinkClick r:id="rId2"/>
              </a:rPr>
              <a:t>presupuestos</a:t>
            </a:r>
            <a:r>
              <a:rPr lang="es-CO" sz="1600" dirty="0">
                <a:latin typeface="Verdana" pitchFamily="34" charset="0"/>
                <a:ea typeface="Verdana" pitchFamily="34" charset="0"/>
                <a:cs typeface="Verdana" pitchFamily="34" charset="0"/>
              </a:rPr>
              <a:t>, tales como el de producción, el de compra de insumos o mercadería, el de requerimiento de personal, el de flujo de efectivo, etc.</a:t>
            </a:r>
          </a:p>
          <a:p>
            <a:pPr algn="just" fontAlgn="base"/>
            <a:endParaRPr lang="es-CO" sz="1600"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En otras palabras, hacer el pronóstico de ventas nos permite saber cuántos productos vamos a producir, cuánto necesitamos de insumos o mercadería, cuánto personal vamos a requerir, cuánto vamos a requerir de inversión, etc., y, de ese modo, lograr una gestión más eficiente del negocio, permitiéndonos planificar, coordinar y controlar actividades y recursos.</a:t>
            </a:r>
          </a:p>
          <a:p>
            <a:pPr lvl="0" algn="just"/>
            <a:r>
              <a:rPr lang="es-CO" sz="1600" dirty="0">
                <a:latin typeface="Verdana" pitchFamily="34" charset="0"/>
                <a:ea typeface="Verdana" pitchFamily="34" charset="0"/>
                <a:cs typeface="Verdana" pitchFamily="34" charset="0"/>
              </a:rPr>
              <a:t> </a:t>
            </a:r>
          </a:p>
        </p:txBody>
      </p:sp>
    </p:spTree>
    <p:extLst>
      <p:ext uri="{BB962C8B-B14F-4D97-AF65-F5344CB8AC3E}">
        <p14:creationId xmlns:p14="http://schemas.microsoft.com/office/powerpoint/2010/main" val="4045670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38904" y="131163"/>
            <a:ext cx="10972800" cy="849565"/>
          </a:xfrm>
        </p:spPr>
        <p:txBody>
          <a:bodyPr>
            <a:normAutofit/>
          </a:bodyPr>
          <a:lstStyle/>
          <a:p>
            <a:r>
              <a:rPr lang="es-CO" sz="4000" b="1" dirty="0">
                <a:solidFill>
                  <a:srgbClr val="000099"/>
                </a:solidFill>
              </a:rPr>
              <a:t>PRONÓSTICO DE VENTAS</a:t>
            </a:r>
          </a:p>
        </p:txBody>
      </p:sp>
      <p:sp>
        <p:nvSpPr>
          <p:cNvPr id="5" name="4 CuadroTexto"/>
          <p:cNvSpPr txBox="1"/>
          <p:nvPr/>
        </p:nvSpPr>
        <p:spPr>
          <a:xfrm>
            <a:off x="551384" y="1124744"/>
            <a:ext cx="11161240" cy="4524315"/>
          </a:xfrm>
          <a:prstGeom prst="rect">
            <a:avLst/>
          </a:prstGeom>
          <a:noFill/>
        </p:spPr>
        <p:txBody>
          <a:bodyPr wrap="square" rtlCol="0">
            <a:spAutoFit/>
          </a:bodyPr>
          <a:lstStyle/>
          <a:p>
            <a:pPr algn="just" fontAlgn="base"/>
            <a:r>
              <a:rPr lang="es-CO" sz="1600" b="1" dirty="0">
                <a:latin typeface="Verdana" pitchFamily="34" charset="0"/>
                <a:ea typeface="Verdana" pitchFamily="34" charset="0"/>
                <a:cs typeface="Verdana" pitchFamily="34" charset="0"/>
              </a:rPr>
              <a:t>Métodos para realizar el pronóstico de ventas</a:t>
            </a:r>
          </a:p>
          <a:p>
            <a:pPr algn="just" fontAlgn="base"/>
            <a:endParaRPr lang="es-CO" sz="1600" b="1"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Veamos a continuación cuáles son los principales métodos que podemos usar para realizar el pronóstico de ventas:</a:t>
            </a:r>
          </a:p>
          <a:p>
            <a:pPr algn="just" fontAlgn="base"/>
            <a:endParaRPr lang="es-CO" sz="1600" dirty="0">
              <a:latin typeface="Verdana" pitchFamily="34" charset="0"/>
              <a:ea typeface="Verdana" pitchFamily="34" charset="0"/>
              <a:cs typeface="Verdana" pitchFamily="34" charset="0"/>
            </a:endParaRPr>
          </a:p>
          <a:p>
            <a:pPr algn="just" fontAlgn="base"/>
            <a:r>
              <a:rPr lang="es-CO" sz="1600" b="1" dirty="0">
                <a:latin typeface="Verdana" pitchFamily="34" charset="0"/>
                <a:ea typeface="Verdana" pitchFamily="34" charset="0"/>
                <a:cs typeface="Verdana" pitchFamily="34" charset="0"/>
              </a:rPr>
              <a:t>Datos históricos</a:t>
            </a:r>
          </a:p>
          <a:p>
            <a:pPr algn="just" fontAlgn="base"/>
            <a:endParaRPr lang="es-CO" sz="1600" b="1"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El primer método es el que vimos anteriormente, consiste en tomar como referencia las ventas pasadas y analizar la tendencia, por ejemplo, si en los meses pasados hemos tenido un aumento del 5% en las ventas, podríamos pronosticar que para el próximo mes las ventas también tengan un aumento del 5%.</a:t>
            </a:r>
          </a:p>
          <a:p>
            <a:pPr algn="just" fontAlgn="base"/>
            <a:endParaRPr lang="es-CO" sz="1600"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Al usar este método, podemos tener en cuenta otros métodos o factores, por ejemplo, si para el siguiente mes vamos a aumentar nuestra inversión en publicidad, en vez de pronosticar un aumento del 5%, podríamos pronosticar un aumento del 10%.</a:t>
            </a:r>
          </a:p>
          <a:p>
            <a:pPr algn="just" fontAlgn="base"/>
            <a:endParaRPr lang="es-CO" sz="1600"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Para usar este método, debemos contar con un negocio en marcha; para nuevos negocios o productos, sigamos viendo los demás métodos.</a:t>
            </a:r>
          </a:p>
          <a:p>
            <a:pPr lvl="0" algn="just"/>
            <a:r>
              <a:rPr lang="es-CO" sz="1600" dirty="0">
                <a:latin typeface="Verdana" pitchFamily="34" charset="0"/>
                <a:ea typeface="Verdana" pitchFamily="34" charset="0"/>
                <a:cs typeface="Verdana" pitchFamily="34" charset="0"/>
              </a:rPr>
              <a:t> </a:t>
            </a:r>
          </a:p>
        </p:txBody>
      </p:sp>
    </p:spTree>
    <p:extLst>
      <p:ext uri="{BB962C8B-B14F-4D97-AF65-F5344CB8AC3E}">
        <p14:creationId xmlns:p14="http://schemas.microsoft.com/office/powerpoint/2010/main" val="5215473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38904" y="131163"/>
            <a:ext cx="10972800" cy="849565"/>
          </a:xfrm>
        </p:spPr>
        <p:txBody>
          <a:bodyPr>
            <a:normAutofit/>
          </a:bodyPr>
          <a:lstStyle/>
          <a:p>
            <a:r>
              <a:rPr lang="es-CO" sz="4000" b="1" dirty="0">
                <a:solidFill>
                  <a:srgbClr val="000099"/>
                </a:solidFill>
              </a:rPr>
              <a:t>PRONÓSTICO DE VENTAS</a:t>
            </a:r>
          </a:p>
        </p:txBody>
      </p:sp>
      <p:sp>
        <p:nvSpPr>
          <p:cNvPr id="5" name="4 CuadroTexto"/>
          <p:cNvSpPr txBox="1"/>
          <p:nvPr/>
        </p:nvSpPr>
        <p:spPr>
          <a:xfrm>
            <a:off x="551384" y="1120090"/>
            <a:ext cx="11377264" cy="5509200"/>
          </a:xfrm>
          <a:prstGeom prst="rect">
            <a:avLst/>
          </a:prstGeom>
          <a:noFill/>
        </p:spPr>
        <p:txBody>
          <a:bodyPr wrap="square" rtlCol="0">
            <a:spAutoFit/>
          </a:bodyPr>
          <a:lstStyle/>
          <a:p>
            <a:pPr algn="just" fontAlgn="base"/>
            <a:r>
              <a:rPr lang="es-CO" sz="1600" b="1" dirty="0">
                <a:latin typeface="Verdana" pitchFamily="34" charset="0"/>
                <a:ea typeface="Verdana" pitchFamily="34" charset="0"/>
                <a:cs typeface="Verdana" pitchFamily="34" charset="0"/>
              </a:rPr>
              <a:t>Tendencias del mercado</a:t>
            </a:r>
          </a:p>
          <a:p>
            <a:pPr algn="just" fontAlgn="base"/>
            <a:endParaRPr lang="es-CO" sz="1600" b="1"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Este método consiste en tomar como referencia a estadísticas o índices del sector o del mercado, analizar las tendencias y, en base a ellas, proyectar o pronosticar nuestras ventas.</a:t>
            </a:r>
          </a:p>
          <a:p>
            <a:pPr algn="just" fontAlgn="base"/>
            <a:endParaRPr lang="es-CO" sz="1600"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Por ejemplo, podemos tomar como referencia el índice de precios al consumidor, la tasa de crecimiento del sector, la tasa de crecimiento poblacional, el ingreso per cápita, etc.</a:t>
            </a:r>
          </a:p>
          <a:p>
            <a:pPr algn="just" fontAlgn="base"/>
            <a:endParaRPr lang="es-CO" sz="1600"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Por ejemplo, si la tasa promedio anual de crecimiento poblacional de nuestro mercado objetivo es de 4%, podríamos pronosticar que nuestras ventas cada año también tengan un crecimiento del 4%</a:t>
            </a:r>
          </a:p>
          <a:p>
            <a:pPr algn="just" fontAlgn="base"/>
            <a:endParaRPr lang="es-CO" sz="1600" dirty="0">
              <a:latin typeface="Verdana" pitchFamily="34" charset="0"/>
              <a:ea typeface="Verdana" pitchFamily="34" charset="0"/>
              <a:cs typeface="Verdana" pitchFamily="34" charset="0"/>
            </a:endParaRPr>
          </a:p>
          <a:p>
            <a:pPr algn="just" fontAlgn="base"/>
            <a:r>
              <a:rPr lang="es-CO" sz="1600" b="1" dirty="0">
                <a:latin typeface="Verdana" pitchFamily="34" charset="0"/>
                <a:ea typeface="Verdana" pitchFamily="34" charset="0"/>
                <a:cs typeface="Verdana" pitchFamily="34" charset="0"/>
              </a:rPr>
              <a:t>Ventas potenciales del sector o mercado</a:t>
            </a:r>
          </a:p>
          <a:p>
            <a:pPr algn="just" fontAlgn="base"/>
            <a:endParaRPr lang="es-CO" sz="1600" b="1"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Este método consiste en hallar primero las ventas potenciales del sector o mercado (las máximas ventas que se podrían dar), y luego, en base a dicha información, determinar nuestro pronóstico de ventas.</a:t>
            </a:r>
          </a:p>
          <a:p>
            <a:pPr algn="just" fontAlgn="base"/>
            <a:endParaRPr lang="es-CO" sz="1600"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Por ejemplo, si a través de publicaciones externas o estudios de mercado, hemos hallado que las ventas potenciales de nuestro mercado ascienden a US$100 000, y teniendo en cuenta nuestra inversión, nuestra capacidad de producción, y la opinión de expertos, decidimos captar un 10% de dichas ventas potenciales, por lo que nuestro pronóstico de ventas para el próximo mes o año sería de US$10 000.</a:t>
            </a:r>
          </a:p>
          <a:p>
            <a:pPr algn="just" fontAlgn="base"/>
            <a:endParaRPr lang="es-CO" sz="1600" dirty="0">
              <a:latin typeface="Verdana" pitchFamily="34" charset="0"/>
              <a:ea typeface="Verdana" pitchFamily="34" charset="0"/>
              <a:cs typeface="Verdana" pitchFamily="34" charset="0"/>
            </a:endParaRPr>
          </a:p>
          <a:p>
            <a:pPr algn="just" fontAlgn="base"/>
            <a:r>
              <a:rPr lang="es-CO" sz="1600" dirty="0">
                <a:latin typeface="Verdana" pitchFamily="34" charset="0"/>
                <a:ea typeface="Verdana" pitchFamily="34" charset="0"/>
                <a:cs typeface="Verdana" pitchFamily="34" charset="0"/>
              </a:rPr>
              <a:t>                                                             FUENTE: </a:t>
            </a:r>
            <a:r>
              <a:rPr lang="es-CO" sz="1600" dirty="0">
                <a:latin typeface="Verdana" pitchFamily="34" charset="0"/>
                <a:ea typeface="Verdana" pitchFamily="34" charset="0"/>
                <a:cs typeface="Verdana" pitchFamily="34" charset="0"/>
                <a:hlinkClick r:id="rId2"/>
              </a:rPr>
              <a:t>http://www.crecenegocios.com/el-pronostico-de-ventas/</a:t>
            </a:r>
            <a:r>
              <a:rPr lang="es-CO" sz="1600" dirty="0">
                <a:latin typeface="Verdana" pitchFamily="34" charset="0"/>
                <a:ea typeface="Verdana" pitchFamily="34" charset="0"/>
                <a:cs typeface="Verdana" pitchFamily="34" charset="0"/>
              </a:rPr>
              <a:t> </a:t>
            </a:r>
          </a:p>
        </p:txBody>
      </p:sp>
    </p:spTree>
    <p:extLst>
      <p:ext uri="{BB962C8B-B14F-4D97-AF65-F5344CB8AC3E}">
        <p14:creationId xmlns:p14="http://schemas.microsoft.com/office/powerpoint/2010/main" val="594341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38904" y="131163"/>
            <a:ext cx="10972800" cy="849565"/>
          </a:xfrm>
        </p:spPr>
        <p:txBody>
          <a:bodyPr>
            <a:normAutofit/>
          </a:bodyPr>
          <a:lstStyle/>
          <a:p>
            <a:r>
              <a:rPr lang="es-CO" sz="4000" b="1" dirty="0">
                <a:solidFill>
                  <a:srgbClr val="000099"/>
                </a:solidFill>
              </a:rPr>
              <a:t>PRONÓSTICO DE VENTAS</a:t>
            </a:r>
          </a:p>
        </p:txBody>
      </p:sp>
      <p:sp>
        <p:nvSpPr>
          <p:cNvPr id="5" name="4 CuadroTexto"/>
          <p:cNvSpPr txBox="1"/>
          <p:nvPr/>
        </p:nvSpPr>
        <p:spPr>
          <a:xfrm>
            <a:off x="551384" y="1248429"/>
            <a:ext cx="11161240" cy="5016758"/>
          </a:xfrm>
          <a:prstGeom prst="rect">
            <a:avLst/>
          </a:prstGeom>
          <a:noFill/>
        </p:spPr>
        <p:txBody>
          <a:bodyPr wrap="square" rtlCol="0">
            <a:spAutoFit/>
          </a:bodyPr>
          <a:lstStyle/>
          <a:p>
            <a:pPr lvl="0" algn="just"/>
            <a:r>
              <a:rPr lang="es-CO" sz="1600" b="1" i="1" dirty="0">
                <a:solidFill>
                  <a:srgbClr val="000099"/>
                </a:solidFill>
                <a:latin typeface="Verdana" pitchFamily="34" charset="0"/>
                <a:ea typeface="Verdana" pitchFamily="34" charset="0"/>
                <a:cs typeface="Verdana" pitchFamily="34" charset="0"/>
              </a:rPr>
              <a:t>EJEMPLO SOBRE PRONÓSTICO DE VENTAS</a:t>
            </a:r>
          </a:p>
          <a:p>
            <a:pPr lvl="0" algn="just"/>
            <a:endParaRPr lang="es-CO" sz="1600" b="1" dirty="0">
              <a:latin typeface="Verdana" pitchFamily="34" charset="0"/>
              <a:ea typeface="Verdana" pitchFamily="34" charset="0"/>
              <a:cs typeface="Verdana" pitchFamily="34" charset="0"/>
            </a:endParaRPr>
          </a:p>
          <a:p>
            <a:pPr lvl="0" algn="just"/>
            <a:r>
              <a:rPr lang="es-CO" sz="1600" b="1" dirty="0">
                <a:latin typeface="Verdana" pitchFamily="34" charset="0"/>
                <a:ea typeface="Verdana" pitchFamily="34" charset="0"/>
                <a:cs typeface="Verdana" pitchFamily="34" charset="0"/>
              </a:rPr>
              <a:t>Se tiene un nuevo proyecto para una empresa que presenta la siguiente información con el objetivo de </a:t>
            </a:r>
            <a:r>
              <a:rPr lang="es-CO" sz="1600" b="1" i="1" dirty="0">
                <a:latin typeface="Verdana" pitchFamily="34" charset="0"/>
                <a:ea typeface="Verdana" pitchFamily="34" charset="0"/>
                <a:cs typeface="Verdana" pitchFamily="34" charset="0"/>
              </a:rPr>
              <a:t>determinar el pronóstico de ventas</a:t>
            </a:r>
            <a:r>
              <a:rPr lang="es-CO" sz="1600" b="1" dirty="0">
                <a:latin typeface="Verdana" pitchFamily="34" charset="0"/>
                <a:ea typeface="Verdana" pitchFamily="34" charset="0"/>
                <a:cs typeface="Verdana" pitchFamily="34" charset="0"/>
              </a:rPr>
              <a:t> para el año 2015 y 2016 teniendo en cuenta el impacto de algunas variables del mercado.</a:t>
            </a:r>
            <a:endParaRPr lang="es-CO" sz="1600" dirty="0">
              <a:latin typeface="Verdana" pitchFamily="34" charset="0"/>
              <a:ea typeface="Verdana" pitchFamily="34" charset="0"/>
              <a:cs typeface="Verdana" pitchFamily="34" charset="0"/>
            </a:endParaRPr>
          </a:p>
          <a:p>
            <a:pPr algn="just"/>
            <a:r>
              <a:rPr lang="es-CO" sz="1600" dirty="0">
                <a:latin typeface="Verdana" pitchFamily="34" charset="0"/>
                <a:ea typeface="Verdana" pitchFamily="34" charset="0"/>
                <a:cs typeface="Verdana" pitchFamily="34" charset="0"/>
              </a:rPr>
              <a:t> </a:t>
            </a:r>
          </a:p>
          <a:p>
            <a:pPr lvl="0" algn="just"/>
            <a:r>
              <a:rPr lang="es-CO" sz="1600" dirty="0">
                <a:latin typeface="Verdana" pitchFamily="34" charset="0"/>
                <a:ea typeface="Verdana" pitchFamily="34" charset="0"/>
                <a:cs typeface="Verdana" pitchFamily="34" charset="0"/>
              </a:rPr>
              <a:t>Para cada mes del primer trimestre del año 2015 se prevén ventas por $35.000.000.</a:t>
            </a:r>
          </a:p>
          <a:p>
            <a:pPr lvl="0" algn="just"/>
            <a:r>
              <a:rPr lang="es-CO" sz="1600" dirty="0">
                <a:latin typeface="Verdana" pitchFamily="34" charset="0"/>
                <a:ea typeface="Verdana" pitchFamily="34" charset="0"/>
                <a:cs typeface="Verdana" pitchFamily="34" charset="0"/>
              </a:rPr>
              <a:t>Para los meses del segundo trimestre por rebaja en los precios se prevé (proyecta) un aumento del 5% en las ventas con respecto a los meses del trimestre anterior.</a:t>
            </a:r>
          </a:p>
          <a:p>
            <a:pPr lvl="0" algn="just"/>
            <a:r>
              <a:rPr lang="es-CO" sz="1600" dirty="0">
                <a:latin typeface="Verdana" pitchFamily="34" charset="0"/>
                <a:ea typeface="Verdana" pitchFamily="34" charset="0"/>
                <a:cs typeface="Verdana" pitchFamily="34" charset="0"/>
              </a:rPr>
              <a:t>Para cada mes del tercer trimestre por crecimiento en la población, se prevé un aumento en las ventas del 3,5% con respecto a los meses trimestre anterior.</a:t>
            </a:r>
          </a:p>
          <a:p>
            <a:pPr lvl="0" algn="just"/>
            <a:r>
              <a:rPr lang="es-CO" sz="1600" dirty="0">
                <a:latin typeface="Verdana" pitchFamily="34" charset="0"/>
                <a:ea typeface="Verdana" pitchFamily="34" charset="0"/>
                <a:cs typeface="Verdana" pitchFamily="34" charset="0"/>
              </a:rPr>
              <a:t>Para los meses de octubre y noviembre por una suba en los precios se prevé una disminución en las ventas del 2,5% con respecto  a los meses del trimestre anterior.</a:t>
            </a:r>
          </a:p>
          <a:p>
            <a:pPr lvl="0" algn="just"/>
            <a:r>
              <a:rPr lang="es-CO" sz="1600" dirty="0">
                <a:latin typeface="Verdana" pitchFamily="34" charset="0"/>
                <a:ea typeface="Verdana" pitchFamily="34" charset="0"/>
                <a:cs typeface="Verdana" pitchFamily="34" charset="0"/>
              </a:rPr>
              <a:t>Para el mes de diciembre se prevé un aumento en ventas del 8,5% con respecto al mes de noviembre.</a:t>
            </a:r>
          </a:p>
          <a:p>
            <a:pPr algn="just"/>
            <a:r>
              <a:rPr lang="es-CO" sz="1600" dirty="0">
                <a:latin typeface="Verdana" pitchFamily="34" charset="0"/>
                <a:ea typeface="Verdana" pitchFamily="34" charset="0"/>
                <a:cs typeface="Verdana" pitchFamily="34" charset="0"/>
              </a:rPr>
              <a:t> </a:t>
            </a:r>
          </a:p>
          <a:p>
            <a:pPr algn="just"/>
            <a:r>
              <a:rPr lang="es-CO" sz="1600" b="1" dirty="0">
                <a:latin typeface="Verdana" pitchFamily="34" charset="0"/>
                <a:ea typeface="Verdana" pitchFamily="34" charset="0"/>
                <a:cs typeface="Verdana" pitchFamily="34" charset="0"/>
              </a:rPr>
              <a:t>Para el pronóstico  del año 2016</a:t>
            </a:r>
            <a:r>
              <a:rPr lang="es-CO" sz="1600" dirty="0">
                <a:latin typeface="Verdana" pitchFamily="34" charset="0"/>
                <a:ea typeface="Verdana" pitchFamily="34" charset="0"/>
                <a:cs typeface="Verdana" pitchFamily="34" charset="0"/>
              </a:rPr>
              <a:t> se inicia para cada mes del primer trimestre del año con un aumento del 10% de las ventas que se obtuvieron en cada mes del primer trimestre del año 2015; para los siguientes trimestres se deben aplicar las mismas condiciones o políticas establecidas en los numerales 2, 3, 4 y 5.</a:t>
            </a:r>
          </a:p>
          <a:p>
            <a:pPr algn="just"/>
            <a:r>
              <a:rPr lang="es-CO" sz="1600" dirty="0"/>
              <a:t> </a:t>
            </a:r>
          </a:p>
        </p:txBody>
      </p:sp>
    </p:spTree>
    <p:extLst>
      <p:ext uri="{BB962C8B-B14F-4D97-AF65-F5344CB8AC3E}">
        <p14:creationId xmlns:p14="http://schemas.microsoft.com/office/powerpoint/2010/main" val="6185040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528" y="1556793"/>
            <a:ext cx="8777951"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ítulo 1"/>
          <p:cNvSpPr>
            <a:spLocks noGrp="1"/>
          </p:cNvSpPr>
          <p:nvPr>
            <p:ph type="title"/>
          </p:nvPr>
        </p:nvSpPr>
        <p:spPr>
          <a:xfrm>
            <a:off x="638904" y="131163"/>
            <a:ext cx="10972800" cy="849565"/>
          </a:xfrm>
        </p:spPr>
        <p:txBody>
          <a:bodyPr>
            <a:normAutofit/>
          </a:bodyPr>
          <a:lstStyle/>
          <a:p>
            <a:r>
              <a:rPr lang="es-CO" sz="4000" b="1" dirty="0">
                <a:solidFill>
                  <a:srgbClr val="000099"/>
                </a:solidFill>
              </a:rPr>
              <a:t>PRONÓSTICO DE VENTAS</a:t>
            </a:r>
          </a:p>
        </p:txBody>
      </p:sp>
      <p:sp>
        <p:nvSpPr>
          <p:cNvPr id="4" name="3 CuadroTexto"/>
          <p:cNvSpPr txBox="1"/>
          <p:nvPr/>
        </p:nvSpPr>
        <p:spPr>
          <a:xfrm>
            <a:off x="911424" y="1187461"/>
            <a:ext cx="2437911" cy="369332"/>
          </a:xfrm>
          <a:prstGeom prst="rect">
            <a:avLst/>
          </a:prstGeom>
          <a:noFill/>
        </p:spPr>
        <p:txBody>
          <a:bodyPr wrap="none" rtlCol="0">
            <a:spAutoFit/>
          </a:bodyPr>
          <a:lstStyle/>
          <a:p>
            <a:r>
              <a:rPr lang="es-CO" dirty="0"/>
              <a:t>SOLUCIÓN AL EJERCICIO</a:t>
            </a:r>
          </a:p>
        </p:txBody>
      </p:sp>
    </p:spTree>
    <p:extLst>
      <p:ext uri="{BB962C8B-B14F-4D97-AF65-F5344CB8AC3E}">
        <p14:creationId xmlns:p14="http://schemas.microsoft.com/office/powerpoint/2010/main" val="4045670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3467867"/>
      </p:ext>
    </p:extLst>
  </p:cSld>
  <p:clrMapOvr>
    <a:masterClrMapping/>
  </p:clrMapOvr>
</p:sld>
</file>

<file path=ppt/theme/theme1.xml><?xml version="1.0" encoding="utf-8"?>
<a:theme xmlns:a="http://schemas.openxmlformats.org/drawingml/2006/main" name="Unidad 2_Estudio del merc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ción1" id="{5B72E9C5-F73D-460B-965C-31D6B2A18E93}" vid="{527F05B2-A874-402F-A816-68C8A877BB2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Unidad 2_Estudio del mercado</Template>
  <TotalTime>85</TotalTime>
  <Words>2488</Words>
  <Application>Microsoft Office PowerPoint</Application>
  <PresentationFormat>Panorámica</PresentationFormat>
  <Paragraphs>176</Paragraphs>
  <Slides>26</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Calibri</vt:lpstr>
      <vt:lpstr>Verdana</vt:lpstr>
      <vt:lpstr>Unidad 2_Estudio del mercado</vt:lpstr>
      <vt:lpstr>ESTUDIO DEL MERCADO</vt:lpstr>
      <vt:lpstr>ESTUDIO DE MERCADOS</vt:lpstr>
      <vt:lpstr>ANALISIS DE LA COMPETENCIA MATRIZ DE PERFIL COMPETITIVO</vt:lpstr>
      <vt:lpstr>ANALISIS DE LA COMPETENCIA  MATRIZ DE PERFIL COMPETITIVO</vt:lpstr>
      <vt:lpstr>ESTUDIO DE MERCADOS</vt:lpstr>
      <vt:lpstr>LOCALIZACIÓN ÓPTIMA DE LA PLANTA</vt:lpstr>
      <vt:lpstr>LOCALIZACIÓN ÓPTIMA DE LA PLANTA</vt:lpstr>
      <vt:lpstr>LOCALIZACIÓN ÓPTIMA DE LA PLANTA</vt:lpstr>
      <vt:lpstr>LOCALIZACIÓN ÓPTIMA DE LA PLANTA</vt:lpstr>
      <vt:lpstr>LOCALIZACIÓN ÓPTIMA DE LA PLANTA</vt:lpstr>
      <vt:lpstr>MÉTODO DE LOS FACTORES PONDERADOS</vt:lpstr>
      <vt:lpstr>LOCALIZACIÓN ÓPTIMA DE LA PLANTA</vt:lpstr>
      <vt:lpstr>MÉTODO CUALITATIVO POR PUNTOS</vt:lpstr>
      <vt:lpstr>LOCALIZACIÓN ÓPTIMA DE LA PLANTA</vt:lpstr>
      <vt:lpstr>DEMANDA ÓPTIMA DEL PROYECTO</vt:lpstr>
      <vt:lpstr>DEMANDA ÓPTIMA DEL PROYECTO</vt:lpstr>
      <vt:lpstr>DEMANDA ÓPTIMA DEL PROYECTO</vt:lpstr>
      <vt:lpstr>DEMANDA ÓPTIMA DEL PROYECTO</vt:lpstr>
      <vt:lpstr>DEMANDA ÓPTIMA DEL PROYECTO</vt:lpstr>
      <vt:lpstr>DEMANDA ÓPTIMA DEL PROYECTO</vt:lpstr>
      <vt:lpstr>PRONÓSTICO DE VENTAS</vt:lpstr>
      <vt:lpstr>PRONÓSTICO DE VENTAS</vt:lpstr>
      <vt:lpstr>PRONÓSTICO DE VENTAS</vt:lpstr>
      <vt:lpstr>PRONÓSTICO DE VENTAS</vt:lpstr>
      <vt:lpstr>PRONÓSTICO DE VENTAS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USER</dc:creator>
  <cp:lastModifiedBy>JOSE ALFREDO JIMENEZ LONDOÑO</cp:lastModifiedBy>
  <cp:revision>12</cp:revision>
  <dcterms:created xsi:type="dcterms:W3CDTF">2016-04-27T12:06:06Z</dcterms:created>
  <dcterms:modified xsi:type="dcterms:W3CDTF">2026-02-15T17:16:22Z</dcterms:modified>
</cp:coreProperties>
</file>