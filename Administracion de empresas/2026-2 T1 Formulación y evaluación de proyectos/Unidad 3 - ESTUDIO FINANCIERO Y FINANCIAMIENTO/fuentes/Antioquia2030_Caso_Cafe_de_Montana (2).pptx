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Encuentro interdisciplinario del programa de Administración de Empresas. Esta presentación cubre únicamente la contextualización de la actividad y la presentación del caso empresarial. Las intervenciones de cada docente y sus preguntas se desarrollan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desde el inicio que no se busca una única respuesta correcta. El valor está en descubrir que una decisión empresarial exige varias perspectivas simultáneas.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1: encuentro interdisciplinario. Momento 2: actividades de profundización por asignatura. La interdisciplinariedad se conserva sin perder la identidad curricular de cada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las cuatro áreas participantes y a los docentes que intervendrán. Las intervenciones son breves: contextualizar y problematizar, no dictar una clase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dejamos la metodología y entramos en la empresa. A partir de aquí, todo lo que se cuenta es el contexto que los estudiantes necesitan para analizar el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el origen emprendedor: la empresa nació de una oportunidad identificada por un grupo de personas, no de un gran capital. Ese detalle explica sus limitaciones actuales de recursos.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Registro fotográfico del origen. Vale la pena señalar que comprar a muchos productores pequeños implica variabilidad de calidad, de volumen y de tiempos de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Cadena interna de valor: compra, selección, transformación, tostión, empaque y comercialización. Este esquema será el punto de partida del análisis logístico.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canales, seis lógicas distintas de precio, volumen, frecuencia y entrega. Este es el mapa comercial que la empresa quiere ampliar.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Calidad, origen, producto local y sostenibilidad. Guardar esta lámina: la sostenibilidad reaparecerá como discusión de costo frente a ventaja competitiva.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Cambio de tono: hasta aquí la historia es de éxito. A partir de este punto entra la tensión que da sentido al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son oportunidades reales, pero la empresa no puede perseguirlas todas al mismo tiempo. Ahí nace la tensión gerencial del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Nueve frentes de inversión y una operación más compleja. Este es el contrapeso real de la oportunidad presentada en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alternativas no son excluyentes. Conviene que los estudiantes noten que combinar también es una decisión, con sus propios costos.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esta lámina visible unos segundos. Es el hilo conductor de las cuatro intervenciones y del trabajo posterior por asignatura.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Garantizar la participación: dar un minuto para escribir en el chat y leer en voz alta tres o cuatro respuestas antes de continuar.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Área de Economía. Enfatizar que las variables del entorno no se controlan, pero sí se anticipan.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Área de Emprendimiento. Retomar la lámina de la promesa de marca: calidad, origen, producto local y sostenibilidad.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Área de Proyectos. La pregunta de cierre obliga a priorizar: es el corazón de la gestión de portafolio.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Área de Logística y Comercio Exterior. Conectar con la lámina del proceso productivo y con los nueve frentes de inversión.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de integración. Pedir a los estudiantes que enlacen las cuatro miradas en una sola línea de razonamiento antes de responder.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situación sorpresa muestra que administrar implica decidir frente a escenarios cambiantes. Dar espacio para respuestas breves y cerrar el encuentro.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contextualización. A continuación cada docente toma la palabra e inicia su intervención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 de créditos. Es también un ejemplo de rigor en el uso de fuentes: toda imagen tiene autor y licencia.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005840" y="1965960"/>
            <a:ext cx="10149840" cy="914400"/>
          </a:xfrm>
          <a:prstGeom prst="rect">
            <a:avLst/>
          </a:prstGeom>
          <a:noFill/>
          <a:ln/>
        </p:spPr>
        <p:txBody>
          <a:bodyPr wrap="square" lIns="0" tIns="0" rIns="0" bIns="0" rtlCol="0" anchor="ctr"/>
          <a:lstStyle/>
          <a:p>
            <a:pPr algn="ctr" indent="0" marL="0">
              <a:buNone/>
            </a:pPr>
            <a:r>
              <a:rPr lang="en-US" sz="3000" b="1" dirty="0">
                <a:solidFill>
                  <a:srgbClr val="1B1C6E"/>
                </a:solidFill>
                <a:latin typeface="Tahoma" pitchFamily="34" charset="0"/>
                <a:ea typeface="Tahoma" pitchFamily="34" charset="-122"/>
                <a:cs typeface="Tahoma" pitchFamily="34" charset="-120"/>
              </a:rPr>
              <a:t>ANTIOQUIA 2030: EL RETO EMPRESARIAL</a:t>
            </a:r>
            <a:endParaRPr lang="en-US" sz="3000" dirty="0"/>
          </a:p>
        </p:txBody>
      </p:sp>
      <p:sp>
        <p:nvSpPr>
          <p:cNvPr id="3" name="Shape 1"/>
          <p:cNvSpPr/>
          <p:nvPr/>
        </p:nvSpPr>
        <p:spPr>
          <a:xfrm>
            <a:off x="5550408" y="2999232"/>
            <a:ext cx="1097280" cy="64008"/>
          </a:xfrm>
          <a:prstGeom prst="rect">
            <a:avLst/>
          </a:prstGeom>
          <a:solidFill>
            <a:srgbClr val="F9BB0B"/>
          </a:solidFill>
          <a:ln/>
        </p:spPr>
      </p:sp>
      <p:sp>
        <p:nvSpPr>
          <p:cNvPr id="4" name="Text 2"/>
          <p:cNvSpPr txBox="1"/>
          <p:nvPr/>
        </p:nvSpPr>
        <p:spPr>
          <a:xfrm>
            <a:off x="1005840" y="3200400"/>
            <a:ext cx="10149840" cy="548640"/>
          </a:xfrm>
          <a:prstGeom prst="rect">
            <a:avLst/>
          </a:prstGeom>
          <a:noFill/>
          <a:ln/>
        </p:spPr>
        <p:txBody>
          <a:bodyPr wrap="square" lIns="0" tIns="0" rIns="0" bIns="0" rtlCol="0" anchor="ctr"/>
          <a:lstStyle/>
          <a:p>
            <a:pPr algn="ctr" indent="0" marL="0">
              <a:buNone/>
            </a:pPr>
            <a:r>
              <a:rPr lang="en-US" sz="1700" dirty="0">
                <a:solidFill>
                  <a:srgbClr val="1B1C6E"/>
                </a:solidFill>
                <a:latin typeface="Tahoma" pitchFamily="34" charset="0"/>
                <a:ea typeface="Tahoma" pitchFamily="34" charset="-122"/>
                <a:cs typeface="Tahoma" pitchFamily="34" charset="-120"/>
              </a:rPr>
              <a:t>Actividad interdisciplinaria · Una empresa, diferentes miradas, una decisión gerencial</a:t>
            </a:r>
            <a:endParaRPr lang="en-US" sz="1700" dirty="0"/>
          </a:p>
        </p:txBody>
      </p:sp>
      <p:sp>
        <p:nvSpPr>
          <p:cNvPr id="5" name="Text 3"/>
          <p:cNvSpPr txBox="1"/>
          <p:nvPr/>
        </p:nvSpPr>
        <p:spPr>
          <a:xfrm>
            <a:off x="1005840" y="3730752"/>
            <a:ext cx="10149840" cy="365760"/>
          </a:xfrm>
          <a:prstGeom prst="rect">
            <a:avLst/>
          </a:prstGeom>
          <a:noFill/>
          <a:ln/>
        </p:spPr>
        <p:txBody>
          <a:bodyPr wrap="square" lIns="0" tIns="0" rIns="0" bIns="0" rtlCol="0" anchor="ctr"/>
          <a:lstStyle/>
          <a:p>
            <a:pPr algn="ctr" indent="0" marL="0">
              <a:buNone/>
            </a:pPr>
            <a:r>
              <a:rPr lang="en-US" sz="1450" dirty="0">
                <a:solidFill>
                  <a:srgbClr val="55565E"/>
                </a:solidFill>
                <a:latin typeface="Calibri" pitchFamily="34" charset="0"/>
                <a:ea typeface="Calibri" pitchFamily="34" charset="-122"/>
                <a:cs typeface="Calibri" pitchFamily="34" charset="-120"/>
              </a:rPr>
              <a:t>Caso integrador: Café de Montaña Antioqueño S.A.S.</a:t>
            </a:r>
            <a:endParaRPr lang="en-US" sz="1450" dirty="0"/>
          </a:p>
        </p:txBody>
      </p:sp>
      <p:sp>
        <p:nvSpPr>
          <p:cNvPr id="6" name="Text 4"/>
          <p:cNvSpPr txBox="1"/>
          <p:nvPr/>
        </p:nvSpPr>
        <p:spPr>
          <a:xfrm>
            <a:off x="1005840" y="4224528"/>
            <a:ext cx="10149840" cy="731520"/>
          </a:xfrm>
          <a:prstGeom prst="rect">
            <a:avLst/>
          </a:prstGeom>
          <a:noFill/>
          <a:ln/>
        </p:spPr>
        <p:txBody>
          <a:bodyPr wrap="square" lIns="0" tIns="0" rIns="0" bIns="0" rtlCol="0" anchor="t"/>
          <a:lstStyle/>
          <a:p>
            <a:pPr algn="ctr" indent="0" marL="0">
              <a:lnSpc>
                <a:spcPts val="1700"/>
              </a:lnSpc>
              <a:buNone/>
            </a:pPr>
            <a:r>
              <a:rPr lang="en-US" sz="1200" dirty="0">
                <a:solidFill>
                  <a:srgbClr val="55565E"/>
                </a:solidFill>
                <a:latin typeface="Calibri" pitchFamily="34" charset="0"/>
                <a:ea typeface="Calibri" pitchFamily="34" charset="-122"/>
                <a:cs typeface="Calibri" pitchFamily="34" charset="-120"/>
              </a:rPr>
              <a:t>Facultad de Ciencias Administrativas  ·  Administración de Empresas  ·  Modalidad virtual</a:t>
            </a:r>
            <a:endParaRPr lang="en-US" sz="1200" dirty="0"/>
          </a:p>
          <a:p>
            <a:pPr algn="ctr" indent="0" marL="0">
              <a:lnSpc>
                <a:spcPts val="1700"/>
              </a:lnSpc>
              <a:buNone/>
            </a:pPr>
            <a:r>
              <a:rPr lang="en-US" sz="1200" dirty="0">
                <a:solidFill>
                  <a:srgbClr val="55565E"/>
                </a:solidFill>
                <a:latin typeface="Calibri" pitchFamily="34" charset="0"/>
                <a:ea typeface="Calibri" pitchFamily="34" charset="-122"/>
                <a:cs typeface="Calibri" pitchFamily="34" charset="-120"/>
              </a:rPr>
              <a:t>Economía  ·  Emprendimiento  ·  Proyectos  ·  Logística y Comercio Exterior  ·  Duración: 2 horas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De qué se trata este encuentro</a:t>
            </a:r>
            <a:endParaRPr lang="en-US" sz="2500" dirty="0"/>
          </a:p>
        </p:txBody>
      </p:sp>
      <p:sp>
        <p:nvSpPr>
          <p:cNvPr id="3" name="Text 1"/>
          <p:cNvSpPr txBox="1"/>
          <p:nvPr/>
        </p:nvSpPr>
        <p:spPr>
          <a:xfrm>
            <a:off x="841248" y="1600200"/>
            <a:ext cx="594360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Un mismo caso empresarial, analizado al tiempo por cuatro asignaturas. El propósito no es que todos los docentes dicten una clase sobre el mismo tema, sino que cada disciplina aporte una mirada diferente sobre el mismo problema.</a:t>
            </a:r>
            <a:endParaRPr lang="en-US" sz="1450" dirty="0"/>
          </a:p>
        </p:txBody>
      </p:sp>
      <p:sp>
        <p:nvSpPr>
          <p:cNvPr id="4" name="Shape 2"/>
          <p:cNvSpPr/>
          <p:nvPr/>
        </p:nvSpPr>
        <p:spPr>
          <a:xfrm>
            <a:off x="841248" y="2843784"/>
            <a:ext cx="420624" cy="420624"/>
          </a:xfrm>
          <a:prstGeom prst="ellipse">
            <a:avLst/>
          </a:prstGeom>
          <a:solidFill>
            <a:srgbClr val="1B1C6E"/>
          </a:solidFill>
          <a:ln/>
        </p:spPr>
      </p:sp>
      <p:sp>
        <p:nvSpPr>
          <p:cNvPr id="5" name="Text 3"/>
          <p:cNvSpPr txBox="1"/>
          <p:nvPr/>
        </p:nvSpPr>
        <p:spPr>
          <a:xfrm>
            <a:off x="841248" y="2843784"/>
            <a:ext cx="420624" cy="420624"/>
          </a:xfrm>
          <a:prstGeom prst="rect">
            <a:avLst/>
          </a:prstGeom>
          <a:noFill/>
          <a:ln/>
        </p:spPr>
        <p:txBody>
          <a:bodyPr wrap="square" lIns="0" tIns="0" rIns="0" bIns="0" rtlCol="0" anchor="ctr"/>
          <a:lstStyle/>
          <a:p>
            <a:pPr algn="ctr" indent="0" marL="0">
              <a:buNone/>
            </a:pPr>
            <a:r>
              <a:rPr lang="en-US" sz="1400" b="1" dirty="0">
                <a:solidFill>
                  <a:srgbClr val="F9BB0B"/>
                </a:solidFill>
                <a:latin typeface="Tahoma" pitchFamily="34" charset="0"/>
                <a:ea typeface="Tahoma" pitchFamily="34" charset="-122"/>
                <a:cs typeface="Tahoma" pitchFamily="34" charset="-120"/>
              </a:rPr>
              <a:t>1</a:t>
            </a:r>
            <a:endParaRPr lang="en-US" sz="1400" dirty="0"/>
          </a:p>
        </p:txBody>
      </p:sp>
      <p:sp>
        <p:nvSpPr>
          <p:cNvPr id="6" name="Text 4"/>
          <p:cNvSpPr txBox="1"/>
          <p:nvPr/>
        </p:nvSpPr>
        <p:spPr>
          <a:xfrm>
            <a:off x="1444752" y="2788920"/>
            <a:ext cx="5303520" cy="292608"/>
          </a:xfrm>
          <a:prstGeom prst="rect">
            <a:avLst/>
          </a:prstGeom>
          <a:noFill/>
          <a:ln/>
        </p:spPr>
        <p:txBody>
          <a:bodyPr wrap="square" lIns="0" tIns="0" rIns="0" bIns="0" rtlCol="0" anchor="ctr"/>
          <a:lstStyle/>
          <a:p>
            <a:pPr indent="0" marL="0">
              <a:buNone/>
            </a:pPr>
            <a:r>
              <a:rPr lang="en-US" sz="1450" b="1" dirty="0">
                <a:solidFill>
                  <a:srgbClr val="1B1C6E"/>
                </a:solidFill>
                <a:latin typeface="Tahoma" pitchFamily="34" charset="0"/>
                <a:ea typeface="Tahoma" pitchFamily="34" charset="-122"/>
                <a:cs typeface="Tahoma" pitchFamily="34" charset="-120"/>
              </a:rPr>
              <a:t>Una sola empresa</a:t>
            </a:r>
            <a:endParaRPr lang="en-US" sz="1450" dirty="0"/>
          </a:p>
        </p:txBody>
      </p:sp>
      <p:sp>
        <p:nvSpPr>
          <p:cNvPr id="7" name="Text 5"/>
          <p:cNvSpPr txBox="1"/>
          <p:nvPr/>
        </p:nvSpPr>
        <p:spPr>
          <a:xfrm>
            <a:off x="1444752" y="3099816"/>
            <a:ext cx="5303520" cy="566928"/>
          </a:xfrm>
          <a:prstGeom prst="rect">
            <a:avLst/>
          </a:prstGeom>
          <a:noFill/>
          <a:ln/>
        </p:spPr>
        <p:txBody>
          <a:bodyPr wrap="square" lIns="0" tIns="0" rIns="0" bIns="0" rtlCol="0" anchor="ctr"/>
          <a:lstStyle/>
          <a:p>
            <a:pPr indent="0" marL="0">
              <a:lnSpc>
                <a:spcPts val="1700"/>
              </a:lnSpc>
              <a:buNone/>
            </a:pPr>
            <a:r>
              <a:rPr lang="en-US" sz="1250" dirty="0">
                <a:solidFill>
                  <a:srgbClr val="55565E"/>
                </a:solidFill>
                <a:latin typeface="Calibri" pitchFamily="34" charset="0"/>
                <a:ea typeface="Calibri" pitchFamily="34" charset="-122"/>
                <a:cs typeface="Calibri" pitchFamily="34" charset="-120"/>
              </a:rPr>
              <a:t>Todos los estudiantes trabajan sobre la misma organización y sobre la misma decisión estratégica.</a:t>
            </a:r>
            <a:endParaRPr lang="en-US" sz="1250" dirty="0"/>
          </a:p>
        </p:txBody>
      </p:sp>
      <p:sp>
        <p:nvSpPr>
          <p:cNvPr id="8" name="Shape 6"/>
          <p:cNvSpPr/>
          <p:nvPr/>
        </p:nvSpPr>
        <p:spPr>
          <a:xfrm>
            <a:off x="841248" y="3867912"/>
            <a:ext cx="420624" cy="420624"/>
          </a:xfrm>
          <a:prstGeom prst="ellipse">
            <a:avLst/>
          </a:prstGeom>
          <a:solidFill>
            <a:srgbClr val="1B1C6E"/>
          </a:solidFill>
          <a:ln/>
        </p:spPr>
      </p:sp>
      <p:sp>
        <p:nvSpPr>
          <p:cNvPr id="9" name="Text 7"/>
          <p:cNvSpPr txBox="1"/>
          <p:nvPr/>
        </p:nvSpPr>
        <p:spPr>
          <a:xfrm>
            <a:off x="841248" y="3867912"/>
            <a:ext cx="420624" cy="420624"/>
          </a:xfrm>
          <a:prstGeom prst="rect">
            <a:avLst/>
          </a:prstGeom>
          <a:noFill/>
          <a:ln/>
        </p:spPr>
        <p:txBody>
          <a:bodyPr wrap="square" lIns="0" tIns="0" rIns="0" bIns="0" rtlCol="0" anchor="ctr"/>
          <a:lstStyle/>
          <a:p>
            <a:pPr algn="ctr" indent="0" marL="0">
              <a:buNone/>
            </a:pPr>
            <a:r>
              <a:rPr lang="en-US" sz="1400" b="1" dirty="0">
                <a:solidFill>
                  <a:srgbClr val="F9BB0B"/>
                </a:solidFill>
                <a:latin typeface="Tahoma" pitchFamily="34" charset="0"/>
                <a:ea typeface="Tahoma" pitchFamily="34" charset="-122"/>
                <a:cs typeface="Tahoma" pitchFamily="34" charset="-120"/>
              </a:rPr>
              <a:t>2</a:t>
            </a:r>
            <a:endParaRPr lang="en-US" sz="1400" dirty="0"/>
          </a:p>
        </p:txBody>
      </p:sp>
      <p:sp>
        <p:nvSpPr>
          <p:cNvPr id="10" name="Text 8"/>
          <p:cNvSpPr txBox="1"/>
          <p:nvPr/>
        </p:nvSpPr>
        <p:spPr>
          <a:xfrm>
            <a:off x="1444752" y="3813048"/>
            <a:ext cx="5303520" cy="292608"/>
          </a:xfrm>
          <a:prstGeom prst="rect">
            <a:avLst/>
          </a:prstGeom>
          <a:noFill/>
          <a:ln/>
        </p:spPr>
        <p:txBody>
          <a:bodyPr wrap="square" lIns="0" tIns="0" rIns="0" bIns="0" rtlCol="0" anchor="ctr"/>
          <a:lstStyle/>
          <a:p>
            <a:pPr indent="0" marL="0">
              <a:buNone/>
            </a:pPr>
            <a:r>
              <a:rPr lang="en-US" sz="1450" b="1" dirty="0">
                <a:solidFill>
                  <a:srgbClr val="1B1C6E"/>
                </a:solidFill>
                <a:latin typeface="Tahoma" pitchFamily="34" charset="0"/>
                <a:ea typeface="Tahoma" pitchFamily="34" charset="-122"/>
                <a:cs typeface="Tahoma" pitchFamily="34" charset="-120"/>
              </a:rPr>
              <a:t>Cuatro miradas simultáneas</a:t>
            </a:r>
            <a:endParaRPr lang="en-US" sz="1450" dirty="0"/>
          </a:p>
        </p:txBody>
      </p:sp>
      <p:sp>
        <p:nvSpPr>
          <p:cNvPr id="11" name="Text 9"/>
          <p:cNvSpPr txBox="1"/>
          <p:nvPr/>
        </p:nvSpPr>
        <p:spPr>
          <a:xfrm>
            <a:off x="1444752" y="4123944"/>
            <a:ext cx="5303520" cy="566928"/>
          </a:xfrm>
          <a:prstGeom prst="rect">
            <a:avLst/>
          </a:prstGeom>
          <a:noFill/>
          <a:ln/>
        </p:spPr>
        <p:txBody>
          <a:bodyPr wrap="square" lIns="0" tIns="0" rIns="0" bIns="0" rtlCol="0" anchor="ctr"/>
          <a:lstStyle/>
          <a:p>
            <a:pPr indent="0" marL="0">
              <a:lnSpc>
                <a:spcPts val="1700"/>
              </a:lnSpc>
              <a:buNone/>
            </a:pPr>
            <a:r>
              <a:rPr lang="en-US" sz="1250" dirty="0">
                <a:solidFill>
                  <a:srgbClr val="55565E"/>
                </a:solidFill>
                <a:latin typeface="Calibri" pitchFamily="34" charset="0"/>
                <a:ea typeface="Calibri" pitchFamily="34" charset="-122"/>
                <a:cs typeface="Calibri" pitchFamily="34" charset="-120"/>
              </a:rPr>
              <a:t>Economía, Emprendimiento, Proyectos y Logística contextualizan, analizan y provocan la discusión.</a:t>
            </a:r>
            <a:endParaRPr lang="en-US" sz="1250" dirty="0"/>
          </a:p>
        </p:txBody>
      </p:sp>
      <p:sp>
        <p:nvSpPr>
          <p:cNvPr id="12" name="Shape 10"/>
          <p:cNvSpPr/>
          <p:nvPr/>
        </p:nvSpPr>
        <p:spPr>
          <a:xfrm>
            <a:off x="841248" y="4892040"/>
            <a:ext cx="420624" cy="420624"/>
          </a:xfrm>
          <a:prstGeom prst="ellipse">
            <a:avLst/>
          </a:prstGeom>
          <a:solidFill>
            <a:srgbClr val="1B1C6E"/>
          </a:solidFill>
          <a:ln/>
        </p:spPr>
      </p:sp>
      <p:sp>
        <p:nvSpPr>
          <p:cNvPr id="13" name="Text 11"/>
          <p:cNvSpPr txBox="1"/>
          <p:nvPr/>
        </p:nvSpPr>
        <p:spPr>
          <a:xfrm>
            <a:off x="841248" y="4892040"/>
            <a:ext cx="420624" cy="420624"/>
          </a:xfrm>
          <a:prstGeom prst="rect">
            <a:avLst/>
          </a:prstGeom>
          <a:noFill/>
          <a:ln/>
        </p:spPr>
        <p:txBody>
          <a:bodyPr wrap="square" lIns="0" tIns="0" rIns="0" bIns="0" rtlCol="0" anchor="ctr"/>
          <a:lstStyle/>
          <a:p>
            <a:pPr algn="ctr" indent="0" marL="0">
              <a:buNone/>
            </a:pPr>
            <a:r>
              <a:rPr lang="en-US" sz="1400" b="1" dirty="0">
                <a:solidFill>
                  <a:srgbClr val="F9BB0B"/>
                </a:solidFill>
                <a:latin typeface="Tahoma" pitchFamily="34" charset="0"/>
                <a:ea typeface="Tahoma" pitchFamily="34" charset="-122"/>
                <a:cs typeface="Tahoma" pitchFamily="34" charset="-120"/>
              </a:rPr>
              <a:t>3</a:t>
            </a:r>
            <a:endParaRPr lang="en-US" sz="1400" dirty="0"/>
          </a:p>
        </p:txBody>
      </p:sp>
      <p:sp>
        <p:nvSpPr>
          <p:cNvPr id="14" name="Text 12"/>
          <p:cNvSpPr txBox="1"/>
          <p:nvPr/>
        </p:nvSpPr>
        <p:spPr>
          <a:xfrm>
            <a:off x="1444752" y="4837176"/>
            <a:ext cx="5303520" cy="292608"/>
          </a:xfrm>
          <a:prstGeom prst="rect">
            <a:avLst/>
          </a:prstGeom>
          <a:noFill/>
          <a:ln/>
        </p:spPr>
        <p:txBody>
          <a:bodyPr wrap="square" lIns="0" tIns="0" rIns="0" bIns="0" rtlCol="0" anchor="ctr"/>
          <a:lstStyle/>
          <a:p>
            <a:pPr indent="0" marL="0">
              <a:buNone/>
            </a:pPr>
            <a:r>
              <a:rPr lang="en-US" sz="1450" b="1" dirty="0">
                <a:solidFill>
                  <a:srgbClr val="1B1C6E"/>
                </a:solidFill>
                <a:latin typeface="Tahoma" pitchFamily="34" charset="0"/>
                <a:ea typeface="Tahoma" pitchFamily="34" charset="-122"/>
                <a:cs typeface="Tahoma" pitchFamily="34" charset="-120"/>
              </a:rPr>
              <a:t>Una actividad por asignatura</a:t>
            </a:r>
            <a:endParaRPr lang="en-US" sz="1450" dirty="0"/>
          </a:p>
        </p:txBody>
      </p:sp>
      <p:sp>
        <p:nvSpPr>
          <p:cNvPr id="15" name="Text 13"/>
          <p:cNvSpPr txBox="1"/>
          <p:nvPr/>
        </p:nvSpPr>
        <p:spPr>
          <a:xfrm>
            <a:off x="1444752" y="5148072"/>
            <a:ext cx="5303520" cy="566928"/>
          </a:xfrm>
          <a:prstGeom prst="rect">
            <a:avLst/>
          </a:prstGeom>
          <a:noFill/>
          <a:ln/>
        </p:spPr>
        <p:txBody>
          <a:bodyPr wrap="square" lIns="0" tIns="0" rIns="0" bIns="0" rtlCol="0" anchor="ctr"/>
          <a:lstStyle/>
          <a:p>
            <a:pPr indent="0" marL="0">
              <a:lnSpc>
                <a:spcPts val="1700"/>
              </a:lnSpc>
              <a:buNone/>
            </a:pPr>
            <a:r>
              <a:rPr lang="en-US" sz="1250" dirty="0">
                <a:solidFill>
                  <a:srgbClr val="55565E"/>
                </a:solidFill>
                <a:latin typeface="Calibri" pitchFamily="34" charset="0"/>
                <a:ea typeface="Calibri" pitchFamily="34" charset="-122"/>
                <a:cs typeface="Calibri" pitchFamily="34" charset="-120"/>
              </a:rPr>
              <a:t>Al finalizar, cada docente plantea un producto distinto, alineado con sus resultados de aprendizaje.</a:t>
            </a:r>
            <a:endParaRPr lang="en-US" sz="1250" dirty="0"/>
          </a:p>
        </p:txBody>
      </p:sp>
      <p:pic>
        <p:nvPicPr>
          <p:cNvPr id="16" name="Image 0" descr="preencoded.png">    </p:cNvPr>
          <p:cNvPicPr>
            <a:picLocks noChangeAspect="1"/>
          </p:cNvPicPr>
          <p:nvPr/>
        </p:nvPicPr>
        <p:blipFill>
          <a:blip r:embed="rId2"/>
          <a:stretch>
            <a:fillRect/>
          </a:stretch>
        </p:blipFill>
        <p:spPr>
          <a:xfrm>
            <a:off x="7086600" y="1600200"/>
            <a:ext cx="4206240" cy="3657600"/>
          </a:xfrm>
          <a:prstGeom prst="rect">
            <a:avLst/>
          </a:prstGeom>
        </p:spPr>
      </p:pic>
      <p:sp>
        <p:nvSpPr>
          <p:cNvPr id="17" name="Text 14"/>
          <p:cNvSpPr txBox="1"/>
          <p:nvPr/>
        </p:nvSpPr>
        <p:spPr>
          <a:xfrm>
            <a:off x="7086600" y="5321808"/>
            <a:ext cx="4206240" cy="274320"/>
          </a:xfrm>
          <a:prstGeom prst="rect">
            <a:avLst/>
          </a:prstGeom>
          <a:noFill/>
          <a:ln/>
        </p:spPr>
        <p:txBody>
          <a:bodyPr wrap="square" lIns="0" tIns="0" rIns="0" bIns="0" rtlCol="0" anchor="ctr"/>
          <a:lstStyle/>
          <a:p>
            <a:pPr indent="0" marL="0">
              <a:buNone/>
            </a:pPr>
            <a:r>
              <a:rPr lang="en-US" sz="1000" i="1" dirty="0">
                <a:solidFill>
                  <a:srgbClr val="55565E"/>
                </a:solidFill>
                <a:latin typeface="Calibri" pitchFamily="34" charset="0"/>
                <a:ea typeface="Calibri" pitchFamily="34" charset="-122"/>
                <a:cs typeface="Calibri" pitchFamily="34" charset="-120"/>
              </a:rPr>
              <a:t>El café en el árbol: el origen del caso que vamos a analizar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Cómo vamos a trabajar</a:t>
            </a:r>
            <a:endParaRPr lang="en-US" sz="2500" dirty="0"/>
          </a:p>
        </p:txBody>
      </p:sp>
      <p:sp>
        <p:nvSpPr>
          <p:cNvPr id="3" name="Text 1"/>
          <p:cNvSpPr txBox="1"/>
          <p:nvPr/>
        </p:nvSpPr>
        <p:spPr>
          <a:xfrm>
            <a:off x="841248" y="1600200"/>
            <a:ext cx="1051560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La metodología combina estudio de caso, análisis interdisciplinario y actividades disciplinares. El encuentro dura aproximadamente dos horas y reúne a estudiantes y docentes de las cuatro asignaturas participantes.</a:t>
            </a:r>
            <a:endParaRPr lang="en-US" sz="1450" dirty="0"/>
          </a:p>
        </p:txBody>
      </p:sp>
      <p:sp>
        <p:nvSpPr>
          <p:cNvPr id="4" name="Shape 2"/>
          <p:cNvSpPr/>
          <p:nvPr/>
        </p:nvSpPr>
        <p:spPr>
          <a:xfrm>
            <a:off x="841248" y="2697480"/>
            <a:ext cx="2423160" cy="2103120"/>
          </a:xfrm>
          <a:prstGeom prst="roundRect">
            <a:avLst>
              <a:gd name="adj" fmla="val 4348"/>
            </a:avLst>
          </a:prstGeom>
          <a:solidFill>
            <a:srgbClr val="F1F2F8"/>
          </a:solidFill>
          <a:ln/>
        </p:spPr>
      </p:sp>
      <p:sp>
        <p:nvSpPr>
          <p:cNvPr id="5" name="Shape 3"/>
          <p:cNvSpPr/>
          <p:nvPr/>
        </p:nvSpPr>
        <p:spPr>
          <a:xfrm>
            <a:off x="1069848" y="2926080"/>
            <a:ext cx="457200" cy="457200"/>
          </a:xfrm>
          <a:prstGeom prst="ellipse">
            <a:avLst/>
          </a:prstGeom>
          <a:solidFill>
            <a:srgbClr val="F9BB0B"/>
          </a:solidFill>
          <a:ln/>
        </p:spPr>
      </p:sp>
      <p:sp>
        <p:nvSpPr>
          <p:cNvPr id="6" name="Text 4"/>
          <p:cNvSpPr txBox="1"/>
          <p:nvPr/>
        </p:nvSpPr>
        <p:spPr>
          <a:xfrm>
            <a:off x="1069848" y="2926080"/>
            <a:ext cx="457200" cy="457200"/>
          </a:xfrm>
          <a:prstGeom prst="rect">
            <a:avLst/>
          </a:prstGeom>
          <a:noFill/>
          <a:ln/>
        </p:spPr>
        <p:txBody>
          <a:bodyPr wrap="square" lIns="0" tIns="0" rIns="0" bIns="0" rtlCol="0" anchor="ctr"/>
          <a:lstStyle/>
          <a:p>
            <a:pPr algn="ctr" indent="0" marL="0">
              <a:buNone/>
            </a:pPr>
            <a:r>
              <a:rPr lang="en-US" sz="1500" b="1" dirty="0">
                <a:solidFill>
                  <a:srgbClr val="1B1C6E"/>
                </a:solidFill>
                <a:latin typeface="Tahoma" pitchFamily="34" charset="0"/>
                <a:ea typeface="Tahoma" pitchFamily="34" charset="-122"/>
                <a:cs typeface="Tahoma" pitchFamily="34" charset="-120"/>
              </a:rPr>
              <a:t>1</a:t>
            </a:r>
            <a:endParaRPr lang="en-US" sz="1500" dirty="0"/>
          </a:p>
        </p:txBody>
      </p:sp>
      <p:sp>
        <p:nvSpPr>
          <p:cNvPr id="7" name="Text 5"/>
          <p:cNvSpPr txBox="1"/>
          <p:nvPr/>
        </p:nvSpPr>
        <p:spPr>
          <a:xfrm>
            <a:off x="1069848" y="3493008"/>
            <a:ext cx="1965960" cy="457200"/>
          </a:xfrm>
          <a:prstGeom prst="rect">
            <a:avLst/>
          </a:prstGeom>
          <a:noFill/>
          <a:ln/>
        </p:spPr>
        <p:txBody>
          <a:bodyPr wrap="square" lIns="0" tIns="0" rIns="0" bIns="0" rtlCol="0" anchor="t"/>
          <a:lstStyle/>
          <a:p>
            <a:pPr indent="0" marL="0">
              <a:buNone/>
            </a:pPr>
            <a:r>
              <a:rPr lang="en-US" sz="1350" b="1" dirty="0">
                <a:solidFill>
                  <a:srgbClr val="1B1C6E"/>
                </a:solidFill>
                <a:latin typeface="Tahoma" pitchFamily="34" charset="0"/>
                <a:ea typeface="Tahoma" pitchFamily="34" charset="-122"/>
                <a:cs typeface="Tahoma" pitchFamily="34" charset="-120"/>
              </a:rPr>
              <a:t>Estudio de caso</a:t>
            </a:r>
            <a:endParaRPr lang="en-US" sz="1350" dirty="0"/>
          </a:p>
        </p:txBody>
      </p:sp>
      <p:sp>
        <p:nvSpPr>
          <p:cNvPr id="8" name="Text 6"/>
          <p:cNvSpPr txBox="1"/>
          <p:nvPr/>
        </p:nvSpPr>
        <p:spPr>
          <a:xfrm>
            <a:off x="1069848" y="3950208"/>
            <a:ext cx="1965960" cy="777240"/>
          </a:xfrm>
          <a:prstGeom prst="rect">
            <a:avLst/>
          </a:prstGeom>
          <a:noFill/>
          <a:ln/>
        </p:spPr>
        <p:txBody>
          <a:bodyPr wrap="square" lIns="0" tIns="0" rIns="0" bIns="0" rtlCol="0" anchor="ctr"/>
          <a:lstStyle/>
          <a:p>
            <a:pPr indent="0" marL="0">
              <a:lnSpc>
                <a:spcPts val="1500"/>
              </a:lnSpc>
              <a:buNone/>
            </a:pPr>
            <a:r>
              <a:rPr lang="en-US" sz="1100" dirty="0">
                <a:solidFill>
                  <a:srgbClr val="55565E"/>
                </a:solidFill>
                <a:latin typeface="Calibri" pitchFamily="34" charset="0"/>
                <a:ea typeface="Calibri" pitchFamily="34" charset="-122"/>
                <a:cs typeface="Calibri" pitchFamily="34" charset="-120"/>
              </a:rPr>
              <a:t>Se presenta una empresa antioqueña real en su contexto y la decisión que debe tomar.</a:t>
            </a:r>
            <a:endParaRPr lang="en-US" sz="1100" dirty="0"/>
          </a:p>
        </p:txBody>
      </p:sp>
      <p:sp>
        <p:nvSpPr>
          <p:cNvPr id="9" name="Shape 7"/>
          <p:cNvSpPr/>
          <p:nvPr/>
        </p:nvSpPr>
        <p:spPr>
          <a:xfrm>
            <a:off x="3538728" y="2697480"/>
            <a:ext cx="2423160" cy="2103120"/>
          </a:xfrm>
          <a:prstGeom prst="roundRect">
            <a:avLst>
              <a:gd name="adj" fmla="val 4348"/>
            </a:avLst>
          </a:prstGeom>
          <a:solidFill>
            <a:srgbClr val="F1F2F8"/>
          </a:solidFill>
          <a:ln/>
        </p:spPr>
      </p:sp>
      <p:sp>
        <p:nvSpPr>
          <p:cNvPr id="10" name="Shape 8"/>
          <p:cNvSpPr/>
          <p:nvPr/>
        </p:nvSpPr>
        <p:spPr>
          <a:xfrm>
            <a:off x="3767328" y="2926080"/>
            <a:ext cx="457200" cy="457200"/>
          </a:xfrm>
          <a:prstGeom prst="ellipse">
            <a:avLst/>
          </a:prstGeom>
          <a:solidFill>
            <a:srgbClr val="F9BB0B"/>
          </a:solidFill>
          <a:ln/>
        </p:spPr>
      </p:sp>
      <p:sp>
        <p:nvSpPr>
          <p:cNvPr id="11" name="Text 9"/>
          <p:cNvSpPr txBox="1"/>
          <p:nvPr/>
        </p:nvSpPr>
        <p:spPr>
          <a:xfrm>
            <a:off x="3767328" y="2926080"/>
            <a:ext cx="457200" cy="457200"/>
          </a:xfrm>
          <a:prstGeom prst="rect">
            <a:avLst/>
          </a:prstGeom>
          <a:noFill/>
          <a:ln/>
        </p:spPr>
        <p:txBody>
          <a:bodyPr wrap="square" lIns="0" tIns="0" rIns="0" bIns="0" rtlCol="0" anchor="ctr"/>
          <a:lstStyle/>
          <a:p>
            <a:pPr algn="ctr" indent="0" marL="0">
              <a:buNone/>
            </a:pPr>
            <a:r>
              <a:rPr lang="en-US" sz="1500" b="1" dirty="0">
                <a:solidFill>
                  <a:srgbClr val="1B1C6E"/>
                </a:solidFill>
                <a:latin typeface="Tahoma" pitchFamily="34" charset="0"/>
                <a:ea typeface="Tahoma" pitchFamily="34" charset="-122"/>
                <a:cs typeface="Tahoma" pitchFamily="34" charset="-120"/>
              </a:rPr>
              <a:t>2</a:t>
            </a:r>
            <a:endParaRPr lang="en-US" sz="1500" dirty="0"/>
          </a:p>
        </p:txBody>
      </p:sp>
      <p:sp>
        <p:nvSpPr>
          <p:cNvPr id="12" name="Text 10"/>
          <p:cNvSpPr txBox="1"/>
          <p:nvPr/>
        </p:nvSpPr>
        <p:spPr>
          <a:xfrm>
            <a:off x="3767328" y="3493008"/>
            <a:ext cx="1965960" cy="457200"/>
          </a:xfrm>
          <a:prstGeom prst="rect">
            <a:avLst/>
          </a:prstGeom>
          <a:noFill/>
          <a:ln/>
        </p:spPr>
        <p:txBody>
          <a:bodyPr wrap="square" lIns="0" tIns="0" rIns="0" bIns="0" rtlCol="0" anchor="t"/>
          <a:lstStyle/>
          <a:p>
            <a:pPr indent="0" marL="0">
              <a:buNone/>
            </a:pPr>
            <a:r>
              <a:rPr lang="en-US" sz="1350" b="1" dirty="0">
                <a:solidFill>
                  <a:srgbClr val="1B1C6E"/>
                </a:solidFill>
                <a:latin typeface="Tahoma" pitchFamily="34" charset="0"/>
                <a:ea typeface="Tahoma" pitchFamily="34" charset="-122"/>
                <a:cs typeface="Tahoma" pitchFamily="34" charset="-120"/>
              </a:rPr>
              <a:t>Encuentro interdisciplinario</a:t>
            </a:r>
            <a:endParaRPr lang="en-US" sz="1350" dirty="0"/>
          </a:p>
        </p:txBody>
      </p:sp>
      <p:sp>
        <p:nvSpPr>
          <p:cNvPr id="13" name="Text 11"/>
          <p:cNvSpPr txBox="1"/>
          <p:nvPr/>
        </p:nvSpPr>
        <p:spPr>
          <a:xfrm>
            <a:off x="3767328" y="3950208"/>
            <a:ext cx="1965960" cy="777240"/>
          </a:xfrm>
          <a:prstGeom prst="rect">
            <a:avLst/>
          </a:prstGeom>
          <a:noFill/>
          <a:ln/>
        </p:spPr>
        <p:txBody>
          <a:bodyPr wrap="square" lIns="0" tIns="0" rIns="0" bIns="0" rtlCol="0" anchor="ctr"/>
          <a:lstStyle/>
          <a:p>
            <a:pPr indent="0" marL="0">
              <a:lnSpc>
                <a:spcPts val="1500"/>
              </a:lnSpc>
              <a:buNone/>
            </a:pPr>
            <a:r>
              <a:rPr lang="en-US" sz="1100" dirty="0">
                <a:solidFill>
                  <a:srgbClr val="55565E"/>
                </a:solidFill>
                <a:latin typeface="Calibri" pitchFamily="34" charset="0"/>
                <a:ea typeface="Calibri" pitchFamily="34" charset="-122"/>
                <a:cs typeface="Calibri" pitchFamily="34" charset="-120"/>
              </a:rPr>
              <a:t>Los docentes contextualizan, analizan y muestran las variables que hay detrás de la decisión.</a:t>
            </a:r>
            <a:endParaRPr lang="en-US" sz="1100" dirty="0"/>
          </a:p>
        </p:txBody>
      </p:sp>
      <p:sp>
        <p:nvSpPr>
          <p:cNvPr id="14" name="Shape 12"/>
          <p:cNvSpPr/>
          <p:nvPr/>
        </p:nvSpPr>
        <p:spPr>
          <a:xfrm>
            <a:off x="6236208" y="2697480"/>
            <a:ext cx="2423160" cy="2103120"/>
          </a:xfrm>
          <a:prstGeom prst="roundRect">
            <a:avLst>
              <a:gd name="adj" fmla="val 4348"/>
            </a:avLst>
          </a:prstGeom>
          <a:solidFill>
            <a:srgbClr val="F1F2F8"/>
          </a:solidFill>
          <a:ln/>
        </p:spPr>
      </p:sp>
      <p:sp>
        <p:nvSpPr>
          <p:cNvPr id="15" name="Shape 13"/>
          <p:cNvSpPr/>
          <p:nvPr/>
        </p:nvSpPr>
        <p:spPr>
          <a:xfrm>
            <a:off x="6464808" y="2926080"/>
            <a:ext cx="457200" cy="457200"/>
          </a:xfrm>
          <a:prstGeom prst="ellipse">
            <a:avLst/>
          </a:prstGeom>
          <a:solidFill>
            <a:srgbClr val="F9BB0B"/>
          </a:solidFill>
          <a:ln/>
        </p:spPr>
      </p:sp>
      <p:sp>
        <p:nvSpPr>
          <p:cNvPr id="16" name="Text 14"/>
          <p:cNvSpPr txBox="1"/>
          <p:nvPr/>
        </p:nvSpPr>
        <p:spPr>
          <a:xfrm>
            <a:off x="6464808" y="2926080"/>
            <a:ext cx="457200" cy="457200"/>
          </a:xfrm>
          <a:prstGeom prst="rect">
            <a:avLst/>
          </a:prstGeom>
          <a:noFill/>
          <a:ln/>
        </p:spPr>
        <p:txBody>
          <a:bodyPr wrap="square" lIns="0" tIns="0" rIns="0" bIns="0" rtlCol="0" anchor="ctr"/>
          <a:lstStyle/>
          <a:p>
            <a:pPr algn="ctr" indent="0" marL="0">
              <a:buNone/>
            </a:pPr>
            <a:r>
              <a:rPr lang="en-US" sz="1500" b="1" dirty="0">
                <a:solidFill>
                  <a:srgbClr val="1B1C6E"/>
                </a:solidFill>
                <a:latin typeface="Tahoma" pitchFamily="34" charset="0"/>
                <a:ea typeface="Tahoma" pitchFamily="34" charset="-122"/>
                <a:cs typeface="Tahoma" pitchFamily="34" charset="-120"/>
              </a:rPr>
              <a:t>3</a:t>
            </a:r>
            <a:endParaRPr lang="en-US" sz="1500" dirty="0"/>
          </a:p>
        </p:txBody>
      </p:sp>
      <p:sp>
        <p:nvSpPr>
          <p:cNvPr id="17" name="Text 15"/>
          <p:cNvSpPr txBox="1"/>
          <p:nvPr/>
        </p:nvSpPr>
        <p:spPr>
          <a:xfrm>
            <a:off x="6464808" y="3493008"/>
            <a:ext cx="1965960" cy="457200"/>
          </a:xfrm>
          <a:prstGeom prst="rect">
            <a:avLst/>
          </a:prstGeom>
          <a:noFill/>
          <a:ln/>
        </p:spPr>
        <p:txBody>
          <a:bodyPr wrap="square" lIns="0" tIns="0" rIns="0" bIns="0" rtlCol="0" anchor="t"/>
          <a:lstStyle/>
          <a:p>
            <a:pPr indent="0" marL="0">
              <a:buNone/>
            </a:pPr>
            <a:r>
              <a:rPr lang="en-US" sz="1350" b="1" dirty="0">
                <a:solidFill>
                  <a:srgbClr val="1B1C6E"/>
                </a:solidFill>
                <a:latin typeface="Tahoma" pitchFamily="34" charset="0"/>
                <a:ea typeface="Tahoma" pitchFamily="34" charset="-122"/>
                <a:cs typeface="Tahoma" pitchFamily="34" charset="-120"/>
              </a:rPr>
              <a:t>Discusión con estudiantes</a:t>
            </a:r>
            <a:endParaRPr lang="en-US" sz="1350" dirty="0"/>
          </a:p>
        </p:txBody>
      </p:sp>
      <p:sp>
        <p:nvSpPr>
          <p:cNvPr id="18" name="Text 16"/>
          <p:cNvSpPr txBox="1"/>
          <p:nvPr/>
        </p:nvSpPr>
        <p:spPr>
          <a:xfrm>
            <a:off x="6464808" y="3950208"/>
            <a:ext cx="1965960" cy="777240"/>
          </a:xfrm>
          <a:prstGeom prst="rect">
            <a:avLst/>
          </a:prstGeom>
          <a:noFill/>
          <a:ln/>
        </p:spPr>
        <p:txBody>
          <a:bodyPr wrap="square" lIns="0" tIns="0" rIns="0" bIns="0" rtlCol="0" anchor="ctr"/>
          <a:lstStyle/>
          <a:p>
            <a:pPr indent="0" marL="0">
              <a:lnSpc>
                <a:spcPts val="1500"/>
              </a:lnSpc>
              <a:buNone/>
            </a:pPr>
            <a:r>
              <a:rPr lang="en-US" sz="1100" dirty="0">
                <a:solidFill>
                  <a:srgbClr val="55565E"/>
                </a:solidFill>
                <a:latin typeface="Calibri" pitchFamily="34" charset="0"/>
                <a:ea typeface="Calibri" pitchFamily="34" charset="-122"/>
                <a:cs typeface="Calibri" pitchFamily="34" charset="-120"/>
              </a:rPr>
              <a:t>El grupo participa, aporta criterios y descubre la información que hace falta para decidir.</a:t>
            </a:r>
            <a:endParaRPr lang="en-US" sz="1100" dirty="0"/>
          </a:p>
        </p:txBody>
      </p:sp>
      <p:sp>
        <p:nvSpPr>
          <p:cNvPr id="19" name="Shape 17"/>
          <p:cNvSpPr/>
          <p:nvPr/>
        </p:nvSpPr>
        <p:spPr>
          <a:xfrm>
            <a:off x="8933688" y="2697480"/>
            <a:ext cx="2423160" cy="2103120"/>
          </a:xfrm>
          <a:prstGeom prst="roundRect">
            <a:avLst>
              <a:gd name="adj" fmla="val 4348"/>
            </a:avLst>
          </a:prstGeom>
          <a:solidFill>
            <a:srgbClr val="F1F2F8"/>
          </a:solidFill>
          <a:ln/>
        </p:spPr>
      </p:sp>
      <p:sp>
        <p:nvSpPr>
          <p:cNvPr id="20" name="Shape 18"/>
          <p:cNvSpPr/>
          <p:nvPr/>
        </p:nvSpPr>
        <p:spPr>
          <a:xfrm>
            <a:off x="9162288" y="2926080"/>
            <a:ext cx="457200" cy="457200"/>
          </a:xfrm>
          <a:prstGeom prst="ellipse">
            <a:avLst/>
          </a:prstGeom>
          <a:solidFill>
            <a:srgbClr val="F9BB0B"/>
          </a:solidFill>
          <a:ln/>
        </p:spPr>
      </p:sp>
      <p:sp>
        <p:nvSpPr>
          <p:cNvPr id="21" name="Text 19"/>
          <p:cNvSpPr txBox="1"/>
          <p:nvPr/>
        </p:nvSpPr>
        <p:spPr>
          <a:xfrm>
            <a:off x="9162288" y="2926080"/>
            <a:ext cx="457200" cy="457200"/>
          </a:xfrm>
          <a:prstGeom prst="rect">
            <a:avLst/>
          </a:prstGeom>
          <a:noFill/>
          <a:ln/>
        </p:spPr>
        <p:txBody>
          <a:bodyPr wrap="square" lIns="0" tIns="0" rIns="0" bIns="0" rtlCol="0" anchor="ctr"/>
          <a:lstStyle/>
          <a:p>
            <a:pPr algn="ctr" indent="0" marL="0">
              <a:buNone/>
            </a:pPr>
            <a:r>
              <a:rPr lang="en-US" sz="1500" b="1" dirty="0">
                <a:solidFill>
                  <a:srgbClr val="1B1C6E"/>
                </a:solidFill>
                <a:latin typeface="Tahoma" pitchFamily="34" charset="0"/>
                <a:ea typeface="Tahoma" pitchFamily="34" charset="-122"/>
                <a:cs typeface="Tahoma" pitchFamily="34" charset="-120"/>
              </a:rPr>
              <a:t>4</a:t>
            </a:r>
            <a:endParaRPr lang="en-US" sz="1500" dirty="0"/>
          </a:p>
        </p:txBody>
      </p:sp>
      <p:sp>
        <p:nvSpPr>
          <p:cNvPr id="22" name="Text 20"/>
          <p:cNvSpPr txBox="1"/>
          <p:nvPr/>
        </p:nvSpPr>
        <p:spPr>
          <a:xfrm>
            <a:off x="9162288" y="3493008"/>
            <a:ext cx="1965960" cy="457200"/>
          </a:xfrm>
          <a:prstGeom prst="rect">
            <a:avLst/>
          </a:prstGeom>
          <a:noFill/>
          <a:ln/>
        </p:spPr>
        <p:txBody>
          <a:bodyPr wrap="square" lIns="0" tIns="0" rIns="0" bIns="0" rtlCol="0" anchor="t"/>
          <a:lstStyle/>
          <a:p>
            <a:pPr indent="0" marL="0">
              <a:buNone/>
            </a:pPr>
            <a:r>
              <a:rPr lang="en-US" sz="1350" b="1" dirty="0">
                <a:solidFill>
                  <a:srgbClr val="1B1C6E"/>
                </a:solidFill>
                <a:latin typeface="Tahoma" pitchFamily="34" charset="0"/>
                <a:ea typeface="Tahoma" pitchFamily="34" charset="-122"/>
                <a:cs typeface="Tahoma" pitchFamily="34" charset="-120"/>
              </a:rPr>
              <a:t>Actividad por asignatura</a:t>
            </a:r>
            <a:endParaRPr lang="en-US" sz="1350" dirty="0"/>
          </a:p>
        </p:txBody>
      </p:sp>
      <p:sp>
        <p:nvSpPr>
          <p:cNvPr id="23" name="Text 21"/>
          <p:cNvSpPr txBox="1"/>
          <p:nvPr/>
        </p:nvSpPr>
        <p:spPr>
          <a:xfrm>
            <a:off x="9162288" y="3950208"/>
            <a:ext cx="1965960" cy="777240"/>
          </a:xfrm>
          <a:prstGeom prst="rect">
            <a:avLst/>
          </a:prstGeom>
          <a:noFill/>
          <a:ln/>
        </p:spPr>
        <p:txBody>
          <a:bodyPr wrap="square" lIns="0" tIns="0" rIns="0" bIns="0" rtlCol="0" anchor="ctr"/>
          <a:lstStyle/>
          <a:p>
            <a:pPr indent="0" marL="0">
              <a:lnSpc>
                <a:spcPts val="1500"/>
              </a:lnSpc>
              <a:buNone/>
            </a:pPr>
            <a:r>
              <a:rPr lang="en-US" sz="1100" dirty="0">
                <a:solidFill>
                  <a:srgbClr val="55565E"/>
                </a:solidFill>
                <a:latin typeface="Calibri" pitchFamily="34" charset="0"/>
                <a:ea typeface="Calibri" pitchFamily="34" charset="-122"/>
                <a:cs typeface="Calibri" pitchFamily="34" charset="-120"/>
              </a:rPr>
              <a:t>Cada docente deja un producto distinto sobre el mismo caso, según su asignatura.</a:t>
            </a:r>
            <a:endParaRPr lang="en-US" sz="1100" dirty="0"/>
          </a:p>
        </p:txBody>
      </p:sp>
      <p:sp>
        <p:nvSpPr>
          <p:cNvPr id="24" name="Text 22"/>
          <p:cNvSpPr txBox="1"/>
          <p:nvPr/>
        </p:nvSpPr>
        <p:spPr>
          <a:xfrm>
            <a:off x="841248" y="4983480"/>
            <a:ext cx="2423160" cy="411480"/>
          </a:xfrm>
          <a:prstGeom prst="rect">
            <a:avLst/>
          </a:prstGeom>
          <a:noFill/>
          <a:ln/>
        </p:spPr>
        <p:txBody>
          <a:bodyPr wrap="square" lIns="0" tIns="0" rIns="0" bIns="0" rtlCol="0" anchor="ctr"/>
          <a:lstStyle/>
          <a:p>
            <a:pPr indent="0" marL="0">
              <a:buNone/>
            </a:pPr>
            <a:r>
              <a:rPr lang="en-US" sz="1050" b="1" dirty="0">
                <a:solidFill>
                  <a:srgbClr val="1B1C6E"/>
                </a:solidFill>
                <a:latin typeface="Calibri" pitchFamily="34" charset="0"/>
                <a:ea typeface="Calibri" pitchFamily="34" charset="-122"/>
                <a:cs typeface="Calibri" pitchFamily="34" charset="-120"/>
              </a:rPr>
              <a:t>Programa:  </a:t>
            </a:r>
            <a:pPr indent="0" marL="0">
              <a:buNone/>
            </a:pPr>
            <a:r>
              <a:rPr lang="en-US" sz="1050" dirty="0">
                <a:solidFill>
                  <a:srgbClr val="55565E"/>
                </a:solidFill>
                <a:latin typeface="Calibri" pitchFamily="34" charset="0"/>
                <a:ea typeface="Calibri" pitchFamily="34" charset="-122"/>
                <a:cs typeface="Calibri" pitchFamily="34" charset="-120"/>
              </a:rPr>
              <a:t>Administración de Empresas</a:t>
            </a:r>
            <a:endParaRPr lang="en-US" sz="1050" dirty="0"/>
          </a:p>
        </p:txBody>
      </p:sp>
      <p:sp>
        <p:nvSpPr>
          <p:cNvPr id="25" name="Text 23"/>
          <p:cNvSpPr txBox="1"/>
          <p:nvPr/>
        </p:nvSpPr>
        <p:spPr>
          <a:xfrm>
            <a:off x="3538728" y="4983480"/>
            <a:ext cx="2423160" cy="411480"/>
          </a:xfrm>
          <a:prstGeom prst="rect">
            <a:avLst/>
          </a:prstGeom>
          <a:noFill/>
          <a:ln/>
        </p:spPr>
        <p:txBody>
          <a:bodyPr wrap="square" lIns="0" tIns="0" rIns="0" bIns="0" rtlCol="0" anchor="ctr"/>
          <a:lstStyle/>
          <a:p>
            <a:pPr indent="0" marL="0">
              <a:buNone/>
            </a:pPr>
            <a:r>
              <a:rPr lang="en-US" sz="1050" b="1" dirty="0">
                <a:solidFill>
                  <a:srgbClr val="1B1C6E"/>
                </a:solidFill>
                <a:latin typeface="Calibri" pitchFamily="34" charset="0"/>
                <a:ea typeface="Calibri" pitchFamily="34" charset="-122"/>
                <a:cs typeface="Calibri" pitchFamily="34" charset="-120"/>
              </a:rPr>
              <a:t>Modalidad:  </a:t>
            </a:r>
            <a:pPr indent="0" marL="0">
              <a:buNone/>
            </a:pPr>
            <a:r>
              <a:rPr lang="en-US" sz="1050" dirty="0">
                <a:solidFill>
                  <a:srgbClr val="55565E"/>
                </a:solidFill>
                <a:latin typeface="Calibri" pitchFamily="34" charset="0"/>
                <a:ea typeface="Calibri" pitchFamily="34" charset="-122"/>
                <a:cs typeface="Calibri" pitchFamily="34" charset="-120"/>
              </a:rPr>
              <a:t>Virtual</a:t>
            </a:r>
            <a:endParaRPr lang="en-US" sz="1050" dirty="0"/>
          </a:p>
        </p:txBody>
      </p:sp>
      <p:sp>
        <p:nvSpPr>
          <p:cNvPr id="26" name="Text 24"/>
          <p:cNvSpPr txBox="1"/>
          <p:nvPr/>
        </p:nvSpPr>
        <p:spPr>
          <a:xfrm>
            <a:off x="6236208" y="4983480"/>
            <a:ext cx="2423160" cy="411480"/>
          </a:xfrm>
          <a:prstGeom prst="rect">
            <a:avLst/>
          </a:prstGeom>
          <a:noFill/>
          <a:ln/>
        </p:spPr>
        <p:txBody>
          <a:bodyPr wrap="square" lIns="0" tIns="0" rIns="0" bIns="0" rtlCol="0" anchor="ctr"/>
          <a:lstStyle/>
          <a:p>
            <a:pPr indent="0" marL="0">
              <a:buNone/>
            </a:pPr>
            <a:r>
              <a:rPr lang="en-US" sz="1050" b="1" dirty="0">
                <a:solidFill>
                  <a:srgbClr val="1B1C6E"/>
                </a:solidFill>
                <a:latin typeface="Calibri" pitchFamily="34" charset="0"/>
                <a:ea typeface="Calibri" pitchFamily="34" charset="-122"/>
                <a:cs typeface="Calibri" pitchFamily="34" charset="-120"/>
              </a:rPr>
              <a:t>Duración:  </a:t>
            </a:r>
            <a:pPr indent="0" marL="0">
              <a:buNone/>
            </a:pPr>
            <a:r>
              <a:rPr lang="en-US" sz="1050" dirty="0">
                <a:solidFill>
                  <a:srgbClr val="55565E"/>
                </a:solidFill>
                <a:latin typeface="Calibri" pitchFamily="34" charset="0"/>
                <a:ea typeface="Calibri" pitchFamily="34" charset="-122"/>
                <a:cs typeface="Calibri" pitchFamily="34" charset="-120"/>
              </a:rPr>
              <a:t>2 horas aproximadamente</a:t>
            </a:r>
            <a:endParaRPr lang="en-US" sz="1050" dirty="0"/>
          </a:p>
        </p:txBody>
      </p:sp>
      <p:sp>
        <p:nvSpPr>
          <p:cNvPr id="27" name="Text 25"/>
          <p:cNvSpPr txBox="1"/>
          <p:nvPr/>
        </p:nvSpPr>
        <p:spPr>
          <a:xfrm>
            <a:off x="8933688" y="4983480"/>
            <a:ext cx="2423160" cy="411480"/>
          </a:xfrm>
          <a:prstGeom prst="rect">
            <a:avLst/>
          </a:prstGeom>
          <a:noFill/>
          <a:ln/>
        </p:spPr>
        <p:txBody>
          <a:bodyPr wrap="square" lIns="0" tIns="0" rIns="0" bIns="0" rtlCol="0" anchor="ctr"/>
          <a:lstStyle/>
          <a:p>
            <a:pPr indent="0" marL="0">
              <a:buNone/>
            </a:pPr>
            <a:r>
              <a:rPr lang="en-US" sz="1050" b="1" dirty="0">
                <a:solidFill>
                  <a:srgbClr val="1B1C6E"/>
                </a:solidFill>
                <a:latin typeface="Calibri" pitchFamily="34" charset="0"/>
                <a:ea typeface="Calibri" pitchFamily="34" charset="-122"/>
                <a:cs typeface="Calibri" pitchFamily="34" charset="-120"/>
              </a:rPr>
              <a:t>Participantes:  </a:t>
            </a:r>
            <a:pPr indent="0" marL="0">
              <a:buNone/>
            </a:pPr>
            <a:r>
              <a:rPr lang="en-US" sz="1050" dirty="0">
                <a:solidFill>
                  <a:srgbClr val="55565E"/>
                </a:solidFill>
                <a:latin typeface="Calibri" pitchFamily="34" charset="0"/>
                <a:ea typeface="Calibri" pitchFamily="34" charset="-122"/>
                <a:cs typeface="Calibri" pitchFamily="34" charset="-120"/>
              </a:rPr>
              <a:t>Estudiantes y docentes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Cuatro miradas sobre una misma empresa</a:t>
            </a:r>
            <a:endParaRPr lang="en-US" sz="2500" dirty="0"/>
          </a:p>
        </p:txBody>
      </p:sp>
      <p:sp>
        <p:nvSpPr>
          <p:cNvPr id="3" name="Text 1"/>
          <p:cNvSpPr txBox="1"/>
          <p:nvPr/>
        </p:nvSpPr>
        <p:spPr>
          <a:xfrm>
            <a:off x="841248" y="1600200"/>
            <a:ext cx="1051560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Cada docente entra al caso desde su disciplina. Ninguna mirada resuelve el problema por sí sola: la decisión gerencial aparece cuando las cuatro se integran.</a:t>
            </a:r>
            <a:endParaRPr lang="en-US" sz="1450" dirty="0"/>
          </a:p>
        </p:txBody>
      </p:sp>
      <p:sp>
        <p:nvSpPr>
          <p:cNvPr id="4" name="Shape 2"/>
          <p:cNvSpPr/>
          <p:nvPr/>
        </p:nvSpPr>
        <p:spPr>
          <a:xfrm>
            <a:off x="841248" y="2606040"/>
            <a:ext cx="2423160" cy="2514600"/>
          </a:xfrm>
          <a:prstGeom prst="roundRect">
            <a:avLst>
              <a:gd name="adj" fmla="val 3774"/>
            </a:avLst>
          </a:prstGeom>
          <a:solidFill>
            <a:srgbClr val="1B1C6E"/>
          </a:solidFill>
          <a:ln/>
        </p:spPr>
      </p:sp>
      <p:sp>
        <p:nvSpPr>
          <p:cNvPr id="5" name="Text 3"/>
          <p:cNvSpPr txBox="1"/>
          <p:nvPr/>
        </p:nvSpPr>
        <p:spPr>
          <a:xfrm>
            <a:off x="1069848" y="2834640"/>
            <a:ext cx="1965960" cy="658368"/>
          </a:xfrm>
          <a:prstGeom prst="rect">
            <a:avLst/>
          </a:prstGeom>
          <a:noFill/>
          <a:ln/>
        </p:spPr>
        <p:txBody>
          <a:bodyPr wrap="square" lIns="0" tIns="0" rIns="0" bIns="0" rtlCol="0" anchor="t"/>
          <a:lstStyle/>
          <a:p>
            <a:pPr indent="0" marL="0">
              <a:lnSpc>
                <a:spcPts val="1600"/>
              </a:lnSpc>
              <a:buNone/>
            </a:pPr>
            <a:r>
              <a:rPr lang="en-US" sz="1250" b="1" dirty="0">
                <a:solidFill>
                  <a:srgbClr val="F9BB0B"/>
                </a:solidFill>
                <a:latin typeface="Tahoma" pitchFamily="34" charset="0"/>
                <a:ea typeface="Tahoma" pitchFamily="34" charset="-122"/>
                <a:cs typeface="Tahoma" pitchFamily="34" charset="-120"/>
              </a:rPr>
              <a:t>ECONOMÍA</a:t>
            </a:r>
            <a:endParaRPr lang="en-US" sz="1250" dirty="0"/>
          </a:p>
        </p:txBody>
      </p:sp>
      <p:sp>
        <p:nvSpPr>
          <p:cNvPr id="6" name="Text 4"/>
          <p:cNvSpPr txBox="1"/>
          <p:nvPr/>
        </p:nvSpPr>
        <p:spPr>
          <a:xfrm>
            <a:off x="1069848" y="3566160"/>
            <a:ext cx="1965960" cy="1051560"/>
          </a:xfrm>
          <a:prstGeom prst="rect">
            <a:avLst/>
          </a:prstGeom>
          <a:noFill/>
          <a:ln/>
        </p:spPr>
        <p:txBody>
          <a:bodyPr wrap="square" lIns="0" tIns="0" rIns="0" bIns="0" rtlCol="0" anchor="t"/>
          <a:lstStyle/>
          <a:p>
            <a:pPr indent="0" marL="0">
              <a:lnSpc>
                <a:spcPts val="1700"/>
              </a:lnSpc>
              <a:buNone/>
            </a:pPr>
            <a:r>
              <a:rPr lang="en-US" sz="1250" i="1" dirty="0">
                <a:solidFill>
                  <a:srgbClr val="FFFFFF"/>
                </a:solidFill>
                <a:latin typeface="Calibri" pitchFamily="34" charset="0"/>
                <a:ea typeface="Calibri" pitchFamily="34" charset="-122"/>
                <a:cs typeface="Calibri" pitchFamily="34" charset="-120"/>
              </a:rPr>
              <a:t>El entorno condiciona la decisión</a:t>
            </a:r>
            <a:endParaRPr lang="en-US" sz="1250" dirty="0"/>
          </a:p>
        </p:txBody>
      </p:sp>
      <p:sp>
        <p:nvSpPr>
          <p:cNvPr id="7" name="Text 5"/>
          <p:cNvSpPr txBox="1"/>
          <p:nvPr/>
        </p:nvSpPr>
        <p:spPr>
          <a:xfrm>
            <a:off x="1069848" y="4617720"/>
            <a:ext cx="1965960" cy="365760"/>
          </a:xfrm>
          <a:prstGeom prst="rect">
            <a:avLst/>
          </a:prstGeom>
          <a:noFill/>
          <a:ln/>
        </p:spPr>
        <p:txBody>
          <a:bodyPr wrap="square" lIns="0" tIns="0" rIns="0" bIns="0" rtlCol="0" anchor="ctr"/>
          <a:lstStyle/>
          <a:p>
            <a:pPr indent="0" marL="0">
              <a:buNone/>
            </a:pPr>
            <a:r>
              <a:rPr lang="en-US" sz="1050" b="1" dirty="0">
                <a:solidFill>
                  <a:srgbClr val="F9BB0B"/>
                </a:solidFill>
                <a:latin typeface="Calibri" pitchFamily="34" charset="0"/>
                <a:ea typeface="Calibri" pitchFamily="34" charset="-122"/>
                <a:cs typeface="Calibri" pitchFamily="34" charset="-120"/>
              </a:rPr>
              <a:t>Qué está pasando afuera</a:t>
            </a:r>
            <a:endParaRPr lang="en-US" sz="1050" dirty="0"/>
          </a:p>
        </p:txBody>
      </p:sp>
      <p:sp>
        <p:nvSpPr>
          <p:cNvPr id="8" name="Shape 6"/>
          <p:cNvSpPr/>
          <p:nvPr/>
        </p:nvSpPr>
        <p:spPr>
          <a:xfrm>
            <a:off x="3538728" y="2606040"/>
            <a:ext cx="2423160" cy="2514600"/>
          </a:xfrm>
          <a:prstGeom prst="roundRect">
            <a:avLst>
              <a:gd name="adj" fmla="val 3774"/>
            </a:avLst>
          </a:prstGeom>
          <a:solidFill>
            <a:srgbClr val="FDF4DC"/>
          </a:solidFill>
          <a:ln/>
        </p:spPr>
      </p:sp>
      <p:sp>
        <p:nvSpPr>
          <p:cNvPr id="9" name="Text 7"/>
          <p:cNvSpPr txBox="1"/>
          <p:nvPr/>
        </p:nvSpPr>
        <p:spPr>
          <a:xfrm>
            <a:off x="3767328" y="2834640"/>
            <a:ext cx="1965960" cy="658368"/>
          </a:xfrm>
          <a:prstGeom prst="rect">
            <a:avLst/>
          </a:prstGeom>
          <a:noFill/>
          <a:ln/>
        </p:spPr>
        <p:txBody>
          <a:bodyPr wrap="square" lIns="0" tIns="0" rIns="0" bIns="0" rtlCol="0" anchor="t"/>
          <a:lstStyle/>
          <a:p>
            <a:pPr indent="0" marL="0">
              <a:lnSpc>
                <a:spcPts val="1600"/>
              </a:lnSpc>
              <a:buNone/>
            </a:pPr>
            <a:r>
              <a:rPr lang="en-US" sz="1250" b="1" dirty="0">
                <a:solidFill>
                  <a:srgbClr val="1B1C6E"/>
                </a:solidFill>
                <a:latin typeface="Tahoma" pitchFamily="34" charset="0"/>
                <a:ea typeface="Tahoma" pitchFamily="34" charset="-122"/>
                <a:cs typeface="Tahoma" pitchFamily="34" charset="-120"/>
              </a:rPr>
              <a:t>EMPRENDIMIENTO</a:t>
            </a:r>
            <a:endParaRPr lang="en-US" sz="1250" dirty="0"/>
          </a:p>
        </p:txBody>
      </p:sp>
      <p:sp>
        <p:nvSpPr>
          <p:cNvPr id="10" name="Text 8"/>
          <p:cNvSpPr txBox="1"/>
          <p:nvPr/>
        </p:nvSpPr>
        <p:spPr>
          <a:xfrm>
            <a:off x="3767328" y="3566160"/>
            <a:ext cx="1965960" cy="1051560"/>
          </a:xfrm>
          <a:prstGeom prst="rect">
            <a:avLst/>
          </a:prstGeom>
          <a:noFill/>
          <a:ln/>
        </p:spPr>
        <p:txBody>
          <a:bodyPr wrap="square" lIns="0" tIns="0" rIns="0" bIns="0" rtlCol="0" anchor="t"/>
          <a:lstStyle/>
          <a:p>
            <a:pPr indent="0" marL="0">
              <a:lnSpc>
                <a:spcPts val="1700"/>
              </a:lnSpc>
              <a:buNone/>
            </a:pPr>
            <a:r>
              <a:rPr lang="en-US" sz="1250" i="1" dirty="0">
                <a:solidFill>
                  <a:srgbClr val="55565E"/>
                </a:solidFill>
                <a:latin typeface="Calibri" pitchFamily="34" charset="0"/>
                <a:ea typeface="Calibri" pitchFamily="34" charset="-122"/>
                <a:cs typeface="Calibri" pitchFamily="34" charset="-120"/>
              </a:rPr>
              <a:t>Crecer no significa simplemente vender más</a:t>
            </a:r>
            <a:endParaRPr lang="en-US" sz="1250" dirty="0"/>
          </a:p>
        </p:txBody>
      </p:sp>
      <p:sp>
        <p:nvSpPr>
          <p:cNvPr id="11" name="Text 9"/>
          <p:cNvSpPr txBox="1"/>
          <p:nvPr/>
        </p:nvSpPr>
        <p:spPr>
          <a:xfrm>
            <a:off x="3767328" y="4617720"/>
            <a:ext cx="1965960" cy="365760"/>
          </a:xfrm>
          <a:prstGeom prst="rect">
            <a:avLst/>
          </a:prstGeom>
          <a:noFill/>
          <a:ln/>
        </p:spPr>
        <p:txBody>
          <a:bodyPr wrap="square" lIns="0" tIns="0" rIns="0" bIns="0" rtlCol="0" anchor="ctr"/>
          <a:lstStyle/>
          <a:p>
            <a:pPr indent="0" marL="0">
              <a:buNone/>
            </a:pPr>
            <a:r>
              <a:rPr lang="en-US" sz="1050" b="1" dirty="0">
                <a:solidFill>
                  <a:srgbClr val="1B1C6E"/>
                </a:solidFill>
                <a:latin typeface="Calibri" pitchFamily="34" charset="0"/>
                <a:ea typeface="Calibri" pitchFamily="34" charset="-122"/>
                <a:cs typeface="Calibri" pitchFamily="34" charset="-120"/>
              </a:rPr>
              <a:t>Dónde está la oportunidad</a:t>
            </a:r>
            <a:endParaRPr lang="en-US" sz="1050" dirty="0"/>
          </a:p>
        </p:txBody>
      </p:sp>
      <p:sp>
        <p:nvSpPr>
          <p:cNvPr id="12" name="Shape 10"/>
          <p:cNvSpPr/>
          <p:nvPr/>
        </p:nvSpPr>
        <p:spPr>
          <a:xfrm>
            <a:off x="6236208" y="2606040"/>
            <a:ext cx="2423160" cy="2514600"/>
          </a:xfrm>
          <a:prstGeom prst="roundRect">
            <a:avLst>
              <a:gd name="adj" fmla="val 3774"/>
            </a:avLst>
          </a:prstGeom>
          <a:solidFill>
            <a:srgbClr val="1B1C6E"/>
          </a:solidFill>
          <a:ln/>
        </p:spPr>
      </p:sp>
      <p:sp>
        <p:nvSpPr>
          <p:cNvPr id="13" name="Text 11"/>
          <p:cNvSpPr txBox="1"/>
          <p:nvPr/>
        </p:nvSpPr>
        <p:spPr>
          <a:xfrm>
            <a:off x="6464808" y="2834640"/>
            <a:ext cx="1965960" cy="658368"/>
          </a:xfrm>
          <a:prstGeom prst="rect">
            <a:avLst/>
          </a:prstGeom>
          <a:noFill/>
          <a:ln/>
        </p:spPr>
        <p:txBody>
          <a:bodyPr wrap="square" lIns="0" tIns="0" rIns="0" bIns="0" rtlCol="0" anchor="t"/>
          <a:lstStyle/>
          <a:p>
            <a:pPr indent="0" marL="0">
              <a:lnSpc>
                <a:spcPts val="1600"/>
              </a:lnSpc>
              <a:buNone/>
            </a:pPr>
            <a:r>
              <a:rPr lang="en-US" sz="1250" b="1" dirty="0">
                <a:solidFill>
                  <a:srgbClr val="F9BB0B"/>
                </a:solidFill>
                <a:latin typeface="Tahoma" pitchFamily="34" charset="0"/>
                <a:ea typeface="Tahoma" pitchFamily="34" charset="-122"/>
                <a:cs typeface="Tahoma" pitchFamily="34" charset="-120"/>
              </a:rPr>
              <a:t>PROYECTOS</a:t>
            </a:r>
            <a:endParaRPr lang="en-US" sz="1250" dirty="0"/>
          </a:p>
        </p:txBody>
      </p:sp>
      <p:sp>
        <p:nvSpPr>
          <p:cNvPr id="14" name="Text 12"/>
          <p:cNvSpPr txBox="1"/>
          <p:nvPr/>
        </p:nvSpPr>
        <p:spPr>
          <a:xfrm>
            <a:off x="6464808" y="3566160"/>
            <a:ext cx="1965960" cy="1051560"/>
          </a:xfrm>
          <a:prstGeom prst="rect">
            <a:avLst/>
          </a:prstGeom>
          <a:noFill/>
          <a:ln/>
        </p:spPr>
        <p:txBody>
          <a:bodyPr wrap="square" lIns="0" tIns="0" rIns="0" bIns="0" rtlCol="0" anchor="t"/>
          <a:lstStyle/>
          <a:p>
            <a:pPr indent="0" marL="0">
              <a:lnSpc>
                <a:spcPts val="1700"/>
              </a:lnSpc>
              <a:buNone/>
            </a:pPr>
            <a:r>
              <a:rPr lang="en-US" sz="1250" i="1" dirty="0">
                <a:solidFill>
                  <a:srgbClr val="FFFFFF"/>
                </a:solidFill>
                <a:latin typeface="Calibri" pitchFamily="34" charset="0"/>
                <a:ea typeface="Calibri" pitchFamily="34" charset="-122"/>
                <a:cs typeface="Calibri" pitchFamily="34" charset="-120"/>
              </a:rPr>
              <a:t>Una buena idea necesita convertirse en un proyecto viable</a:t>
            </a:r>
            <a:endParaRPr lang="en-US" sz="1250" dirty="0"/>
          </a:p>
        </p:txBody>
      </p:sp>
      <p:sp>
        <p:nvSpPr>
          <p:cNvPr id="15" name="Text 13"/>
          <p:cNvSpPr txBox="1"/>
          <p:nvPr/>
        </p:nvSpPr>
        <p:spPr>
          <a:xfrm>
            <a:off x="6464808" y="4617720"/>
            <a:ext cx="1965960" cy="365760"/>
          </a:xfrm>
          <a:prstGeom prst="rect">
            <a:avLst/>
          </a:prstGeom>
          <a:noFill/>
          <a:ln/>
        </p:spPr>
        <p:txBody>
          <a:bodyPr wrap="square" lIns="0" tIns="0" rIns="0" bIns="0" rtlCol="0" anchor="ctr"/>
          <a:lstStyle/>
          <a:p>
            <a:pPr indent="0" marL="0">
              <a:buNone/>
            </a:pPr>
            <a:r>
              <a:rPr lang="en-US" sz="1050" b="1" dirty="0">
                <a:solidFill>
                  <a:srgbClr val="F9BB0B"/>
                </a:solidFill>
                <a:latin typeface="Calibri" pitchFamily="34" charset="0"/>
                <a:ea typeface="Calibri" pitchFamily="34" charset="-122"/>
                <a:cs typeface="Calibri" pitchFamily="34" charset="-120"/>
              </a:rPr>
              <a:t>Cómo se convierte en realidad</a:t>
            </a:r>
            <a:endParaRPr lang="en-US" sz="1050" dirty="0"/>
          </a:p>
        </p:txBody>
      </p:sp>
      <p:sp>
        <p:nvSpPr>
          <p:cNvPr id="16" name="Shape 14"/>
          <p:cNvSpPr/>
          <p:nvPr/>
        </p:nvSpPr>
        <p:spPr>
          <a:xfrm>
            <a:off x="8933688" y="2606040"/>
            <a:ext cx="2423160" cy="2514600"/>
          </a:xfrm>
          <a:prstGeom prst="roundRect">
            <a:avLst>
              <a:gd name="adj" fmla="val 3774"/>
            </a:avLst>
          </a:prstGeom>
          <a:solidFill>
            <a:srgbClr val="FDF4DC"/>
          </a:solidFill>
          <a:ln/>
        </p:spPr>
      </p:sp>
      <p:sp>
        <p:nvSpPr>
          <p:cNvPr id="17" name="Text 15"/>
          <p:cNvSpPr txBox="1"/>
          <p:nvPr/>
        </p:nvSpPr>
        <p:spPr>
          <a:xfrm>
            <a:off x="9162288" y="2834640"/>
            <a:ext cx="1965960" cy="658368"/>
          </a:xfrm>
          <a:prstGeom prst="rect">
            <a:avLst/>
          </a:prstGeom>
          <a:noFill/>
          <a:ln/>
        </p:spPr>
        <p:txBody>
          <a:bodyPr wrap="square" lIns="0" tIns="0" rIns="0" bIns="0" rtlCol="0" anchor="t"/>
          <a:lstStyle/>
          <a:p>
            <a:pPr indent="0" marL="0">
              <a:lnSpc>
                <a:spcPts val="1600"/>
              </a:lnSpc>
              <a:buNone/>
            </a:pPr>
            <a:r>
              <a:rPr lang="en-US" sz="1250" b="1" dirty="0">
                <a:solidFill>
                  <a:srgbClr val="1B1C6E"/>
                </a:solidFill>
                <a:latin typeface="Tahoma" pitchFamily="34" charset="0"/>
                <a:ea typeface="Tahoma" pitchFamily="34" charset="-122"/>
                <a:cs typeface="Tahoma" pitchFamily="34" charset="-120"/>
              </a:rPr>
              <a:t>LOGÍSTICA Y COMERCIO EXTERIOR</a:t>
            </a:r>
            <a:endParaRPr lang="en-US" sz="1250" dirty="0"/>
          </a:p>
        </p:txBody>
      </p:sp>
      <p:sp>
        <p:nvSpPr>
          <p:cNvPr id="18" name="Text 16"/>
          <p:cNvSpPr txBox="1"/>
          <p:nvPr/>
        </p:nvSpPr>
        <p:spPr>
          <a:xfrm>
            <a:off x="9162288" y="3566160"/>
            <a:ext cx="1965960" cy="1051560"/>
          </a:xfrm>
          <a:prstGeom prst="rect">
            <a:avLst/>
          </a:prstGeom>
          <a:noFill/>
          <a:ln/>
        </p:spPr>
        <p:txBody>
          <a:bodyPr wrap="square" lIns="0" tIns="0" rIns="0" bIns="0" rtlCol="0" anchor="t"/>
          <a:lstStyle/>
          <a:p>
            <a:pPr indent="0" marL="0">
              <a:lnSpc>
                <a:spcPts val="1700"/>
              </a:lnSpc>
              <a:buNone/>
            </a:pPr>
            <a:r>
              <a:rPr lang="en-US" sz="1250" i="1" dirty="0">
                <a:solidFill>
                  <a:srgbClr val="55565E"/>
                </a:solidFill>
                <a:latin typeface="Calibri" pitchFamily="34" charset="0"/>
                <a:ea typeface="Calibri" pitchFamily="34" charset="-122"/>
                <a:cs typeface="Calibri" pitchFamily="34" charset="-120"/>
              </a:rPr>
              <a:t>Una oportunidad comercial debe poder convertirse en una operación eficiente</a:t>
            </a:r>
            <a:endParaRPr lang="en-US" sz="1250" dirty="0"/>
          </a:p>
        </p:txBody>
      </p:sp>
      <p:sp>
        <p:nvSpPr>
          <p:cNvPr id="19" name="Text 17"/>
          <p:cNvSpPr txBox="1"/>
          <p:nvPr/>
        </p:nvSpPr>
        <p:spPr>
          <a:xfrm>
            <a:off x="9162288" y="4617720"/>
            <a:ext cx="1965960" cy="365760"/>
          </a:xfrm>
          <a:prstGeom prst="rect">
            <a:avLst/>
          </a:prstGeom>
          <a:noFill/>
          <a:ln/>
        </p:spPr>
        <p:txBody>
          <a:bodyPr wrap="square" lIns="0" tIns="0" rIns="0" bIns="0" rtlCol="0" anchor="ctr"/>
          <a:lstStyle/>
          <a:p>
            <a:pPr indent="0" marL="0">
              <a:buNone/>
            </a:pPr>
            <a:r>
              <a:rPr lang="en-US" sz="1050" b="1" dirty="0">
                <a:solidFill>
                  <a:srgbClr val="1B1C6E"/>
                </a:solidFill>
                <a:latin typeface="Calibri" pitchFamily="34" charset="0"/>
                <a:ea typeface="Calibri" pitchFamily="34" charset="-122"/>
                <a:cs typeface="Calibri" pitchFamily="34" charset="-120"/>
              </a:rPr>
              <a:t>Cómo se hace funcionar</a:t>
            </a:r>
            <a:endParaRPr lang="en-US" sz="1050" dirty="0"/>
          </a:p>
        </p:txBody>
      </p:sp>
      <p:sp>
        <p:nvSpPr>
          <p:cNvPr id="20" name="Text 18"/>
          <p:cNvSpPr txBox="1"/>
          <p:nvPr/>
        </p:nvSpPr>
        <p:spPr>
          <a:xfrm>
            <a:off x="841248" y="5285232"/>
            <a:ext cx="10515600" cy="320040"/>
          </a:xfrm>
          <a:prstGeom prst="rect">
            <a:avLst/>
          </a:prstGeom>
          <a:noFill/>
          <a:ln/>
        </p:spPr>
        <p:txBody>
          <a:bodyPr wrap="square" lIns="0" tIns="0" rIns="0" bIns="0" rtlCol="0" anchor="ctr"/>
          <a:lstStyle/>
          <a:p>
            <a:pPr indent="0" marL="0">
              <a:buNone/>
            </a:pPr>
            <a:r>
              <a:rPr lang="en-US" sz="1150" i="1" dirty="0">
                <a:solidFill>
                  <a:srgbClr val="55565E"/>
                </a:solidFill>
                <a:latin typeface="Calibri" pitchFamily="34" charset="0"/>
                <a:ea typeface="Calibri" pitchFamily="34" charset="-122"/>
                <a:cs typeface="Calibri" pitchFamily="34" charset="-120"/>
              </a:rPr>
              <a:t>La pregunta que acompaña todo el encuentro es la misma para las cuatro asignaturas; lo que cambia es el lente con el que se analiza.</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86968" y="2057400"/>
            <a:ext cx="10515600" cy="731520"/>
          </a:xfrm>
          <a:prstGeom prst="rect">
            <a:avLst/>
          </a:prstGeom>
          <a:noFill/>
          <a:ln/>
        </p:spPr>
        <p:txBody>
          <a:bodyPr wrap="square" lIns="0" tIns="0" rIns="0" bIns="0" rtlCol="0" anchor="ctr"/>
          <a:lstStyle/>
          <a:p>
            <a:pPr algn="ctr" indent="0" marL="0">
              <a:buNone/>
            </a:pPr>
            <a:r>
              <a:rPr lang="en-US" sz="1700" b="1" dirty="0">
                <a:solidFill>
                  <a:srgbClr val="F9BB0B"/>
                </a:solidFill>
                <a:latin typeface="Tahoma" pitchFamily="34" charset="0"/>
                <a:ea typeface="Tahoma" pitchFamily="34" charset="-122"/>
                <a:cs typeface="Tahoma" pitchFamily="34" charset="-120"/>
              </a:rPr>
              <a:t>EL CASO INTEGRADOR</a:t>
            </a:r>
            <a:endParaRPr lang="en-US" sz="1700" dirty="0"/>
          </a:p>
        </p:txBody>
      </p:sp>
      <p:sp>
        <p:nvSpPr>
          <p:cNvPr id="3" name="Text 1"/>
          <p:cNvSpPr txBox="1"/>
          <p:nvPr/>
        </p:nvSpPr>
        <p:spPr>
          <a:xfrm>
            <a:off x="886968" y="2788920"/>
            <a:ext cx="105156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Tahoma" pitchFamily="34" charset="0"/>
                <a:ea typeface="Tahoma" pitchFamily="34" charset="-122"/>
                <a:cs typeface="Tahoma" pitchFamily="34" charset="-120"/>
              </a:rPr>
              <a:t>Café de Montaña Antioqueño S.A.S.</a:t>
            </a:r>
            <a:endParaRPr lang="en-US" sz="3000" dirty="0"/>
          </a:p>
        </p:txBody>
      </p:sp>
      <p:sp>
        <p:nvSpPr>
          <p:cNvPr id="4" name="Text 2"/>
          <p:cNvSpPr txBox="1"/>
          <p:nvPr/>
        </p:nvSpPr>
        <p:spPr>
          <a:xfrm>
            <a:off x="2011680" y="3794760"/>
            <a:ext cx="8229600" cy="64008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Una empresa local frente al reto de crecer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La historia de la empresa</a:t>
            </a:r>
            <a:endParaRPr lang="en-US" sz="2500" dirty="0"/>
          </a:p>
        </p:txBody>
      </p:sp>
      <p:sp>
        <p:nvSpPr>
          <p:cNvPr id="3" name="Text 1"/>
          <p:cNvSpPr txBox="1"/>
          <p:nvPr/>
        </p:nvSpPr>
        <p:spPr>
          <a:xfrm>
            <a:off x="841248" y="1600200"/>
            <a:ext cx="5852160" cy="1371600"/>
          </a:xfrm>
          <a:prstGeom prst="rect">
            <a:avLst/>
          </a:prstGeom>
          <a:noFill/>
          <a:ln/>
        </p:spPr>
        <p:txBody>
          <a:bodyPr wrap="square" lIns="0" tIns="0" rIns="0" bIns="0" rtlCol="0" anchor="ctr"/>
          <a:lstStyle/>
          <a:p>
            <a:pPr indent="0" marL="0">
              <a:lnSpc>
                <a:spcPts val="2200"/>
              </a:lnSpc>
              <a:buNone/>
            </a:pPr>
            <a:r>
              <a:rPr lang="en-US" sz="1450" dirty="0">
                <a:solidFill>
                  <a:srgbClr val="55565E"/>
                </a:solidFill>
                <a:latin typeface="Calibri" pitchFamily="34" charset="0"/>
                <a:ea typeface="Calibri" pitchFamily="34" charset="-122"/>
                <a:cs typeface="Calibri" pitchFamily="34" charset="-120"/>
              </a:rPr>
              <a:t>Café de Montaña Antioqueño S.A.S. es una empresa mediana ubicada en Antioquia, creada hace aproximadamente ocho años por un grupo de emprendedores interesados en transformar y comercializar el café producido por pequeños productores del departamento.</a:t>
            </a:r>
            <a:endParaRPr lang="en-US" sz="1450" dirty="0"/>
          </a:p>
        </p:txBody>
      </p:sp>
      <p:sp>
        <p:nvSpPr>
          <p:cNvPr id="4" name="Shape 2"/>
          <p:cNvSpPr/>
          <p:nvPr/>
        </p:nvSpPr>
        <p:spPr>
          <a:xfrm>
            <a:off x="841248" y="3063240"/>
            <a:ext cx="5852160" cy="713232"/>
          </a:xfrm>
          <a:prstGeom prst="roundRect">
            <a:avLst>
              <a:gd name="adj" fmla="val 10256"/>
            </a:avLst>
          </a:prstGeom>
          <a:solidFill>
            <a:srgbClr val="F1F2F8"/>
          </a:solidFill>
          <a:ln/>
        </p:spPr>
      </p:sp>
      <p:sp>
        <p:nvSpPr>
          <p:cNvPr id="5" name="Text 3"/>
          <p:cNvSpPr txBox="1"/>
          <p:nvPr/>
        </p:nvSpPr>
        <p:spPr>
          <a:xfrm>
            <a:off x="1051560" y="3136392"/>
            <a:ext cx="5394960" cy="274320"/>
          </a:xfrm>
          <a:prstGeom prst="rect">
            <a:avLst/>
          </a:prstGeom>
          <a:noFill/>
          <a:ln/>
        </p:spPr>
        <p:txBody>
          <a:bodyPr wrap="square" lIns="0" tIns="0" rIns="0" bIns="0" rtlCol="0" anchor="ctr"/>
          <a:lstStyle/>
          <a:p>
            <a:pPr indent="0" marL="0">
              <a:buNone/>
            </a:pPr>
            <a:r>
              <a:rPr lang="en-US" sz="1300" b="1" dirty="0">
                <a:solidFill>
                  <a:srgbClr val="1B1C6E"/>
                </a:solidFill>
                <a:latin typeface="Tahoma" pitchFamily="34" charset="0"/>
                <a:ea typeface="Tahoma" pitchFamily="34" charset="-122"/>
                <a:cs typeface="Tahoma" pitchFamily="34" charset="-120"/>
              </a:rPr>
              <a:t>Ocho años de trayectoria</a:t>
            </a:r>
            <a:endParaRPr lang="en-US" sz="1300" dirty="0"/>
          </a:p>
        </p:txBody>
      </p:sp>
      <p:sp>
        <p:nvSpPr>
          <p:cNvPr id="6" name="Text 4"/>
          <p:cNvSpPr txBox="1"/>
          <p:nvPr/>
        </p:nvSpPr>
        <p:spPr>
          <a:xfrm>
            <a:off x="1051560" y="3410712"/>
            <a:ext cx="5394960" cy="292608"/>
          </a:xfrm>
          <a:prstGeom prst="rect">
            <a:avLst/>
          </a:prstGeom>
          <a:noFill/>
          <a:ln/>
        </p:spPr>
        <p:txBody>
          <a:bodyPr wrap="square" lIns="0" tIns="0" rIns="0" bIns="0" rtlCol="0" anchor="ctr"/>
          <a:lstStyle/>
          <a:p>
            <a:pPr indent="0" marL="0">
              <a:buNone/>
            </a:pPr>
            <a:r>
              <a:rPr lang="en-US" sz="1150" dirty="0">
                <a:solidFill>
                  <a:srgbClr val="55565E"/>
                </a:solidFill>
                <a:latin typeface="Calibri" pitchFamily="34" charset="0"/>
                <a:ea typeface="Calibri" pitchFamily="34" charset="-122"/>
                <a:cs typeface="Calibri" pitchFamily="34" charset="-120"/>
              </a:rPr>
              <a:t>Un proyecto emprendedor que se consolidó como empresa mediana.</a:t>
            </a:r>
            <a:endParaRPr lang="en-US" sz="1150" dirty="0"/>
          </a:p>
        </p:txBody>
      </p:sp>
      <p:sp>
        <p:nvSpPr>
          <p:cNvPr id="7" name="Shape 5"/>
          <p:cNvSpPr/>
          <p:nvPr/>
        </p:nvSpPr>
        <p:spPr>
          <a:xfrm>
            <a:off x="841248" y="3904488"/>
            <a:ext cx="5852160" cy="713232"/>
          </a:xfrm>
          <a:prstGeom prst="roundRect">
            <a:avLst>
              <a:gd name="adj" fmla="val 10256"/>
            </a:avLst>
          </a:prstGeom>
          <a:solidFill>
            <a:srgbClr val="FDF4DC"/>
          </a:solidFill>
          <a:ln/>
        </p:spPr>
      </p:sp>
      <p:sp>
        <p:nvSpPr>
          <p:cNvPr id="8" name="Text 6"/>
          <p:cNvSpPr txBox="1"/>
          <p:nvPr/>
        </p:nvSpPr>
        <p:spPr>
          <a:xfrm>
            <a:off x="1051560" y="3977640"/>
            <a:ext cx="5394960" cy="274320"/>
          </a:xfrm>
          <a:prstGeom prst="rect">
            <a:avLst/>
          </a:prstGeom>
          <a:noFill/>
          <a:ln/>
        </p:spPr>
        <p:txBody>
          <a:bodyPr wrap="square" lIns="0" tIns="0" rIns="0" bIns="0" rtlCol="0" anchor="ctr"/>
          <a:lstStyle/>
          <a:p>
            <a:pPr indent="0" marL="0">
              <a:buNone/>
            </a:pPr>
            <a:r>
              <a:rPr lang="en-US" sz="1300" b="1" dirty="0">
                <a:solidFill>
                  <a:srgbClr val="1B1C6E"/>
                </a:solidFill>
                <a:latin typeface="Tahoma" pitchFamily="34" charset="0"/>
                <a:ea typeface="Tahoma" pitchFamily="34" charset="-122"/>
                <a:cs typeface="Tahoma" pitchFamily="34" charset="-120"/>
              </a:rPr>
              <a:t>Raíz local</a:t>
            </a:r>
            <a:endParaRPr lang="en-US" sz="1300" dirty="0"/>
          </a:p>
        </p:txBody>
      </p:sp>
      <p:sp>
        <p:nvSpPr>
          <p:cNvPr id="9" name="Text 7"/>
          <p:cNvSpPr txBox="1"/>
          <p:nvPr/>
        </p:nvSpPr>
        <p:spPr>
          <a:xfrm>
            <a:off x="1051560" y="4251960"/>
            <a:ext cx="5394960" cy="292608"/>
          </a:xfrm>
          <a:prstGeom prst="rect">
            <a:avLst/>
          </a:prstGeom>
          <a:noFill/>
          <a:ln/>
        </p:spPr>
        <p:txBody>
          <a:bodyPr wrap="square" lIns="0" tIns="0" rIns="0" bIns="0" rtlCol="0" anchor="ctr"/>
          <a:lstStyle/>
          <a:p>
            <a:pPr indent="0" marL="0">
              <a:buNone/>
            </a:pPr>
            <a:r>
              <a:rPr lang="en-US" sz="1150" dirty="0">
                <a:solidFill>
                  <a:srgbClr val="55565E"/>
                </a:solidFill>
                <a:latin typeface="Calibri" pitchFamily="34" charset="0"/>
                <a:ea typeface="Calibri" pitchFamily="34" charset="-122"/>
                <a:cs typeface="Calibri" pitchFamily="34" charset="-120"/>
              </a:rPr>
              <a:t>Compra café a productores de diferentes municipios de Antioquia.</a:t>
            </a:r>
            <a:endParaRPr lang="en-US" sz="1150" dirty="0"/>
          </a:p>
        </p:txBody>
      </p:sp>
      <p:sp>
        <p:nvSpPr>
          <p:cNvPr id="10" name="Shape 8"/>
          <p:cNvSpPr/>
          <p:nvPr/>
        </p:nvSpPr>
        <p:spPr>
          <a:xfrm>
            <a:off x="841248" y="4745736"/>
            <a:ext cx="5852160" cy="713232"/>
          </a:xfrm>
          <a:prstGeom prst="roundRect">
            <a:avLst>
              <a:gd name="adj" fmla="val 10256"/>
            </a:avLst>
          </a:prstGeom>
          <a:solidFill>
            <a:srgbClr val="F1F2F8"/>
          </a:solidFill>
          <a:ln/>
        </p:spPr>
      </p:sp>
      <p:sp>
        <p:nvSpPr>
          <p:cNvPr id="11" name="Text 9"/>
          <p:cNvSpPr txBox="1"/>
          <p:nvPr/>
        </p:nvSpPr>
        <p:spPr>
          <a:xfrm>
            <a:off x="1051560" y="4818888"/>
            <a:ext cx="5394960" cy="274320"/>
          </a:xfrm>
          <a:prstGeom prst="rect">
            <a:avLst/>
          </a:prstGeom>
          <a:noFill/>
          <a:ln/>
        </p:spPr>
        <p:txBody>
          <a:bodyPr wrap="square" lIns="0" tIns="0" rIns="0" bIns="0" rtlCol="0" anchor="ctr"/>
          <a:lstStyle/>
          <a:p>
            <a:pPr indent="0" marL="0">
              <a:buNone/>
            </a:pPr>
            <a:r>
              <a:rPr lang="en-US" sz="1300" b="1" dirty="0">
                <a:solidFill>
                  <a:srgbClr val="1B1C6E"/>
                </a:solidFill>
                <a:latin typeface="Tahoma" pitchFamily="34" charset="0"/>
                <a:ea typeface="Tahoma" pitchFamily="34" charset="-122"/>
                <a:cs typeface="Tahoma" pitchFamily="34" charset="-120"/>
              </a:rPr>
              <a:t>Marca propia</a:t>
            </a:r>
            <a:endParaRPr lang="en-US" sz="1300" dirty="0"/>
          </a:p>
        </p:txBody>
      </p:sp>
      <p:sp>
        <p:nvSpPr>
          <p:cNvPr id="12" name="Text 10"/>
          <p:cNvSpPr txBox="1"/>
          <p:nvPr/>
        </p:nvSpPr>
        <p:spPr>
          <a:xfrm>
            <a:off x="1051560" y="5093208"/>
            <a:ext cx="5394960" cy="292608"/>
          </a:xfrm>
          <a:prstGeom prst="rect">
            <a:avLst/>
          </a:prstGeom>
          <a:noFill/>
          <a:ln/>
        </p:spPr>
        <p:txBody>
          <a:bodyPr wrap="square" lIns="0" tIns="0" rIns="0" bIns="0" rtlCol="0" anchor="ctr"/>
          <a:lstStyle/>
          <a:p>
            <a:pPr indent="0" marL="0">
              <a:buNone/>
            </a:pPr>
            <a:r>
              <a:rPr lang="en-US" sz="1150" dirty="0">
                <a:solidFill>
                  <a:srgbClr val="55565E"/>
                </a:solidFill>
                <a:latin typeface="Calibri" pitchFamily="34" charset="0"/>
                <a:ea typeface="Calibri" pitchFamily="34" charset="-122"/>
                <a:cs typeface="Calibri" pitchFamily="34" charset="-120"/>
              </a:rPr>
              <a:t>Transforma el grano y lo comercializa bajo su propio sello.</a:t>
            </a:r>
            <a:endParaRPr lang="en-US" sz="1150" dirty="0"/>
          </a:p>
        </p:txBody>
      </p:sp>
      <p:pic>
        <p:nvPicPr>
          <p:cNvPr id="13" name="Image 0" descr="preencoded.png">    </p:cNvPr>
          <p:cNvPicPr>
            <a:picLocks noChangeAspect="1"/>
          </p:cNvPicPr>
          <p:nvPr/>
        </p:nvPicPr>
        <p:blipFill>
          <a:blip r:embed="rId2"/>
          <a:stretch>
            <a:fillRect/>
          </a:stretch>
        </p:blipFill>
        <p:spPr>
          <a:xfrm>
            <a:off x="7086600" y="1600200"/>
            <a:ext cx="4206240" cy="3977640"/>
          </a:xfrm>
          <a:prstGeom prst="rect">
            <a:avLst/>
          </a:prstGeom>
        </p:spPr>
      </p:pic>
      <p:sp>
        <p:nvSpPr>
          <p:cNvPr id="14" name="Text 11"/>
          <p:cNvSpPr txBox="1"/>
          <p:nvPr/>
        </p:nvSpPr>
        <p:spPr>
          <a:xfrm>
            <a:off x="7086600" y="5623560"/>
            <a:ext cx="4206240" cy="274320"/>
          </a:xfrm>
          <a:prstGeom prst="rect">
            <a:avLst/>
          </a:prstGeom>
          <a:noFill/>
          <a:ln/>
        </p:spPr>
        <p:txBody>
          <a:bodyPr wrap="square" lIns="0" tIns="0" rIns="0" bIns="0" rtlCol="0" anchor="ctr"/>
          <a:lstStyle/>
          <a:p>
            <a:pPr indent="0" marL="0">
              <a:buNone/>
            </a:pPr>
            <a:r>
              <a:rPr lang="en-US" sz="1000" i="1" dirty="0">
                <a:solidFill>
                  <a:srgbClr val="55565E"/>
                </a:solidFill>
                <a:latin typeface="Calibri" pitchFamily="34" charset="0"/>
                <a:ea typeface="Calibri" pitchFamily="34" charset="-122"/>
                <a:cs typeface="Calibri" pitchFamily="34" charset="-120"/>
              </a:rPr>
              <a:t>Paisaje cafetero antioqueño: el territorio donde opera la empresa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El origen: los pequeños productores</a:t>
            </a:r>
            <a:endParaRPr lang="en-US" sz="2500" dirty="0"/>
          </a:p>
        </p:txBody>
      </p:sp>
      <p:sp>
        <p:nvSpPr>
          <p:cNvPr id="3" name="Text 1"/>
          <p:cNvSpPr txBox="1"/>
          <p:nvPr/>
        </p:nvSpPr>
        <p:spPr>
          <a:xfrm>
            <a:off x="841248" y="1600200"/>
            <a:ext cx="1051560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La materia prima proviene de fincas de distintos municipios del departamento. Esa dispersión geográfica es, al mismo tiempo, la riqueza de la marca y uno de sus mayores desafíos operativos.</a:t>
            </a:r>
            <a:endParaRPr lang="en-US" sz="1450" dirty="0"/>
          </a:p>
        </p:txBody>
      </p:sp>
      <p:pic>
        <p:nvPicPr>
          <p:cNvPr id="4" name="Image 0" descr="preencoded.png">    </p:cNvPr>
          <p:cNvPicPr>
            <a:picLocks noChangeAspect="1"/>
          </p:cNvPicPr>
          <p:nvPr/>
        </p:nvPicPr>
        <p:blipFill>
          <a:blip r:embed="rId2"/>
          <a:stretch>
            <a:fillRect/>
          </a:stretch>
        </p:blipFill>
        <p:spPr>
          <a:xfrm>
            <a:off x="841248" y="2606040"/>
            <a:ext cx="3291840" cy="2148840"/>
          </a:xfrm>
          <a:prstGeom prst="rect">
            <a:avLst/>
          </a:prstGeom>
        </p:spPr>
      </p:pic>
      <p:sp>
        <p:nvSpPr>
          <p:cNvPr id="5" name="Text 2"/>
          <p:cNvSpPr txBox="1"/>
          <p:nvPr/>
        </p:nvSpPr>
        <p:spPr>
          <a:xfrm>
            <a:off x="841248" y="4846320"/>
            <a:ext cx="3291840" cy="292608"/>
          </a:xfrm>
          <a:prstGeom prst="rect">
            <a:avLst/>
          </a:prstGeom>
          <a:noFill/>
          <a:ln/>
        </p:spPr>
        <p:txBody>
          <a:bodyPr wrap="square" lIns="0" tIns="0" rIns="0" bIns="0" rtlCol="0" anchor="ctr"/>
          <a:lstStyle/>
          <a:p>
            <a:pPr indent="0" marL="0">
              <a:buNone/>
            </a:pPr>
            <a:r>
              <a:rPr lang="en-US" sz="1350" b="1" dirty="0">
                <a:solidFill>
                  <a:srgbClr val="1B1C6E"/>
                </a:solidFill>
                <a:latin typeface="Tahoma" pitchFamily="34" charset="0"/>
                <a:ea typeface="Tahoma" pitchFamily="34" charset="-122"/>
                <a:cs typeface="Tahoma" pitchFamily="34" charset="-120"/>
              </a:rPr>
              <a:t>El grano en el árbol</a:t>
            </a:r>
            <a:endParaRPr lang="en-US" sz="1350" dirty="0"/>
          </a:p>
        </p:txBody>
      </p:sp>
      <p:sp>
        <p:nvSpPr>
          <p:cNvPr id="6" name="Text 3"/>
          <p:cNvSpPr txBox="1"/>
          <p:nvPr/>
        </p:nvSpPr>
        <p:spPr>
          <a:xfrm>
            <a:off x="841248" y="5138928"/>
            <a:ext cx="3291840" cy="566928"/>
          </a:xfrm>
          <a:prstGeom prst="rect">
            <a:avLst/>
          </a:prstGeom>
          <a:noFill/>
          <a:ln/>
        </p:spPr>
        <p:txBody>
          <a:bodyPr wrap="square" lIns="0" tIns="0" rIns="0" bIns="0" rtlCol="0" anchor="ctr"/>
          <a:lstStyle/>
          <a:p>
            <a:pPr indent="0" marL="0">
              <a:lnSpc>
                <a:spcPts val="1500"/>
              </a:lnSpc>
              <a:buNone/>
            </a:pPr>
            <a:r>
              <a:rPr lang="en-US" sz="1150" dirty="0">
                <a:solidFill>
                  <a:srgbClr val="55565E"/>
                </a:solidFill>
                <a:latin typeface="Calibri" pitchFamily="34" charset="0"/>
                <a:ea typeface="Calibri" pitchFamily="34" charset="-122"/>
                <a:cs typeface="Calibri" pitchFamily="34" charset="-120"/>
              </a:rPr>
              <a:t>Café cultivado por familias productoras en varios municipios de Antioquia.</a:t>
            </a:r>
            <a:endParaRPr lang="en-US" sz="1150" dirty="0"/>
          </a:p>
        </p:txBody>
      </p:sp>
      <p:pic>
        <p:nvPicPr>
          <p:cNvPr id="7" name="Image 1" descr="preencoded.png">    </p:cNvPr>
          <p:cNvPicPr>
            <a:picLocks noChangeAspect="1"/>
          </p:cNvPicPr>
          <p:nvPr/>
        </p:nvPicPr>
        <p:blipFill>
          <a:blip r:embed="rId3"/>
          <a:stretch>
            <a:fillRect/>
          </a:stretch>
        </p:blipFill>
        <p:spPr>
          <a:xfrm>
            <a:off x="4453128" y="2606040"/>
            <a:ext cx="3291840" cy="2148840"/>
          </a:xfrm>
          <a:prstGeom prst="rect">
            <a:avLst/>
          </a:prstGeom>
        </p:spPr>
      </p:pic>
      <p:sp>
        <p:nvSpPr>
          <p:cNvPr id="8" name="Text 4"/>
          <p:cNvSpPr txBox="1"/>
          <p:nvPr/>
        </p:nvSpPr>
        <p:spPr>
          <a:xfrm>
            <a:off x="4453128" y="4846320"/>
            <a:ext cx="3291840" cy="292608"/>
          </a:xfrm>
          <a:prstGeom prst="rect">
            <a:avLst/>
          </a:prstGeom>
          <a:noFill/>
          <a:ln/>
        </p:spPr>
        <p:txBody>
          <a:bodyPr wrap="square" lIns="0" tIns="0" rIns="0" bIns="0" rtlCol="0" anchor="ctr"/>
          <a:lstStyle/>
          <a:p>
            <a:pPr indent="0" marL="0">
              <a:buNone/>
            </a:pPr>
            <a:r>
              <a:rPr lang="en-US" sz="1350" b="1" dirty="0">
                <a:solidFill>
                  <a:srgbClr val="1B1C6E"/>
                </a:solidFill>
                <a:latin typeface="Tahoma" pitchFamily="34" charset="0"/>
                <a:ea typeface="Tahoma" pitchFamily="34" charset="-122"/>
                <a:cs typeface="Tahoma" pitchFamily="34" charset="-120"/>
              </a:rPr>
              <a:t>Los territorios</a:t>
            </a:r>
            <a:endParaRPr lang="en-US" sz="1350" dirty="0"/>
          </a:p>
        </p:txBody>
      </p:sp>
      <p:sp>
        <p:nvSpPr>
          <p:cNvPr id="9" name="Text 5"/>
          <p:cNvSpPr txBox="1"/>
          <p:nvPr/>
        </p:nvSpPr>
        <p:spPr>
          <a:xfrm>
            <a:off x="4453128" y="5138928"/>
            <a:ext cx="3291840" cy="566928"/>
          </a:xfrm>
          <a:prstGeom prst="rect">
            <a:avLst/>
          </a:prstGeom>
          <a:noFill/>
          <a:ln/>
        </p:spPr>
        <p:txBody>
          <a:bodyPr wrap="square" lIns="0" tIns="0" rIns="0" bIns="0" rtlCol="0" anchor="ctr"/>
          <a:lstStyle/>
          <a:p>
            <a:pPr indent="0" marL="0">
              <a:lnSpc>
                <a:spcPts val="1500"/>
              </a:lnSpc>
              <a:buNone/>
            </a:pPr>
            <a:r>
              <a:rPr lang="en-US" sz="1150" dirty="0">
                <a:solidFill>
                  <a:srgbClr val="55565E"/>
                </a:solidFill>
                <a:latin typeface="Calibri" pitchFamily="34" charset="0"/>
                <a:ea typeface="Calibri" pitchFamily="34" charset="-122"/>
                <a:cs typeface="Calibri" pitchFamily="34" charset="-120"/>
              </a:rPr>
              <a:t>Municipios cafeteros con identidad propia, que la marca reivindica como origen.</a:t>
            </a:r>
            <a:endParaRPr lang="en-US" sz="1150" dirty="0"/>
          </a:p>
        </p:txBody>
      </p:sp>
      <p:pic>
        <p:nvPicPr>
          <p:cNvPr id="10" name="Image 2" descr="preencoded.png">    </p:cNvPr>
          <p:cNvPicPr>
            <a:picLocks noChangeAspect="1"/>
          </p:cNvPicPr>
          <p:nvPr/>
        </p:nvPicPr>
        <p:blipFill>
          <a:blip r:embed="rId4"/>
          <a:stretch>
            <a:fillRect/>
          </a:stretch>
        </p:blipFill>
        <p:spPr>
          <a:xfrm>
            <a:off x="8065008" y="2606040"/>
            <a:ext cx="3291840" cy="2148840"/>
          </a:xfrm>
          <a:prstGeom prst="rect">
            <a:avLst/>
          </a:prstGeom>
        </p:spPr>
      </p:pic>
      <p:sp>
        <p:nvSpPr>
          <p:cNvPr id="11" name="Text 6"/>
          <p:cNvSpPr txBox="1"/>
          <p:nvPr/>
        </p:nvSpPr>
        <p:spPr>
          <a:xfrm>
            <a:off x="8065008" y="4846320"/>
            <a:ext cx="3291840" cy="292608"/>
          </a:xfrm>
          <a:prstGeom prst="rect">
            <a:avLst/>
          </a:prstGeom>
          <a:noFill/>
          <a:ln/>
        </p:spPr>
        <p:txBody>
          <a:bodyPr wrap="square" lIns="0" tIns="0" rIns="0" bIns="0" rtlCol="0" anchor="ctr"/>
          <a:lstStyle/>
          <a:p>
            <a:pPr indent="0" marL="0">
              <a:buNone/>
            </a:pPr>
            <a:r>
              <a:rPr lang="en-US" sz="1350" b="1" dirty="0">
                <a:solidFill>
                  <a:srgbClr val="1B1C6E"/>
                </a:solidFill>
                <a:latin typeface="Tahoma" pitchFamily="34" charset="0"/>
                <a:ea typeface="Tahoma" pitchFamily="34" charset="-122"/>
                <a:cs typeface="Tahoma" pitchFamily="34" charset="-120"/>
              </a:rPr>
              <a:t>Las fincas proveedoras</a:t>
            </a:r>
            <a:endParaRPr lang="en-US" sz="1350" dirty="0"/>
          </a:p>
        </p:txBody>
      </p:sp>
      <p:sp>
        <p:nvSpPr>
          <p:cNvPr id="12" name="Text 7"/>
          <p:cNvSpPr txBox="1"/>
          <p:nvPr/>
        </p:nvSpPr>
        <p:spPr>
          <a:xfrm>
            <a:off x="8065008" y="5138928"/>
            <a:ext cx="3291840" cy="566928"/>
          </a:xfrm>
          <a:prstGeom prst="rect">
            <a:avLst/>
          </a:prstGeom>
          <a:noFill/>
          <a:ln/>
        </p:spPr>
        <p:txBody>
          <a:bodyPr wrap="square" lIns="0" tIns="0" rIns="0" bIns="0" rtlCol="0" anchor="ctr"/>
          <a:lstStyle/>
          <a:p>
            <a:pPr indent="0" marL="0">
              <a:lnSpc>
                <a:spcPts val="1500"/>
              </a:lnSpc>
              <a:buNone/>
            </a:pPr>
            <a:r>
              <a:rPr lang="en-US" sz="1150" dirty="0">
                <a:solidFill>
                  <a:srgbClr val="55565E"/>
                </a:solidFill>
                <a:latin typeface="Calibri" pitchFamily="34" charset="0"/>
                <a:ea typeface="Calibri" pitchFamily="34" charset="-122"/>
                <a:cs typeface="Calibri" pitchFamily="34" charset="-120"/>
              </a:rPr>
              <a:t>Unidades productivas pequeñas, dispersas y con capacidades muy distintas entre sí.</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De la finca a la marca: el proceso</a:t>
            </a:r>
            <a:endParaRPr lang="en-US" sz="2500" dirty="0"/>
          </a:p>
        </p:txBody>
      </p:sp>
      <p:sp>
        <p:nvSpPr>
          <p:cNvPr id="3" name="Text 1"/>
          <p:cNvSpPr txBox="1"/>
          <p:nvPr/>
        </p:nvSpPr>
        <p:spPr>
          <a:xfrm>
            <a:off x="841248" y="1600200"/>
            <a:ext cx="1051560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La empresa no solo comercializa: transforma. Compra el café, lo selecciona, lo procesa, lo tuesta, lo empaca y lo vende bajo una marca propia. Cada eslabón agrega valor y, también, costo.</a:t>
            </a:r>
            <a:endParaRPr lang="en-US" sz="1450" dirty="0"/>
          </a:p>
        </p:txBody>
      </p:sp>
      <p:pic>
        <p:nvPicPr>
          <p:cNvPr id="4" name="Image 0" descr="preencoded.png">    </p:cNvPr>
          <p:cNvPicPr>
            <a:picLocks noChangeAspect="1"/>
          </p:cNvPicPr>
          <p:nvPr/>
        </p:nvPicPr>
        <p:blipFill>
          <a:blip r:embed="rId2"/>
          <a:stretch>
            <a:fillRect/>
          </a:stretch>
        </p:blipFill>
        <p:spPr>
          <a:xfrm>
            <a:off x="841248" y="2697480"/>
            <a:ext cx="1920240" cy="1417320"/>
          </a:xfrm>
          <a:prstGeom prst="rect">
            <a:avLst/>
          </a:prstGeom>
        </p:spPr>
      </p:pic>
      <p:sp>
        <p:nvSpPr>
          <p:cNvPr id="5" name="Shape 2"/>
          <p:cNvSpPr/>
          <p:nvPr/>
        </p:nvSpPr>
        <p:spPr>
          <a:xfrm>
            <a:off x="1591056" y="4224528"/>
            <a:ext cx="420624" cy="420624"/>
          </a:xfrm>
          <a:prstGeom prst="ellipse">
            <a:avLst/>
          </a:prstGeom>
          <a:solidFill>
            <a:srgbClr val="1B1C6E"/>
          </a:solidFill>
          <a:ln/>
        </p:spPr>
      </p:sp>
      <p:sp>
        <p:nvSpPr>
          <p:cNvPr id="6" name="Text 3"/>
          <p:cNvSpPr txBox="1"/>
          <p:nvPr/>
        </p:nvSpPr>
        <p:spPr>
          <a:xfrm>
            <a:off x="1591056" y="4224528"/>
            <a:ext cx="420624" cy="420624"/>
          </a:xfrm>
          <a:prstGeom prst="rect">
            <a:avLst/>
          </a:prstGeom>
          <a:noFill/>
          <a:ln/>
        </p:spPr>
        <p:txBody>
          <a:bodyPr wrap="square" lIns="0" tIns="0" rIns="0" bIns="0" rtlCol="0" anchor="ctr"/>
          <a:lstStyle/>
          <a:p>
            <a:pPr algn="ctr" indent="0" marL="0">
              <a:buNone/>
            </a:pPr>
            <a:r>
              <a:rPr lang="en-US" sz="1300" b="1" dirty="0">
                <a:solidFill>
                  <a:srgbClr val="F9BB0B"/>
                </a:solidFill>
                <a:latin typeface="Tahoma" pitchFamily="34" charset="0"/>
                <a:ea typeface="Tahoma" pitchFamily="34" charset="-122"/>
                <a:cs typeface="Tahoma" pitchFamily="34" charset="-120"/>
              </a:rPr>
              <a:t>1</a:t>
            </a:r>
            <a:endParaRPr lang="en-US" sz="1300" dirty="0"/>
          </a:p>
        </p:txBody>
      </p:sp>
      <p:sp>
        <p:nvSpPr>
          <p:cNvPr id="7" name="Text 4"/>
          <p:cNvSpPr txBox="1"/>
          <p:nvPr/>
        </p:nvSpPr>
        <p:spPr>
          <a:xfrm>
            <a:off x="841248" y="4718304"/>
            <a:ext cx="1920240" cy="274320"/>
          </a:xfrm>
          <a:prstGeom prst="rect">
            <a:avLst/>
          </a:prstGeom>
          <a:noFill/>
          <a:ln/>
        </p:spPr>
        <p:txBody>
          <a:bodyPr wrap="square" lIns="0" tIns="0" rIns="0" bIns="0" rtlCol="0" anchor="ctr"/>
          <a:lstStyle/>
          <a:p>
            <a:pPr algn="ctr" indent="0" marL="0">
              <a:buNone/>
            </a:pPr>
            <a:r>
              <a:rPr lang="en-US" sz="1300" b="1" dirty="0">
                <a:solidFill>
                  <a:srgbClr val="1B1C6E"/>
                </a:solidFill>
                <a:latin typeface="Tahoma" pitchFamily="34" charset="0"/>
                <a:ea typeface="Tahoma" pitchFamily="34" charset="-122"/>
                <a:cs typeface="Tahoma" pitchFamily="34" charset="-120"/>
              </a:rPr>
              <a:t>Selección</a:t>
            </a:r>
            <a:endParaRPr lang="en-US" sz="1300" dirty="0"/>
          </a:p>
        </p:txBody>
      </p:sp>
      <p:sp>
        <p:nvSpPr>
          <p:cNvPr id="8" name="Text 5"/>
          <p:cNvSpPr txBox="1"/>
          <p:nvPr/>
        </p:nvSpPr>
        <p:spPr>
          <a:xfrm>
            <a:off x="841248" y="4992624"/>
            <a:ext cx="1920240" cy="640080"/>
          </a:xfrm>
          <a:prstGeom prst="rect">
            <a:avLst/>
          </a:prstGeom>
          <a:noFill/>
          <a:ln/>
        </p:spPr>
        <p:txBody>
          <a:bodyPr wrap="square" lIns="0" tIns="0" rIns="0" bIns="0" rtlCol="0" anchor="ctr"/>
          <a:lstStyle/>
          <a:p>
            <a:pPr algn="ctr" indent="0" marL="0">
              <a:lnSpc>
                <a:spcPts val="1400"/>
              </a:lnSpc>
              <a:buNone/>
            </a:pPr>
            <a:r>
              <a:rPr lang="en-US" sz="1050" dirty="0">
                <a:solidFill>
                  <a:srgbClr val="55565E"/>
                </a:solidFill>
                <a:latin typeface="Calibri" pitchFamily="34" charset="0"/>
                <a:ea typeface="Calibri" pitchFamily="34" charset="-122"/>
                <a:cs typeface="Calibri" pitchFamily="34" charset="-120"/>
              </a:rPr>
              <a:t>Clasificación del grano comprado a los productores.</a:t>
            </a:r>
            <a:endParaRPr lang="en-US" sz="1050" dirty="0"/>
          </a:p>
        </p:txBody>
      </p:sp>
      <p:pic>
        <p:nvPicPr>
          <p:cNvPr id="9" name="Image 1" descr="preencoded.png">    </p:cNvPr>
          <p:cNvPicPr>
            <a:picLocks noChangeAspect="1"/>
          </p:cNvPicPr>
          <p:nvPr/>
        </p:nvPicPr>
        <p:blipFill>
          <a:blip r:embed="rId3"/>
          <a:stretch>
            <a:fillRect/>
          </a:stretch>
        </p:blipFill>
        <p:spPr>
          <a:xfrm>
            <a:off x="2999232" y="2697480"/>
            <a:ext cx="1920240" cy="1417320"/>
          </a:xfrm>
          <a:prstGeom prst="rect">
            <a:avLst/>
          </a:prstGeom>
        </p:spPr>
      </p:pic>
      <p:sp>
        <p:nvSpPr>
          <p:cNvPr id="10" name="Shape 6"/>
          <p:cNvSpPr/>
          <p:nvPr/>
        </p:nvSpPr>
        <p:spPr>
          <a:xfrm>
            <a:off x="3749040" y="4224528"/>
            <a:ext cx="420624" cy="420624"/>
          </a:xfrm>
          <a:prstGeom prst="ellipse">
            <a:avLst/>
          </a:prstGeom>
          <a:solidFill>
            <a:srgbClr val="1B1C6E"/>
          </a:solidFill>
          <a:ln/>
        </p:spPr>
      </p:sp>
      <p:sp>
        <p:nvSpPr>
          <p:cNvPr id="11" name="Text 7"/>
          <p:cNvSpPr txBox="1"/>
          <p:nvPr/>
        </p:nvSpPr>
        <p:spPr>
          <a:xfrm>
            <a:off x="3749040" y="4224528"/>
            <a:ext cx="420624" cy="420624"/>
          </a:xfrm>
          <a:prstGeom prst="rect">
            <a:avLst/>
          </a:prstGeom>
          <a:noFill/>
          <a:ln/>
        </p:spPr>
        <p:txBody>
          <a:bodyPr wrap="square" lIns="0" tIns="0" rIns="0" bIns="0" rtlCol="0" anchor="ctr"/>
          <a:lstStyle/>
          <a:p>
            <a:pPr algn="ctr" indent="0" marL="0">
              <a:buNone/>
            </a:pPr>
            <a:r>
              <a:rPr lang="en-US" sz="1300" b="1" dirty="0">
                <a:solidFill>
                  <a:srgbClr val="F9BB0B"/>
                </a:solidFill>
                <a:latin typeface="Tahoma" pitchFamily="34" charset="0"/>
                <a:ea typeface="Tahoma" pitchFamily="34" charset="-122"/>
                <a:cs typeface="Tahoma" pitchFamily="34" charset="-120"/>
              </a:rPr>
              <a:t>2</a:t>
            </a:r>
            <a:endParaRPr lang="en-US" sz="1300" dirty="0"/>
          </a:p>
        </p:txBody>
      </p:sp>
      <p:sp>
        <p:nvSpPr>
          <p:cNvPr id="12" name="Text 8"/>
          <p:cNvSpPr txBox="1"/>
          <p:nvPr/>
        </p:nvSpPr>
        <p:spPr>
          <a:xfrm>
            <a:off x="2999232" y="4718304"/>
            <a:ext cx="1920240" cy="274320"/>
          </a:xfrm>
          <a:prstGeom prst="rect">
            <a:avLst/>
          </a:prstGeom>
          <a:noFill/>
          <a:ln/>
        </p:spPr>
        <p:txBody>
          <a:bodyPr wrap="square" lIns="0" tIns="0" rIns="0" bIns="0" rtlCol="0" anchor="ctr"/>
          <a:lstStyle/>
          <a:p>
            <a:pPr algn="ctr" indent="0" marL="0">
              <a:buNone/>
            </a:pPr>
            <a:r>
              <a:rPr lang="en-US" sz="1300" b="1" dirty="0">
                <a:solidFill>
                  <a:srgbClr val="1B1C6E"/>
                </a:solidFill>
                <a:latin typeface="Tahoma" pitchFamily="34" charset="0"/>
                <a:ea typeface="Tahoma" pitchFamily="34" charset="-122"/>
                <a:cs typeface="Tahoma" pitchFamily="34" charset="-120"/>
              </a:rPr>
              <a:t>Transformación</a:t>
            </a:r>
            <a:endParaRPr lang="en-US" sz="1300" dirty="0"/>
          </a:p>
        </p:txBody>
      </p:sp>
      <p:sp>
        <p:nvSpPr>
          <p:cNvPr id="13" name="Text 9"/>
          <p:cNvSpPr txBox="1"/>
          <p:nvPr/>
        </p:nvSpPr>
        <p:spPr>
          <a:xfrm>
            <a:off x="2999232" y="4992624"/>
            <a:ext cx="1920240" cy="640080"/>
          </a:xfrm>
          <a:prstGeom prst="rect">
            <a:avLst/>
          </a:prstGeom>
          <a:noFill/>
          <a:ln/>
        </p:spPr>
        <p:txBody>
          <a:bodyPr wrap="square" lIns="0" tIns="0" rIns="0" bIns="0" rtlCol="0" anchor="ctr"/>
          <a:lstStyle/>
          <a:p>
            <a:pPr algn="ctr" indent="0" marL="0">
              <a:lnSpc>
                <a:spcPts val="1400"/>
              </a:lnSpc>
              <a:buNone/>
            </a:pPr>
            <a:r>
              <a:rPr lang="en-US" sz="1050" dirty="0">
                <a:solidFill>
                  <a:srgbClr val="55565E"/>
                </a:solidFill>
                <a:latin typeface="Calibri" pitchFamily="34" charset="0"/>
                <a:ea typeface="Calibri" pitchFamily="34" charset="-122"/>
                <a:cs typeface="Calibri" pitchFamily="34" charset="-120"/>
              </a:rPr>
              <a:t>Beneficio y preparación del café antes del tueste.</a:t>
            </a:r>
            <a:endParaRPr lang="en-US" sz="1050" dirty="0"/>
          </a:p>
        </p:txBody>
      </p:sp>
      <p:pic>
        <p:nvPicPr>
          <p:cNvPr id="14" name="Image 2" descr="preencoded.png">    </p:cNvPr>
          <p:cNvPicPr>
            <a:picLocks noChangeAspect="1"/>
          </p:cNvPicPr>
          <p:nvPr/>
        </p:nvPicPr>
        <p:blipFill>
          <a:blip r:embed="rId4"/>
          <a:stretch>
            <a:fillRect/>
          </a:stretch>
        </p:blipFill>
        <p:spPr>
          <a:xfrm>
            <a:off x="5157216" y="2697480"/>
            <a:ext cx="1920240" cy="1417320"/>
          </a:xfrm>
          <a:prstGeom prst="rect">
            <a:avLst/>
          </a:prstGeom>
        </p:spPr>
      </p:pic>
      <p:sp>
        <p:nvSpPr>
          <p:cNvPr id="15" name="Shape 10"/>
          <p:cNvSpPr/>
          <p:nvPr/>
        </p:nvSpPr>
        <p:spPr>
          <a:xfrm>
            <a:off x="5907024" y="4224528"/>
            <a:ext cx="420624" cy="420624"/>
          </a:xfrm>
          <a:prstGeom prst="ellipse">
            <a:avLst/>
          </a:prstGeom>
          <a:solidFill>
            <a:srgbClr val="1B1C6E"/>
          </a:solidFill>
          <a:ln/>
        </p:spPr>
      </p:sp>
      <p:sp>
        <p:nvSpPr>
          <p:cNvPr id="16" name="Text 11"/>
          <p:cNvSpPr txBox="1"/>
          <p:nvPr/>
        </p:nvSpPr>
        <p:spPr>
          <a:xfrm>
            <a:off x="5907024" y="4224528"/>
            <a:ext cx="420624" cy="420624"/>
          </a:xfrm>
          <a:prstGeom prst="rect">
            <a:avLst/>
          </a:prstGeom>
          <a:noFill/>
          <a:ln/>
        </p:spPr>
        <p:txBody>
          <a:bodyPr wrap="square" lIns="0" tIns="0" rIns="0" bIns="0" rtlCol="0" anchor="ctr"/>
          <a:lstStyle/>
          <a:p>
            <a:pPr algn="ctr" indent="0" marL="0">
              <a:buNone/>
            </a:pPr>
            <a:r>
              <a:rPr lang="en-US" sz="1300" b="1" dirty="0">
                <a:solidFill>
                  <a:srgbClr val="F9BB0B"/>
                </a:solidFill>
                <a:latin typeface="Tahoma" pitchFamily="34" charset="0"/>
                <a:ea typeface="Tahoma" pitchFamily="34" charset="-122"/>
                <a:cs typeface="Tahoma" pitchFamily="34" charset="-120"/>
              </a:rPr>
              <a:t>3</a:t>
            </a:r>
            <a:endParaRPr lang="en-US" sz="1300" dirty="0"/>
          </a:p>
        </p:txBody>
      </p:sp>
      <p:sp>
        <p:nvSpPr>
          <p:cNvPr id="17" name="Text 12"/>
          <p:cNvSpPr txBox="1"/>
          <p:nvPr/>
        </p:nvSpPr>
        <p:spPr>
          <a:xfrm>
            <a:off x="5157216" y="4718304"/>
            <a:ext cx="1920240" cy="274320"/>
          </a:xfrm>
          <a:prstGeom prst="rect">
            <a:avLst/>
          </a:prstGeom>
          <a:noFill/>
          <a:ln/>
        </p:spPr>
        <p:txBody>
          <a:bodyPr wrap="square" lIns="0" tIns="0" rIns="0" bIns="0" rtlCol="0" anchor="ctr"/>
          <a:lstStyle/>
          <a:p>
            <a:pPr algn="ctr" indent="0" marL="0">
              <a:buNone/>
            </a:pPr>
            <a:r>
              <a:rPr lang="en-US" sz="1300" b="1" dirty="0">
                <a:solidFill>
                  <a:srgbClr val="1B1C6E"/>
                </a:solidFill>
                <a:latin typeface="Tahoma" pitchFamily="34" charset="0"/>
                <a:ea typeface="Tahoma" pitchFamily="34" charset="-122"/>
                <a:cs typeface="Tahoma" pitchFamily="34" charset="-120"/>
              </a:rPr>
              <a:t>Tostión</a:t>
            </a:r>
            <a:endParaRPr lang="en-US" sz="1300" dirty="0"/>
          </a:p>
        </p:txBody>
      </p:sp>
      <p:sp>
        <p:nvSpPr>
          <p:cNvPr id="18" name="Text 13"/>
          <p:cNvSpPr txBox="1"/>
          <p:nvPr/>
        </p:nvSpPr>
        <p:spPr>
          <a:xfrm>
            <a:off x="5157216" y="4992624"/>
            <a:ext cx="1920240" cy="640080"/>
          </a:xfrm>
          <a:prstGeom prst="rect">
            <a:avLst/>
          </a:prstGeom>
          <a:noFill/>
          <a:ln/>
        </p:spPr>
        <p:txBody>
          <a:bodyPr wrap="square" lIns="0" tIns="0" rIns="0" bIns="0" rtlCol="0" anchor="ctr"/>
          <a:lstStyle/>
          <a:p>
            <a:pPr algn="ctr" indent="0" marL="0">
              <a:lnSpc>
                <a:spcPts val="1400"/>
              </a:lnSpc>
              <a:buNone/>
            </a:pPr>
            <a:r>
              <a:rPr lang="en-US" sz="1050" dirty="0">
                <a:solidFill>
                  <a:srgbClr val="55565E"/>
                </a:solidFill>
                <a:latin typeface="Calibri" pitchFamily="34" charset="0"/>
                <a:ea typeface="Calibri" pitchFamily="34" charset="-122"/>
                <a:cs typeface="Calibri" pitchFamily="34" charset="-120"/>
              </a:rPr>
              <a:t>El perfil de tueste define el carácter del producto.</a:t>
            </a:r>
            <a:endParaRPr lang="en-US" sz="1050" dirty="0"/>
          </a:p>
        </p:txBody>
      </p:sp>
      <p:pic>
        <p:nvPicPr>
          <p:cNvPr id="19" name="Image 3" descr="preencoded.png">    </p:cNvPr>
          <p:cNvPicPr>
            <a:picLocks noChangeAspect="1"/>
          </p:cNvPicPr>
          <p:nvPr/>
        </p:nvPicPr>
        <p:blipFill>
          <a:blip r:embed="rId5"/>
          <a:stretch>
            <a:fillRect/>
          </a:stretch>
        </p:blipFill>
        <p:spPr>
          <a:xfrm>
            <a:off x="7315200" y="2697480"/>
            <a:ext cx="1920240" cy="1417320"/>
          </a:xfrm>
          <a:prstGeom prst="rect">
            <a:avLst/>
          </a:prstGeom>
        </p:spPr>
      </p:pic>
      <p:sp>
        <p:nvSpPr>
          <p:cNvPr id="20" name="Shape 14"/>
          <p:cNvSpPr/>
          <p:nvPr/>
        </p:nvSpPr>
        <p:spPr>
          <a:xfrm>
            <a:off x="8065008" y="4224528"/>
            <a:ext cx="420624" cy="420624"/>
          </a:xfrm>
          <a:prstGeom prst="ellipse">
            <a:avLst/>
          </a:prstGeom>
          <a:solidFill>
            <a:srgbClr val="1B1C6E"/>
          </a:solidFill>
          <a:ln/>
        </p:spPr>
      </p:sp>
      <p:sp>
        <p:nvSpPr>
          <p:cNvPr id="21" name="Text 15"/>
          <p:cNvSpPr txBox="1"/>
          <p:nvPr/>
        </p:nvSpPr>
        <p:spPr>
          <a:xfrm>
            <a:off x="8065008" y="4224528"/>
            <a:ext cx="420624" cy="420624"/>
          </a:xfrm>
          <a:prstGeom prst="rect">
            <a:avLst/>
          </a:prstGeom>
          <a:noFill/>
          <a:ln/>
        </p:spPr>
        <p:txBody>
          <a:bodyPr wrap="square" lIns="0" tIns="0" rIns="0" bIns="0" rtlCol="0" anchor="ctr"/>
          <a:lstStyle/>
          <a:p>
            <a:pPr algn="ctr" indent="0" marL="0">
              <a:buNone/>
            </a:pPr>
            <a:r>
              <a:rPr lang="en-US" sz="1300" b="1" dirty="0">
                <a:solidFill>
                  <a:srgbClr val="F9BB0B"/>
                </a:solidFill>
                <a:latin typeface="Tahoma" pitchFamily="34" charset="0"/>
                <a:ea typeface="Tahoma" pitchFamily="34" charset="-122"/>
                <a:cs typeface="Tahoma" pitchFamily="34" charset="-120"/>
              </a:rPr>
              <a:t>4</a:t>
            </a:r>
            <a:endParaRPr lang="en-US" sz="1300" dirty="0"/>
          </a:p>
        </p:txBody>
      </p:sp>
      <p:sp>
        <p:nvSpPr>
          <p:cNvPr id="22" name="Text 16"/>
          <p:cNvSpPr txBox="1"/>
          <p:nvPr/>
        </p:nvSpPr>
        <p:spPr>
          <a:xfrm>
            <a:off x="7315200" y="4718304"/>
            <a:ext cx="1920240" cy="274320"/>
          </a:xfrm>
          <a:prstGeom prst="rect">
            <a:avLst/>
          </a:prstGeom>
          <a:noFill/>
          <a:ln/>
        </p:spPr>
        <p:txBody>
          <a:bodyPr wrap="square" lIns="0" tIns="0" rIns="0" bIns="0" rtlCol="0" anchor="ctr"/>
          <a:lstStyle/>
          <a:p>
            <a:pPr algn="ctr" indent="0" marL="0">
              <a:buNone/>
            </a:pPr>
            <a:r>
              <a:rPr lang="en-US" sz="1300" b="1" dirty="0">
                <a:solidFill>
                  <a:srgbClr val="1B1C6E"/>
                </a:solidFill>
                <a:latin typeface="Tahoma" pitchFamily="34" charset="0"/>
                <a:ea typeface="Tahoma" pitchFamily="34" charset="-122"/>
                <a:cs typeface="Tahoma" pitchFamily="34" charset="-120"/>
              </a:rPr>
              <a:t>Empaque</a:t>
            </a:r>
            <a:endParaRPr lang="en-US" sz="1300" dirty="0"/>
          </a:p>
        </p:txBody>
      </p:sp>
      <p:sp>
        <p:nvSpPr>
          <p:cNvPr id="23" name="Text 17"/>
          <p:cNvSpPr txBox="1"/>
          <p:nvPr/>
        </p:nvSpPr>
        <p:spPr>
          <a:xfrm>
            <a:off x="7315200" y="4992624"/>
            <a:ext cx="1920240" cy="640080"/>
          </a:xfrm>
          <a:prstGeom prst="rect">
            <a:avLst/>
          </a:prstGeom>
          <a:noFill/>
          <a:ln/>
        </p:spPr>
        <p:txBody>
          <a:bodyPr wrap="square" lIns="0" tIns="0" rIns="0" bIns="0" rtlCol="0" anchor="ctr"/>
          <a:lstStyle/>
          <a:p>
            <a:pPr algn="ctr" indent="0" marL="0">
              <a:lnSpc>
                <a:spcPts val="1400"/>
              </a:lnSpc>
              <a:buNone/>
            </a:pPr>
            <a:r>
              <a:rPr lang="en-US" sz="1050" dirty="0">
                <a:solidFill>
                  <a:srgbClr val="55565E"/>
                </a:solidFill>
                <a:latin typeface="Calibri" pitchFamily="34" charset="0"/>
                <a:ea typeface="Calibri" pitchFamily="34" charset="-122"/>
                <a:cs typeface="Calibri" pitchFamily="34" charset="-120"/>
              </a:rPr>
              <a:t>Presentación, conservación y trazabilidad del producto.</a:t>
            </a:r>
            <a:endParaRPr lang="en-US" sz="1050" dirty="0"/>
          </a:p>
        </p:txBody>
      </p:sp>
      <p:pic>
        <p:nvPicPr>
          <p:cNvPr id="24" name="Image 4" descr="preencoded.png">    </p:cNvPr>
          <p:cNvPicPr>
            <a:picLocks noChangeAspect="1"/>
          </p:cNvPicPr>
          <p:nvPr/>
        </p:nvPicPr>
        <p:blipFill>
          <a:blip r:embed="rId6"/>
          <a:stretch>
            <a:fillRect/>
          </a:stretch>
        </p:blipFill>
        <p:spPr>
          <a:xfrm>
            <a:off x="9473184" y="2697480"/>
            <a:ext cx="1920240" cy="1417320"/>
          </a:xfrm>
          <a:prstGeom prst="rect">
            <a:avLst/>
          </a:prstGeom>
        </p:spPr>
      </p:pic>
      <p:sp>
        <p:nvSpPr>
          <p:cNvPr id="25" name="Shape 18"/>
          <p:cNvSpPr/>
          <p:nvPr/>
        </p:nvSpPr>
        <p:spPr>
          <a:xfrm>
            <a:off x="10222992" y="4224528"/>
            <a:ext cx="420624" cy="420624"/>
          </a:xfrm>
          <a:prstGeom prst="ellipse">
            <a:avLst/>
          </a:prstGeom>
          <a:solidFill>
            <a:srgbClr val="1B1C6E"/>
          </a:solidFill>
          <a:ln/>
        </p:spPr>
      </p:sp>
      <p:sp>
        <p:nvSpPr>
          <p:cNvPr id="26" name="Text 19"/>
          <p:cNvSpPr txBox="1"/>
          <p:nvPr/>
        </p:nvSpPr>
        <p:spPr>
          <a:xfrm>
            <a:off x="10222992" y="4224528"/>
            <a:ext cx="420624" cy="420624"/>
          </a:xfrm>
          <a:prstGeom prst="rect">
            <a:avLst/>
          </a:prstGeom>
          <a:noFill/>
          <a:ln/>
        </p:spPr>
        <p:txBody>
          <a:bodyPr wrap="square" lIns="0" tIns="0" rIns="0" bIns="0" rtlCol="0" anchor="ctr"/>
          <a:lstStyle/>
          <a:p>
            <a:pPr algn="ctr" indent="0" marL="0">
              <a:buNone/>
            </a:pPr>
            <a:r>
              <a:rPr lang="en-US" sz="1300" b="1" dirty="0">
                <a:solidFill>
                  <a:srgbClr val="F9BB0B"/>
                </a:solidFill>
                <a:latin typeface="Tahoma" pitchFamily="34" charset="0"/>
                <a:ea typeface="Tahoma" pitchFamily="34" charset="-122"/>
                <a:cs typeface="Tahoma" pitchFamily="34" charset="-120"/>
              </a:rPr>
              <a:t>5</a:t>
            </a:r>
            <a:endParaRPr lang="en-US" sz="1300" dirty="0"/>
          </a:p>
        </p:txBody>
      </p:sp>
      <p:sp>
        <p:nvSpPr>
          <p:cNvPr id="27" name="Text 20"/>
          <p:cNvSpPr txBox="1"/>
          <p:nvPr/>
        </p:nvSpPr>
        <p:spPr>
          <a:xfrm>
            <a:off x="9473184" y="4718304"/>
            <a:ext cx="1920240" cy="274320"/>
          </a:xfrm>
          <a:prstGeom prst="rect">
            <a:avLst/>
          </a:prstGeom>
          <a:noFill/>
          <a:ln/>
        </p:spPr>
        <p:txBody>
          <a:bodyPr wrap="square" lIns="0" tIns="0" rIns="0" bIns="0" rtlCol="0" anchor="ctr"/>
          <a:lstStyle/>
          <a:p>
            <a:pPr algn="ctr" indent="0" marL="0">
              <a:buNone/>
            </a:pPr>
            <a:r>
              <a:rPr lang="en-US" sz="1300" b="1" dirty="0">
                <a:solidFill>
                  <a:srgbClr val="1B1C6E"/>
                </a:solidFill>
                <a:latin typeface="Tahoma" pitchFamily="34" charset="0"/>
                <a:ea typeface="Tahoma" pitchFamily="34" charset="-122"/>
                <a:cs typeface="Tahoma" pitchFamily="34" charset="-120"/>
              </a:rPr>
              <a:t>Marca propia</a:t>
            </a:r>
            <a:endParaRPr lang="en-US" sz="1300" dirty="0"/>
          </a:p>
        </p:txBody>
      </p:sp>
      <p:sp>
        <p:nvSpPr>
          <p:cNvPr id="28" name="Text 21"/>
          <p:cNvSpPr txBox="1"/>
          <p:nvPr/>
        </p:nvSpPr>
        <p:spPr>
          <a:xfrm>
            <a:off x="9473184" y="4992624"/>
            <a:ext cx="1920240" cy="640080"/>
          </a:xfrm>
          <a:prstGeom prst="rect">
            <a:avLst/>
          </a:prstGeom>
          <a:noFill/>
          <a:ln/>
        </p:spPr>
        <p:txBody>
          <a:bodyPr wrap="square" lIns="0" tIns="0" rIns="0" bIns="0" rtlCol="0" anchor="ctr"/>
          <a:lstStyle/>
          <a:p>
            <a:pPr algn="ctr" indent="0" marL="0">
              <a:lnSpc>
                <a:spcPts val="1400"/>
              </a:lnSpc>
              <a:buNone/>
            </a:pPr>
            <a:r>
              <a:rPr lang="en-US" sz="1050" dirty="0">
                <a:solidFill>
                  <a:srgbClr val="55565E"/>
                </a:solidFill>
                <a:latin typeface="Calibri" pitchFamily="34" charset="0"/>
                <a:ea typeface="Calibri" pitchFamily="34" charset="-122"/>
                <a:cs typeface="Calibri" pitchFamily="34" charset="-120"/>
              </a:rPr>
              <a:t>El café llega al mercado con sello e identidad propios.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Dónde vende hoy la empresa</a:t>
            </a:r>
            <a:endParaRPr lang="en-US" sz="2500" dirty="0"/>
          </a:p>
        </p:txBody>
      </p:sp>
      <p:sp>
        <p:nvSpPr>
          <p:cNvPr id="3" name="Text 1"/>
          <p:cNvSpPr txBox="1"/>
          <p:nvPr/>
        </p:nvSpPr>
        <p:spPr>
          <a:xfrm>
            <a:off x="841248" y="1600200"/>
            <a:ext cx="1051560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Durante los últimos años la empresa se ha posicionado principalmente en Antioquia, a través de seis canales que conviven al mismo tiempo y que exigen respuestas comerciales y logísticas distintas.</a:t>
            </a:r>
            <a:endParaRPr lang="en-US" sz="1450" dirty="0"/>
          </a:p>
        </p:txBody>
      </p:sp>
      <p:pic>
        <p:nvPicPr>
          <p:cNvPr id="4" name="Image 0" descr="preencoded.png">    </p:cNvPr>
          <p:cNvPicPr>
            <a:picLocks noChangeAspect="1"/>
          </p:cNvPicPr>
          <p:nvPr/>
        </p:nvPicPr>
        <p:blipFill>
          <a:blip r:embed="rId2"/>
          <a:stretch>
            <a:fillRect/>
          </a:stretch>
        </p:blipFill>
        <p:spPr>
          <a:xfrm>
            <a:off x="841248" y="2606040"/>
            <a:ext cx="1417320" cy="1234440"/>
          </a:xfrm>
          <a:prstGeom prst="rect">
            <a:avLst/>
          </a:prstGeom>
        </p:spPr>
      </p:pic>
      <p:sp>
        <p:nvSpPr>
          <p:cNvPr id="5" name="Shape 2"/>
          <p:cNvSpPr/>
          <p:nvPr/>
        </p:nvSpPr>
        <p:spPr>
          <a:xfrm>
            <a:off x="2350008" y="2606040"/>
            <a:ext cx="1783080" cy="1234440"/>
          </a:xfrm>
          <a:prstGeom prst="roundRect">
            <a:avLst>
              <a:gd name="adj" fmla="val 5926"/>
            </a:avLst>
          </a:prstGeom>
          <a:solidFill>
            <a:srgbClr val="F1F2F8"/>
          </a:solidFill>
          <a:ln/>
        </p:spPr>
      </p:sp>
      <p:sp>
        <p:nvSpPr>
          <p:cNvPr id="6" name="Text 3"/>
          <p:cNvSpPr txBox="1"/>
          <p:nvPr/>
        </p:nvSpPr>
        <p:spPr>
          <a:xfrm>
            <a:off x="2487168" y="2606040"/>
            <a:ext cx="1554480" cy="1234440"/>
          </a:xfrm>
          <a:prstGeom prst="rect">
            <a:avLst/>
          </a:prstGeom>
          <a:noFill/>
          <a:ln/>
        </p:spPr>
        <p:txBody>
          <a:bodyPr wrap="square" lIns="0" tIns="0" rIns="0" bIns="0" rtlCol="0" anchor="ctr"/>
          <a:lstStyle/>
          <a:p>
            <a:pPr indent="0" marL="0">
              <a:buNone/>
            </a:pPr>
            <a:r>
              <a:rPr lang="en-US" sz="1250" b="1" dirty="0">
                <a:solidFill>
                  <a:srgbClr val="1B1C6E"/>
                </a:solidFill>
                <a:latin typeface="Tahoma" pitchFamily="34" charset="0"/>
                <a:ea typeface="Tahoma" pitchFamily="34" charset="-122"/>
                <a:cs typeface="Tahoma" pitchFamily="34" charset="-120"/>
              </a:rPr>
              <a:t>Supermercados regionales</a:t>
            </a:r>
            <a:endParaRPr lang="en-US" sz="1250" dirty="0"/>
          </a:p>
        </p:txBody>
      </p:sp>
      <p:pic>
        <p:nvPicPr>
          <p:cNvPr id="7" name="Image 1" descr="preencoded.png">    </p:cNvPr>
          <p:cNvPicPr>
            <a:picLocks noChangeAspect="1"/>
          </p:cNvPicPr>
          <p:nvPr/>
        </p:nvPicPr>
        <p:blipFill>
          <a:blip r:embed="rId3"/>
          <a:stretch>
            <a:fillRect/>
          </a:stretch>
        </p:blipFill>
        <p:spPr>
          <a:xfrm>
            <a:off x="4453128" y="2606040"/>
            <a:ext cx="1417320" cy="1234440"/>
          </a:xfrm>
          <a:prstGeom prst="rect">
            <a:avLst/>
          </a:prstGeom>
        </p:spPr>
      </p:pic>
      <p:sp>
        <p:nvSpPr>
          <p:cNvPr id="8" name="Shape 4"/>
          <p:cNvSpPr/>
          <p:nvPr/>
        </p:nvSpPr>
        <p:spPr>
          <a:xfrm>
            <a:off x="5961888" y="2606040"/>
            <a:ext cx="1783080" cy="1234440"/>
          </a:xfrm>
          <a:prstGeom prst="roundRect">
            <a:avLst>
              <a:gd name="adj" fmla="val 5926"/>
            </a:avLst>
          </a:prstGeom>
          <a:solidFill>
            <a:srgbClr val="FDF4DC"/>
          </a:solidFill>
          <a:ln/>
        </p:spPr>
      </p:sp>
      <p:sp>
        <p:nvSpPr>
          <p:cNvPr id="9" name="Text 5"/>
          <p:cNvSpPr txBox="1"/>
          <p:nvPr/>
        </p:nvSpPr>
        <p:spPr>
          <a:xfrm>
            <a:off x="6099048" y="2606040"/>
            <a:ext cx="1554480" cy="1234440"/>
          </a:xfrm>
          <a:prstGeom prst="rect">
            <a:avLst/>
          </a:prstGeom>
          <a:noFill/>
          <a:ln/>
        </p:spPr>
        <p:txBody>
          <a:bodyPr wrap="square" lIns="0" tIns="0" rIns="0" bIns="0" rtlCol="0" anchor="ctr"/>
          <a:lstStyle/>
          <a:p>
            <a:pPr indent="0" marL="0">
              <a:buNone/>
            </a:pPr>
            <a:r>
              <a:rPr lang="en-US" sz="1250" b="1" dirty="0">
                <a:solidFill>
                  <a:srgbClr val="1B1C6E"/>
                </a:solidFill>
                <a:latin typeface="Tahoma" pitchFamily="34" charset="0"/>
                <a:ea typeface="Tahoma" pitchFamily="34" charset="-122"/>
                <a:cs typeface="Tahoma" pitchFamily="34" charset="-120"/>
              </a:rPr>
              <a:t>Tiendas especializadas</a:t>
            </a:r>
            <a:endParaRPr lang="en-US" sz="1250" dirty="0"/>
          </a:p>
        </p:txBody>
      </p:sp>
      <p:pic>
        <p:nvPicPr>
          <p:cNvPr id="10" name="Image 2" descr="preencoded.png">    </p:cNvPr>
          <p:cNvPicPr>
            <a:picLocks noChangeAspect="1"/>
          </p:cNvPicPr>
          <p:nvPr/>
        </p:nvPicPr>
        <p:blipFill>
          <a:blip r:embed="rId4"/>
          <a:stretch>
            <a:fillRect/>
          </a:stretch>
        </p:blipFill>
        <p:spPr>
          <a:xfrm>
            <a:off x="8065008" y="2606040"/>
            <a:ext cx="1417320" cy="1234440"/>
          </a:xfrm>
          <a:prstGeom prst="rect">
            <a:avLst/>
          </a:prstGeom>
        </p:spPr>
      </p:pic>
      <p:sp>
        <p:nvSpPr>
          <p:cNvPr id="11" name="Shape 6"/>
          <p:cNvSpPr/>
          <p:nvPr/>
        </p:nvSpPr>
        <p:spPr>
          <a:xfrm>
            <a:off x="9573768" y="2606040"/>
            <a:ext cx="1783080" cy="1234440"/>
          </a:xfrm>
          <a:prstGeom prst="roundRect">
            <a:avLst>
              <a:gd name="adj" fmla="val 5926"/>
            </a:avLst>
          </a:prstGeom>
          <a:solidFill>
            <a:srgbClr val="F1F2F8"/>
          </a:solidFill>
          <a:ln/>
        </p:spPr>
      </p:sp>
      <p:sp>
        <p:nvSpPr>
          <p:cNvPr id="12" name="Text 7"/>
          <p:cNvSpPr txBox="1"/>
          <p:nvPr/>
        </p:nvSpPr>
        <p:spPr>
          <a:xfrm>
            <a:off x="9710928" y="2606040"/>
            <a:ext cx="1554480" cy="1234440"/>
          </a:xfrm>
          <a:prstGeom prst="rect">
            <a:avLst/>
          </a:prstGeom>
          <a:noFill/>
          <a:ln/>
        </p:spPr>
        <p:txBody>
          <a:bodyPr wrap="square" lIns="0" tIns="0" rIns="0" bIns="0" rtlCol="0" anchor="ctr"/>
          <a:lstStyle/>
          <a:p>
            <a:pPr indent="0" marL="0">
              <a:buNone/>
            </a:pPr>
            <a:r>
              <a:rPr lang="en-US" sz="1250" b="1" dirty="0">
                <a:solidFill>
                  <a:srgbClr val="1B1C6E"/>
                </a:solidFill>
                <a:latin typeface="Tahoma" pitchFamily="34" charset="0"/>
                <a:ea typeface="Tahoma" pitchFamily="34" charset="-122"/>
                <a:cs typeface="Tahoma" pitchFamily="34" charset="-120"/>
              </a:rPr>
              <a:t>Restaurantes</a:t>
            </a:r>
            <a:endParaRPr lang="en-US" sz="1250" dirty="0"/>
          </a:p>
        </p:txBody>
      </p:sp>
      <p:pic>
        <p:nvPicPr>
          <p:cNvPr id="13" name="Image 3" descr="preencoded.png">    </p:cNvPr>
          <p:cNvPicPr>
            <a:picLocks noChangeAspect="1"/>
          </p:cNvPicPr>
          <p:nvPr/>
        </p:nvPicPr>
        <p:blipFill>
          <a:blip r:embed="rId5"/>
          <a:stretch>
            <a:fillRect/>
          </a:stretch>
        </p:blipFill>
        <p:spPr>
          <a:xfrm>
            <a:off x="841248" y="4297680"/>
            <a:ext cx="1417320" cy="1234440"/>
          </a:xfrm>
          <a:prstGeom prst="rect">
            <a:avLst/>
          </a:prstGeom>
        </p:spPr>
      </p:pic>
      <p:sp>
        <p:nvSpPr>
          <p:cNvPr id="14" name="Shape 8"/>
          <p:cNvSpPr/>
          <p:nvPr/>
        </p:nvSpPr>
        <p:spPr>
          <a:xfrm>
            <a:off x="2350008" y="4297680"/>
            <a:ext cx="1783080" cy="1234440"/>
          </a:xfrm>
          <a:prstGeom prst="roundRect">
            <a:avLst>
              <a:gd name="adj" fmla="val 5926"/>
            </a:avLst>
          </a:prstGeom>
          <a:solidFill>
            <a:srgbClr val="FDF4DC"/>
          </a:solidFill>
          <a:ln/>
        </p:spPr>
      </p:sp>
      <p:sp>
        <p:nvSpPr>
          <p:cNvPr id="15" name="Text 9"/>
          <p:cNvSpPr txBox="1"/>
          <p:nvPr/>
        </p:nvSpPr>
        <p:spPr>
          <a:xfrm>
            <a:off x="2487168" y="4297680"/>
            <a:ext cx="1554480" cy="1234440"/>
          </a:xfrm>
          <a:prstGeom prst="rect">
            <a:avLst/>
          </a:prstGeom>
          <a:noFill/>
          <a:ln/>
        </p:spPr>
        <p:txBody>
          <a:bodyPr wrap="square" lIns="0" tIns="0" rIns="0" bIns="0" rtlCol="0" anchor="ctr"/>
          <a:lstStyle/>
          <a:p>
            <a:pPr indent="0" marL="0">
              <a:buNone/>
            </a:pPr>
            <a:r>
              <a:rPr lang="en-US" sz="1250" b="1" dirty="0">
                <a:solidFill>
                  <a:srgbClr val="1B1C6E"/>
                </a:solidFill>
                <a:latin typeface="Tahoma" pitchFamily="34" charset="0"/>
                <a:ea typeface="Tahoma" pitchFamily="34" charset="-122"/>
                <a:cs typeface="Tahoma" pitchFamily="34" charset="-120"/>
              </a:rPr>
              <a:t>Hoteles</a:t>
            </a:r>
            <a:endParaRPr lang="en-US" sz="1250" dirty="0"/>
          </a:p>
        </p:txBody>
      </p:sp>
      <p:pic>
        <p:nvPicPr>
          <p:cNvPr id="16" name="Image 4" descr="preencoded.png">    </p:cNvPr>
          <p:cNvPicPr>
            <a:picLocks noChangeAspect="1"/>
          </p:cNvPicPr>
          <p:nvPr/>
        </p:nvPicPr>
        <p:blipFill>
          <a:blip r:embed="rId6"/>
          <a:stretch>
            <a:fillRect/>
          </a:stretch>
        </p:blipFill>
        <p:spPr>
          <a:xfrm>
            <a:off x="4453128" y="4297680"/>
            <a:ext cx="1417320" cy="1234440"/>
          </a:xfrm>
          <a:prstGeom prst="rect">
            <a:avLst/>
          </a:prstGeom>
        </p:spPr>
      </p:pic>
      <p:sp>
        <p:nvSpPr>
          <p:cNvPr id="17" name="Shape 10"/>
          <p:cNvSpPr/>
          <p:nvPr/>
        </p:nvSpPr>
        <p:spPr>
          <a:xfrm>
            <a:off x="5961888" y="4297680"/>
            <a:ext cx="1783080" cy="1234440"/>
          </a:xfrm>
          <a:prstGeom prst="roundRect">
            <a:avLst>
              <a:gd name="adj" fmla="val 5926"/>
            </a:avLst>
          </a:prstGeom>
          <a:solidFill>
            <a:srgbClr val="F1F2F8"/>
          </a:solidFill>
          <a:ln/>
        </p:spPr>
      </p:sp>
      <p:sp>
        <p:nvSpPr>
          <p:cNvPr id="18" name="Text 11"/>
          <p:cNvSpPr txBox="1"/>
          <p:nvPr/>
        </p:nvSpPr>
        <p:spPr>
          <a:xfrm>
            <a:off x="6099048" y="4297680"/>
            <a:ext cx="1554480" cy="1234440"/>
          </a:xfrm>
          <a:prstGeom prst="rect">
            <a:avLst/>
          </a:prstGeom>
          <a:noFill/>
          <a:ln/>
        </p:spPr>
        <p:txBody>
          <a:bodyPr wrap="square" lIns="0" tIns="0" rIns="0" bIns="0" rtlCol="0" anchor="ctr"/>
          <a:lstStyle/>
          <a:p>
            <a:pPr indent="0" marL="0">
              <a:buNone/>
            </a:pPr>
            <a:r>
              <a:rPr lang="en-US" sz="1250" b="1" dirty="0">
                <a:solidFill>
                  <a:srgbClr val="1B1C6E"/>
                </a:solidFill>
                <a:latin typeface="Tahoma" pitchFamily="34" charset="0"/>
                <a:ea typeface="Tahoma" pitchFamily="34" charset="-122"/>
                <a:cs typeface="Tahoma" pitchFamily="34" charset="-120"/>
              </a:rPr>
              <a:t>Clientes institucionales</a:t>
            </a:r>
            <a:endParaRPr lang="en-US" sz="1250" dirty="0"/>
          </a:p>
        </p:txBody>
      </p:sp>
      <p:pic>
        <p:nvPicPr>
          <p:cNvPr id="19" name="Image 5" descr="preencoded.png">    </p:cNvPr>
          <p:cNvPicPr>
            <a:picLocks noChangeAspect="1"/>
          </p:cNvPicPr>
          <p:nvPr/>
        </p:nvPicPr>
        <p:blipFill>
          <a:blip r:embed="rId7"/>
          <a:stretch>
            <a:fillRect/>
          </a:stretch>
        </p:blipFill>
        <p:spPr>
          <a:xfrm>
            <a:off x="8065008" y="4297680"/>
            <a:ext cx="1417320" cy="1234440"/>
          </a:xfrm>
          <a:prstGeom prst="rect">
            <a:avLst/>
          </a:prstGeom>
        </p:spPr>
      </p:pic>
      <p:sp>
        <p:nvSpPr>
          <p:cNvPr id="20" name="Shape 12"/>
          <p:cNvSpPr/>
          <p:nvPr/>
        </p:nvSpPr>
        <p:spPr>
          <a:xfrm>
            <a:off x="9573768" y="4297680"/>
            <a:ext cx="1783080" cy="1234440"/>
          </a:xfrm>
          <a:prstGeom prst="roundRect">
            <a:avLst>
              <a:gd name="adj" fmla="val 5926"/>
            </a:avLst>
          </a:prstGeom>
          <a:solidFill>
            <a:srgbClr val="FDF4DC"/>
          </a:solidFill>
          <a:ln/>
        </p:spPr>
      </p:sp>
      <p:sp>
        <p:nvSpPr>
          <p:cNvPr id="21" name="Text 13"/>
          <p:cNvSpPr txBox="1"/>
          <p:nvPr/>
        </p:nvSpPr>
        <p:spPr>
          <a:xfrm>
            <a:off x="9710928" y="4297680"/>
            <a:ext cx="1554480" cy="1234440"/>
          </a:xfrm>
          <a:prstGeom prst="rect">
            <a:avLst/>
          </a:prstGeom>
          <a:noFill/>
          <a:ln/>
        </p:spPr>
        <p:txBody>
          <a:bodyPr wrap="square" lIns="0" tIns="0" rIns="0" bIns="0" rtlCol="0" anchor="ctr"/>
          <a:lstStyle/>
          <a:p>
            <a:pPr indent="0" marL="0">
              <a:buNone/>
            </a:pPr>
            <a:r>
              <a:rPr lang="en-US" sz="1250" b="1" dirty="0">
                <a:solidFill>
                  <a:srgbClr val="1B1C6E"/>
                </a:solidFill>
                <a:latin typeface="Tahoma" pitchFamily="34" charset="0"/>
                <a:ea typeface="Tahoma" pitchFamily="34" charset="-122"/>
                <a:cs typeface="Tahoma" pitchFamily="34" charset="-120"/>
              </a:rPr>
              <a:t>Comercio electrónico</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La promesa que sostiene la marca</a:t>
            </a:r>
            <a:endParaRPr lang="en-US" sz="2500" dirty="0"/>
          </a:p>
        </p:txBody>
      </p:sp>
      <p:sp>
        <p:nvSpPr>
          <p:cNvPr id="3" name="Text 1"/>
          <p:cNvSpPr txBox="1"/>
          <p:nvPr/>
        </p:nvSpPr>
        <p:spPr>
          <a:xfrm>
            <a:off x="841248" y="1600200"/>
            <a:ext cx="1051560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Toda la propuesta comercial de la empresa se ha construido alrededor de cuatro conceptos. No son adornos publicitarios: son compromisos que condicionan sus costos, sus proveedores y su forma de operar.</a:t>
            </a:r>
            <a:endParaRPr lang="en-US" sz="1450" dirty="0"/>
          </a:p>
        </p:txBody>
      </p:sp>
      <p:pic>
        <p:nvPicPr>
          <p:cNvPr id="4" name="Image 0" descr="preencoded.png">    </p:cNvPr>
          <p:cNvPicPr>
            <a:picLocks noChangeAspect="1"/>
          </p:cNvPicPr>
          <p:nvPr/>
        </p:nvPicPr>
        <p:blipFill>
          <a:blip r:embed="rId2"/>
          <a:stretch>
            <a:fillRect/>
          </a:stretch>
        </p:blipFill>
        <p:spPr>
          <a:xfrm>
            <a:off x="841248" y="2697480"/>
            <a:ext cx="2423160" cy="1600200"/>
          </a:xfrm>
          <a:prstGeom prst="rect">
            <a:avLst/>
          </a:prstGeom>
        </p:spPr>
      </p:pic>
      <p:sp>
        <p:nvSpPr>
          <p:cNvPr id="5" name="Text 2"/>
          <p:cNvSpPr txBox="1"/>
          <p:nvPr/>
        </p:nvSpPr>
        <p:spPr>
          <a:xfrm>
            <a:off x="841248" y="4407408"/>
            <a:ext cx="2423160" cy="320040"/>
          </a:xfrm>
          <a:prstGeom prst="rect">
            <a:avLst/>
          </a:prstGeom>
          <a:noFill/>
          <a:ln/>
        </p:spPr>
        <p:txBody>
          <a:bodyPr wrap="square" lIns="0" tIns="0" rIns="0" bIns="0" rtlCol="0" anchor="ctr"/>
          <a:lstStyle/>
          <a:p>
            <a:pPr indent="0" marL="0">
              <a:buNone/>
            </a:pPr>
            <a:r>
              <a:rPr lang="en-US" sz="1500" b="1" dirty="0">
                <a:solidFill>
                  <a:srgbClr val="1B1C6E"/>
                </a:solidFill>
                <a:latin typeface="Tahoma" pitchFamily="34" charset="0"/>
                <a:ea typeface="Tahoma" pitchFamily="34" charset="-122"/>
                <a:cs typeface="Tahoma" pitchFamily="34" charset="-120"/>
              </a:rPr>
              <a:t>Calidad</a:t>
            </a:r>
            <a:endParaRPr lang="en-US" sz="1500" dirty="0"/>
          </a:p>
        </p:txBody>
      </p:sp>
      <p:sp>
        <p:nvSpPr>
          <p:cNvPr id="6" name="Text 3"/>
          <p:cNvSpPr txBox="1"/>
          <p:nvPr/>
        </p:nvSpPr>
        <p:spPr>
          <a:xfrm>
            <a:off x="841248" y="4736592"/>
            <a:ext cx="2423160" cy="731520"/>
          </a:xfrm>
          <a:prstGeom prst="rect">
            <a:avLst/>
          </a:prstGeom>
          <a:noFill/>
          <a:ln/>
        </p:spPr>
        <p:txBody>
          <a:bodyPr wrap="square" lIns="0" tIns="0" rIns="0" bIns="0" rtlCol="0" anchor="ctr"/>
          <a:lstStyle/>
          <a:p>
            <a:pPr indent="0" marL="0">
              <a:lnSpc>
                <a:spcPts val="1500"/>
              </a:lnSpc>
              <a:buNone/>
            </a:pPr>
            <a:r>
              <a:rPr lang="en-US" sz="1150" dirty="0">
                <a:solidFill>
                  <a:srgbClr val="55565E"/>
                </a:solidFill>
                <a:latin typeface="Calibri" pitchFamily="34" charset="0"/>
                <a:ea typeface="Calibri" pitchFamily="34" charset="-122"/>
                <a:cs typeface="Calibri" pitchFamily="34" charset="-120"/>
              </a:rPr>
              <a:t>Control del grano en cada etapa, desde la compra hasta la taza.</a:t>
            </a:r>
            <a:endParaRPr lang="en-US" sz="1150" dirty="0"/>
          </a:p>
        </p:txBody>
      </p:sp>
      <p:pic>
        <p:nvPicPr>
          <p:cNvPr id="7" name="Image 1" descr="preencoded.png">    </p:cNvPr>
          <p:cNvPicPr>
            <a:picLocks noChangeAspect="1"/>
          </p:cNvPicPr>
          <p:nvPr/>
        </p:nvPicPr>
        <p:blipFill>
          <a:blip r:embed="rId3"/>
          <a:stretch>
            <a:fillRect/>
          </a:stretch>
        </p:blipFill>
        <p:spPr>
          <a:xfrm>
            <a:off x="3538728" y="2697480"/>
            <a:ext cx="2423160" cy="1600200"/>
          </a:xfrm>
          <a:prstGeom prst="rect">
            <a:avLst/>
          </a:prstGeom>
        </p:spPr>
      </p:pic>
      <p:sp>
        <p:nvSpPr>
          <p:cNvPr id="8" name="Text 4"/>
          <p:cNvSpPr txBox="1"/>
          <p:nvPr/>
        </p:nvSpPr>
        <p:spPr>
          <a:xfrm>
            <a:off x="3538728" y="4407408"/>
            <a:ext cx="2423160" cy="320040"/>
          </a:xfrm>
          <a:prstGeom prst="rect">
            <a:avLst/>
          </a:prstGeom>
          <a:noFill/>
          <a:ln/>
        </p:spPr>
        <p:txBody>
          <a:bodyPr wrap="square" lIns="0" tIns="0" rIns="0" bIns="0" rtlCol="0" anchor="ctr"/>
          <a:lstStyle/>
          <a:p>
            <a:pPr indent="0" marL="0">
              <a:buNone/>
            </a:pPr>
            <a:r>
              <a:rPr lang="en-US" sz="1500" b="1" dirty="0">
                <a:solidFill>
                  <a:srgbClr val="1B1C6E"/>
                </a:solidFill>
                <a:latin typeface="Tahoma" pitchFamily="34" charset="0"/>
                <a:ea typeface="Tahoma" pitchFamily="34" charset="-122"/>
                <a:cs typeface="Tahoma" pitchFamily="34" charset="-120"/>
              </a:rPr>
              <a:t>Origen</a:t>
            </a:r>
            <a:endParaRPr lang="en-US" sz="1500" dirty="0"/>
          </a:p>
        </p:txBody>
      </p:sp>
      <p:sp>
        <p:nvSpPr>
          <p:cNvPr id="9" name="Text 5"/>
          <p:cNvSpPr txBox="1"/>
          <p:nvPr/>
        </p:nvSpPr>
        <p:spPr>
          <a:xfrm>
            <a:off x="3538728" y="4736592"/>
            <a:ext cx="2423160" cy="731520"/>
          </a:xfrm>
          <a:prstGeom prst="rect">
            <a:avLst/>
          </a:prstGeom>
          <a:noFill/>
          <a:ln/>
        </p:spPr>
        <p:txBody>
          <a:bodyPr wrap="square" lIns="0" tIns="0" rIns="0" bIns="0" rtlCol="0" anchor="ctr"/>
          <a:lstStyle/>
          <a:p>
            <a:pPr indent="0" marL="0">
              <a:lnSpc>
                <a:spcPts val="1500"/>
              </a:lnSpc>
              <a:buNone/>
            </a:pPr>
            <a:r>
              <a:rPr lang="en-US" sz="1150" dirty="0">
                <a:solidFill>
                  <a:srgbClr val="55565E"/>
                </a:solidFill>
                <a:latin typeface="Calibri" pitchFamily="34" charset="0"/>
                <a:ea typeface="Calibri" pitchFamily="34" charset="-122"/>
                <a:cs typeface="Calibri" pitchFamily="34" charset="-120"/>
              </a:rPr>
              <a:t>El café tiene procedencia identificable y territorio reconocible.</a:t>
            </a:r>
            <a:endParaRPr lang="en-US" sz="1150" dirty="0"/>
          </a:p>
        </p:txBody>
      </p:sp>
      <p:pic>
        <p:nvPicPr>
          <p:cNvPr id="10" name="Image 2" descr="preencoded.png">    </p:cNvPr>
          <p:cNvPicPr>
            <a:picLocks noChangeAspect="1"/>
          </p:cNvPicPr>
          <p:nvPr/>
        </p:nvPicPr>
        <p:blipFill>
          <a:blip r:embed="rId4"/>
          <a:stretch>
            <a:fillRect/>
          </a:stretch>
        </p:blipFill>
        <p:spPr>
          <a:xfrm>
            <a:off x="6236208" y="2697480"/>
            <a:ext cx="2423160" cy="1600200"/>
          </a:xfrm>
          <a:prstGeom prst="rect">
            <a:avLst/>
          </a:prstGeom>
        </p:spPr>
      </p:pic>
      <p:sp>
        <p:nvSpPr>
          <p:cNvPr id="11" name="Text 6"/>
          <p:cNvSpPr txBox="1"/>
          <p:nvPr/>
        </p:nvSpPr>
        <p:spPr>
          <a:xfrm>
            <a:off x="6236208" y="4407408"/>
            <a:ext cx="2423160" cy="320040"/>
          </a:xfrm>
          <a:prstGeom prst="rect">
            <a:avLst/>
          </a:prstGeom>
          <a:noFill/>
          <a:ln/>
        </p:spPr>
        <p:txBody>
          <a:bodyPr wrap="square" lIns="0" tIns="0" rIns="0" bIns="0" rtlCol="0" anchor="ctr"/>
          <a:lstStyle/>
          <a:p>
            <a:pPr indent="0" marL="0">
              <a:buNone/>
            </a:pPr>
            <a:r>
              <a:rPr lang="en-US" sz="1500" b="1" dirty="0">
                <a:solidFill>
                  <a:srgbClr val="1B1C6E"/>
                </a:solidFill>
                <a:latin typeface="Tahoma" pitchFamily="34" charset="0"/>
                <a:ea typeface="Tahoma" pitchFamily="34" charset="-122"/>
                <a:cs typeface="Tahoma" pitchFamily="34" charset="-120"/>
              </a:rPr>
              <a:t>Producto local</a:t>
            </a:r>
            <a:endParaRPr lang="en-US" sz="1500" dirty="0"/>
          </a:p>
        </p:txBody>
      </p:sp>
      <p:sp>
        <p:nvSpPr>
          <p:cNvPr id="12" name="Text 7"/>
          <p:cNvSpPr txBox="1"/>
          <p:nvPr/>
        </p:nvSpPr>
        <p:spPr>
          <a:xfrm>
            <a:off x="6236208" y="4736592"/>
            <a:ext cx="2423160" cy="731520"/>
          </a:xfrm>
          <a:prstGeom prst="rect">
            <a:avLst/>
          </a:prstGeom>
          <a:noFill/>
          <a:ln/>
        </p:spPr>
        <p:txBody>
          <a:bodyPr wrap="square" lIns="0" tIns="0" rIns="0" bIns="0" rtlCol="0" anchor="ctr"/>
          <a:lstStyle/>
          <a:p>
            <a:pPr indent="0" marL="0">
              <a:lnSpc>
                <a:spcPts val="1500"/>
              </a:lnSpc>
              <a:buNone/>
            </a:pPr>
            <a:r>
              <a:rPr lang="en-US" sz="1150" dirty="0">
                <a:solidFill>
                  <a:srgbClr val="55565E"/>
                </a:solidFill>
                <a:latin typeface="Calibri" pitchFamily="34" charset="0"/>
                <a:ea typeface="Calibri" pitchFamily="34" charset="-122"/>
                <a:cs typeface="Calibri" pitchFamily="34" charset="-120"/>
              </a:rPr>
              <a:t>Valor generado en Antioquia, con productores del departamento.</a:t>
            </a:r>
            <a:endParaRPr lang="en-US" sz="1150" dirty="0"/>
          </a:p>
        </p:txBody>
      </p:sp>
      <p:pic>
        <p:nvPicPr>
          <p:cNvPr id="13" name="Image 3" descr="preencoded.png">    </p:cNvPr>
          <p:cNvPicPr>
            <a:picLocks noChangeAspect="1"/>
          </p:cNvPicPr>
          <p:nvPr/>
        </p:nvPicPr>
        <p:blipFill>
          <a:blip r:embed="rId5"/>
          <a:stretch>
            <a:fillRect/>
          </a:stretch>
        </p:blipFill>
        <p:spPr>
          <a:xfrm>
            <a:off x="8933688" y="2697480"/>
            <a:ext cx="2423160" cy="1600200"/>
          </a:xfrm>
          <a:prstGeom prst="rect">
            <a:avLst/>
          </a:prstGeom>
        </p:spPr>
      </p:pic>
      <p:sp>
        <p:nvSpPr>
          <p:cNvPr id="14" name="Text 8"/>
          <p:cNvSpPr txBox="1"/>
          <p:nvPr/>
        </p:nvSpPr>
        <p:spPr>
          <a:xfrm>
            <a:off x="8933688" y="4407408"/>
            <a:ext cx="2423160" cy="320040"/>
          </a:xfrm>
          <a:prstGeom prst="rect">
            <a:avLst/>
          </a:prstGeom>
          <a:noFill/>
          <a:ln/>
        </p:spPr>
        <p:txBody>
          <a:bodyPr wrap="square" lIns="0" tIns="0" rIns="0" bIns="0" rtlCol="0" anchor="ctr"/>
          <a:lstStyle/>
          <a:p>
            <a:pPr indent="0" marL="0">
              <a:buNone/>
            </a:pPr>
            <a:r>
              <a:rPr lang="en-US" sz="1500" b="1" dirty="0">
                <a:solidFill>
                  <a:srgbClr val="1B1C6E"/>
                </a:solidFill>
                <a:latin typeface="Tahoma" pitchFamily="34" charset="0"/>
                <a:ea typeface="Tahoma" pitchFamily="34" charset="-122"/>
                <a:cs typeface="Tahoma" pitchFamily="34" charset="-120"/>
              </a:rPr>
              <a:t>Sostenibilidad</a:t>
            </a:r>
            <a:endParaRPr lang="en-US" sz="1500" dirty="0"/>
          </a:p>
        </p:txBody>
      </p:sp>
      <p:sp>
        <p:nvSpPr>
          <p:cNvPr id="15" name="Text 9"/>
          <p:cNvSpPr txBox="1"/>
          <p:nvPr/>
        </p:nvSpPr>
        <p:spPr>
          <a:xfrm>
            <a:off x="8933688" y="4736592"/>
            <a:ext cx="2423160" cy="731520"/>
          </a:xfrm>
          <a:prstGeom prst="rect">
            <a:avLst/>
          </a:prstGeom>
          <a:noFill/>
          <a:ln/>
        </p:spPr>
        <p:txBody>
          <a:bodyPr wrap="square" lIns="0" tIns="0" rIns="0" bIns="0" rtlCol="0" anchor="ctr"/>
          <a:lstStyle/>
          <a:p>
            <a:pPr indent="0" marL="0">
              <a:lnSpc>
                <a:spcPts val="1500"/>
              </a:lnSpc>
              <a:buNone/>
            </a:pPr>
            <a:r>
              <a:rPr lang="en-US" sz="1150" dirty="0">
                <a:solidFill>
                  <a:srgbClr val="55565E"/>
                </a:solidFill>
                <a:latin typeface="Calibri" pitchFamily="34" charset="0"/>
                <a:ea typeface="Calibri" pitchFamily="34" charset="-122"/>
                <a:cs typeface="Calibri" pitchFamily="34" charset="-120"/>
              </a:rPr>
              <a:t>Compromiso con la cadena productiva y con el entorno.</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86968" y="2057400"/>
            <a:ext cx="10515600" cy="731520"/>
          </a:xfrm>
          <a:prstGeom prst="rect">
            <a:avLst/>
          </a:prstGeom>
          <a:noFill/>
          <a:ln/>
        </p:spPr>
        <p:txBody>
          <a:bodyPr wrap="square" lIns="0" tIns="0" rIns="0" bIns="0" rtlCol="0" anchor="ctr"/>
          <a:lstStyle/>
          <a:p>
            <a:pPr algn="ctr" indent="0" marL="0">
              <a:buNone/>
            </a:pPr>
            <a:r>
              <a:rPr lang="en-US" sz="1700" b="1" dirty="0">
                <a:solidFill>
                  <a:srgbClr val="1B1C6E"/>
                </a:solidFill>
                <a:latin typeface="Tahoma" pitchFamily="34" charset="0"/>
                <a:ea typeface="Tahoma" pitchFamily="34" charset="-122"/>
                <a:cs typeface="Tahoma" pitchFamily="34" charset="-120"/>
              </a:rPr>
              <a:t>EL RETO</a:t>
            </a:r>
            <a:endParaRPr lang="en-US" sz="1700" dirty="0"/>
          </a:p>
        </p:txBody>
      </p:sp>
      <p:sp>
        <p:nvSpPr>
          <p:cNvPr id="3" name="Text 1"/>
          <p:cNvSpPr txBox="1"/>
          <p:nvPr/>
        </p:nvSpPr>
        <p:spPr>
          <a:xfrm>
            <a:off x="886968" y="2788920"/>
            <a:ext cx="10515600" cy="914400"/>
          </a:xfrm>
          <a:prstGeom prst="rect">
            <a:avLst/>
          </a:prstGeom>
          <a:noFill/>
          <a:ln/>
        </p:spPr>
        <p:txBody>
          <a:bodyPr wrap="square" lIns="0" tIns="0" rIns="0" bIns="0" rtlCol="0" anchor="ctr"/>
          <a:lstStyle/>
          <a:p>
            <a:pPr algn="ctr" indent="0" marL="0">
              <a:buNone/>
            </a:pPr>
            <a:r>
              <a:rPr lang="en-US" sz="3000" b="1" dirty="0">
                <a:solidFill>
                  <a:srgbClr val="1B1C6E"/>
                </a:solidFill>
                <a:latin typeface="Tahoma" pitchFamily="34" charset="0"/>
                <a:ea typeface="Tahoma" pitchFamily="34" charset="-122"/>
                <a:cs typeface="Tahoma" pitchFamily="34" charset="-120"/>
              </a:rPr>
              <a:t>La empresa ha logrado crecer</a:t>
            </a:r>
            <a:endParaRPr lang="en-US" sz="3000" dirty="0"/>
          </a:p>
        </p:txBody>
      </p:sp>
      <p:sp>
        <p:nvSpPr>
          <p:cNvPr id="4" name="Text 2"/>
          <p:cNvSpPr txBox="1"/>
          <p:nvPr/>
        </p:nvSpPr>
        <p:spPr>
          <a:xfrm>
            <a:off x="2011680" y="3794760"/>
            <a:ext cx="8229600" cy="640080"/>
          </a:xfrm>
          <a:prstGeom prst="rect">
            <a:avLst/>
          </a:prstGeom>
          <a:noFill/>
          <a:ln/>
        </p:spPr>
        <p:txBody>
          <a:bodyPr wrap="square" lIns="0" tIns="0" rIns="0" bIns="0" rtlCol="0" anchor="t"/>
          <a:lstStyle/>
          <a:p>
            <a:pPr algn="ctr" indent="0" marL="0">
              <a:buNone/>
            </a:pPr>
            <a:r>
              <a:rPr lang="en-US" sz="1500" dirty="0">
                <a:solidFill>
                  <a:srgbClr val="1B1C6E"/>
                </a:solidFill>
                <a:latin typeface="Calibri" pitchFamily="34" charset="0"/>
                <a:ea typeface="Calibri" pitchFamily="34" charset="-122"/>
                <a:cs typeface="Calibri" pitchFamily="34" charset="-120"/>
              </a:rPr>
              <a:t>Ahora enfrenta una decisión que puede determinar su futuro</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La oportunidad sobre la mesa</a:t>
            </a:r>
            <a:endParaRPr lang="en-US" sz="2500" dirty="0"/>
          </a:p>
        </p:txBody>
      </p:sp>
      <p:sp>
        <p:nvSpPr>
          <p:cNvPr id="3" name="Text 1"/>
          <p:cNvSpPr txBox="1"/>
          <p:nvPr/>
        </p:nvSpPr>
        <p:spPr>
          <a:xfrm>
            <a:off x="841248" y="1600200"/>
            <a:ext cx="1051560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La gerencia identificó que existe espacio para ampliar el negocio. Algunos clientes han manifestado interés en comercializar sus productos en otras ciudades del país, y con ello aparecieron otros frentes de crecimiento.</a:t>
            </a:r>
            <a:endParaRPr lang="en-US" sz="1450" dirty="0"/>
          </a:p>
        </p:txBody>
      </p:sp>
      <p:sp>
        <p:nvSpPr>
          <p:cNvPr id="4" name="Shape 2"/>
          <p:cNvSpPr/>
          <p:nvPr/>
        </p:nvSpPr>
        <p:spPr>
          <a:xfrm>
            <a:off x="841248" y="2651760"/>
            <a:ext cx="2423160" cy="1051560"/>
          </a:xfrm>
          <a:prstGeom prst="roundRect">
            <a:avLst>
              <a:gd name="adj" fmla="val 6957"/>
            </a:avLst>
          </a:prstGeom>
          <a:solidFill>
            <a:srgbClr val="F1F2F8"/>
          </a:solidFill>
          <a:ln/>
        </p:spPr>
      </p:sp>
      <p:sp>
        <p:nvSpPr>
          <p:cNvPr id="5" name="Shape 3"/>
          <p:cNvSpPr/>
          <p:nvPr/>
        </p:nvSpPr>
        <p:spPr>
          <a:xfrm>
            <a:off x="1024128" y="3035808"/>
            <a:ext cx="292608" cy="292608"/>
          </a:xfrm>
          <a:prstGeom prst="ellipse">
            <a:avLst/>
          </a:prstGeom>
          <a:solidFill>
            <a:srgbClr val="F9BB0B"/>
          </a:solidFill>
          <a:ln/>
        </p:spPr>
      </p:sp>
      <p:sp>
        <p:nvSpPr>
          <p:cNvPr id="6" name="Text 4"/>
          <p:cNvSpPr txBox="1"/>
          <p:nvPr/>
        </p:nvSpPr>
        <p:spPr>
          <a:xfrm>
            <a:off x="1371600" y="2651760"/>
            <a:ext cx="1783080" cy="1051560"/>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Nuevos productos</a:t>
            </a:r>
            <a:endParaRPr lang="en-US" sz="1200" dirty="0"/>
          </a:p>
        </p:txBody>
      </p:sp>
      <p:sp>
        <p:nvSpPr>
          <p:cNvPr id="7" name="Shape 5"/>
          <p:cNvSpPr/>
          <p:nvPr/>
        </p:nvSpPr>
        <p:spPr>
          <a:xfrm>
            <a:off x="3538728" y="2651760"/>
            <a:ext cx="2423160" cy="1051560"/>
          </a:xfrm>
          <a:prstGeom prst="roundRect">
            <a:avLst>
              <a:gd name="adj" fmla="val 6957"/>
            </a:avLst>
          </a:prstGeom>
          <a:solidFill>
            <a:srgbClr val="F1F2F8"/>
          </a:solidFill>
          <a:ln/>
        </p:spPr>
      </p:sp>
      <p:sp>
        <p:nvSpPr>
          <p:cNvPr id="8" name="Shape 6"/>
          <p:cNvSpPr/>
          <p:nvPr/>
        </p:nvSpPr>
        <p:spPr>
          <a:xfrm>
            <a:off x="3721608" y="3035808"/>
            <a:ext cx="292608" cy="292608"/>
          </a:xfrm>
          <a:prstGeom prst="ellipse">
            <a:avLst/>
          </a:prstGeom>
          <a:solidFill>
            <a:srgbClr val="F9BB0B"/>
          </a:solidFill>
          <a:ln/>
        </p:spPr>
      </p:sp>
      <p:sp>
        <p:nvSpPr>
          <p:cNvPr id="9" name="Text 7"/>
          <p:cNvSpPr txBox="1"/>
          <p:nvPr/>
        </p:nvSpPr>
        <p:spPr>
          <a:xfrm>
            <a:off x="4069080" y="2651760"/>
            <a:ext cx="1783080" cy="1051560"/>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Café premium</a:t>
            </a:r>
            <a:endParaRPr lang="en-US" sz="1200" dirty="0"/>
          </a:p>
        </p:txBody>
      </p:sp>
      <p:sp>
        <p:nvSpPr>
          <p:cNvPr id="10" name="Shape 8"/>
          <p:cNvSpPr/>
          <p:nvPr/>
        </p:nvSpPr>
        <p:spPr>
          <a:xfrm>
            <a:off x="6236208" y="2651760"/>
            <a:ext cx="2423160" cy="1051560"/>
          </a:xfrm>
          <a:prstGeom prst="roundRect">
            <a:avLst>
              <a:gd name="adj" fmla="val 6957"/>
            </a:avLst>
          </a:prstGeom>
          <a:solidFill>
            <a:srgbClr val="F1F2F8"/>
          </a:solidFill>
          <a:ln/>
        </p:spPr>
      </p:sp>
      <p:sp>
        <p:nvSpPr>
          <p:cNvPr id="11" name="Shape 9"/>
          <p:cNvSpPr/>
          <p:nvPr/>
        </p:nvSpPr>
        <p:spPr>
          <a:xfrm>
            <a:off x="6419088" y="3035808"/>
            <a:ext cx="292608" cy="292608"/>
          </a:xfrm>
          <a:prstGeom prst="ellipse">
            <a:avLst/>
          </a:prstGeom>
          <a:solidFill>
            <a:srgbClr val="F9BB0B"/>
          </a:solidFill>
          <a:ln/>
        </p:spPr>
      </p:sp>
      <p:sp>
        <p:nvSpPr>
          <p:cNvPr id="12" name="Text 10"/>
          <p:cNvSpPr txBox="1"/>
          <p:nvPr/>
        </p:nvSpPr>
        <p:spPr>
          <a:xfrm>
            <a:off x="6766560" y="2651760"/>
            <a:ext cx="1783080" cy="1051560"/>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Comercio electrónico</a:t>
            </a:r>
            <a:endParaRPr lang="en-US" sz="1200" dirty="0"/>
          </a:p>
        </p:txBody>
      </p:sp>
      <p:sp>
        <p:nvSpPr>
          <p:cNvPr id="13" name="Shape 11"/>
          <p:cNvSpPr/>
          <p:nvPr/>
        </p:nvSpPr>
        <p:spPr>
          <a:xfrm>
            <a:off x="8933688" y="2651760"/>
            <a:ext cx="2423160" cy="1051560"/>
          </a:xfrm>
          <a:prstGeom prst="roundRect">
            <a:avLst>
              <a:gd name="adj" fmla="val 6957"/>
            </a:avLst>
          </a:prstGeom>
          <a:solidFill>
            <a:srgbClr val="F1F2F8"/>
          </a:solidFill>
          <a:ln/>
        </p:spPr>
      </p:sp>
      <p:sp>
        <p:nvSpPr>
          <p:cNvPr id="14" name="Shape 12"/>
          <p:cNvSpPr/>
          <p:nvPr/>
        </p:nvSpPr>
        <p:spPr>
          <a:xfrm>
            <a:off x="9116568" y="3035808"/>
            <a:ext cx="292608" cy="292608"/>
          </a:xfrm>
          <a:prstGeom prst="ellipse">
            <a:avLst/>
          </a:prstGeom>
          <a:solidFill>
            <a:srgbClr val="F9BB0B"/>
          </a:solidFill>
          <a:ln/>
        </p:spPr>
      </p:sp>
      <p:sp>
        <p:nvSpPr>
          <p:cNvPr id="15" name="Text 13"/>
          <p:cNvSpPr txBox="1"/>
          <p:nvPr/>
        </p:nvSpPr>
        <p:spPr>
          <a:xfrm>
            <a:off x="9464040" y="2651760"/>
            <a:ext cx="1783080" cy="1051560"/>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Mercados especializados</a:t>
            </a:r>
            <a:endParaRPr lang="en-US" sz="1200" dirty="0"/>
          </a:p>
        </p:txBody>
      </p:sp>
      <p:sp>
        <p:nvSpPr>
          <p:cNvPr id="16" name="Shape 14"/>
          <p:cNvSpPr/>
          <p:nvPr/>
        </p:nvSpPr>
        <p:spPr>
          <a:xfrm>
            <a:off x="841248" y="3886200"/>
            <a:ext cx="2423160" cy="1051560"/>
          </a:xfrm>
          <a:prstGeom prst="roundRect">
            <a:avLst>
              <a:gd name="adj" fmla="val 6957"/>
            </a:avLst>
          </a:prstGeom>
          <a:solidFill>
            <a:srgbClr val="F1F2F8"/>
          </a:solidFill>
          <a:ln/>
        </p:spPr>
      </p:sp>
      <p:sp>
        <p:nvSpPr>
          <p:cNvPr id="17" name="Shape 15"/>
          <p:cNvSpPr/>
          <p:nvPr/>
        </p:nvSpPr>
        <p:spPr>
          <a:xfrm>
            <a:off x="1024128" y="4270248"/>
            <a:ext cx="292608" cy="292608"/>
          </a:xfrm>
          <a:prstGeom prst="ellipse">
            <a:avLst/>
          </a:prstGeom>
          <a:solidFill>
            <a:srgbClr val="F9BB0B"/>
          </a:solidFill>
          <a:ln/>
        </p:spPr>
      </p:sp>
      <p:sp>
        <p:nvSpPr>
          <p:cNvPr id="18" name="Text 16"/>
          <p:cNvSpPr txBox="1"/>
          <p:nvPr/>
        </p:nvSpPr>
        <p:spPr>
          <a:xfrm>
            <a:off x="1371600" y="3886200"/>
            <a:ext cx="1783080" cy="1051560"/>
          </a:xfrm>
          <a:prstGeom prst="rect">
            <a:avLst/>
          </a:prstGeom>
          <a:noFill/>
          <a:ln/>
        </p:spPr>
        <p:txBody>
          <a:bodyPr wrap="square" lIns="0" tIns="0" rIns="0" bIns="0" rtlCol="0" anchor="ctr"/>
          <a:lstStyle/>
          <a:p>
            <a:pPr indent="0" marL="0">
              <a:buNone/>
            </a:pPr>
            <a:r>
              <a:rPr lang="en-US" sz="1100" b="1" dirty="0">
                <a:solidFill>
                  <a:srgbClr val="1B1C6E"/>
                </a:solidFill>
                <a:latin typeface="Tahoma" pitchFamily="34" charset="0"/>
                <a:ea typeface="Tahoma" pitchFamily="34" charset="-122"/>
                <a:cs typeface="Tahoma" pitchFamily="34" charset="-120"/>
              </a:rPr>
              <a:t>Turismo y experiencias alrededor del café</a:t>
            </a:r>
            <a:endParaRPr lang="en-US" sz="1100" dirty="0"/>
          </a:p>
        </p:txBody>
      </p:sp>
      <p:sp>
        <p:nvSpPr>
          <p:cNvPr id="19" name="Shape 17"/>
          <p:cNvSpPr/>
          <p:nvPr/>
        </p:nvSpPr>
        <p:spPr>
          <a:xfrm>
            <a:off x="3538728" y="3886200"/>
            <a:ext cx="2423160" cy="1051560"/>
          </a:xfrm>
          <a:prstGeom prst="roundRect">
            <a:avLst>
              <a:gd name="adj" fmla="val 6957"/>
            </a:avLst>
          </a:prstGeom>
          <a:solidFill>
            <a:srgbClr val="F1F2F8"/>
          </a:solidFill>
          <a:ln/>
        </p:spPr>
      </p:sp>
      <p:sp>
        <p:nvSpPr>
          <p:cNvPr id="20" name="Shape 18"/>
          <p:cNvSpPr/>
          <p:nvPr/>
        </p:nvSpPr>
        <p:spPr>
          <a:xfrm>
            <a:off x="3721608" y="4270248"/>
            <a:ext cx="292608" cy="292608"/>
          </a:xfrm>
          <a:prstGeom prst="ellipse">
            <a:avLst/>
          </a:prstGeom>
          <a:solidFill>
            <a:srgbClr val="F9BB0B"/>
          </a:solidFill>
          <a:ln/>
        </p:spPr>
      </p:sp>
      <p:sp>
        <p:nvSpPr>
          <p:cNvPr id="21" name="Text 19"/>
          <p:cNvSpPr txBox="1"/>
          <p:nvPr/>
        </p:nvSpPr>
        <p:spPr>
          <a:xfrm>
            <a:off x="4069080" y="3886200"/>
            <a:ext cx="1783080" cy="1051560"/>
          </a:xfrm>
          <a:prstGeom prst="rect">
            <a:avLst/>
          </a:prstGeom>
          <a:noFill/>
          <a:ln/>
        </p:spPr>
        <p:txBody>
          <a:bodyPr wrap="square" lIns="0" tIns="0" rIns="0" bIns="0" rtlCol="0" anchor="ctr"/>
          <a:lstStyle/>
          <a:p>
            <a:pPr indent="0" marL="0">
              <a:buNone/>
            </a:pPr>
            <a:r>
              <a:rPr lang="en-US" sz="1100" b="1" dirty="0">
                <a:solidFill>
                  <a:srgbClr val="1B1C6E"/>
                </a:solidFill>
                <a:latin typeface="Tahoma" pitchFamily="34" charset="0"/>
                <a:ea typeface="Tahoma" pitchFamily="34" charset="-122"/>
                <a:cs typeface="Tahoma" pitchFamily="34" charset="-120"/>
              </a:rPr>
              <a:t>Nuevos canales de distribución</a:t>
            </a:r>
            <a:endParaRPr lang="en-US" sz="1100" dirty="0"/>
          </a:p>
        </p:txBody>
      </p:sp>
      <p:sp>
        <p:nvSpPr>
          <p:cNvPr id="22" name="Shape 20"/>
          <p:cNvSpPr/>
          <p:nvPr/>
        </p:nvSpPr>
        <p:spPr>
          <a:xfrm>
            <a:off x="6236208" y="3886200"/>
            <a:ext cx="2423160" cy="1051560"/>
          </a:xfrm>
          <a:prstGeom prst="roundRect">
            <a:avLst>
              <a:gd name="adj" fmla="val 6957"/>
            </a:avLst>
          </a:prstGeom>
          <a:solidFill>
            <a:srgbClr val="F1F2F8"/>
          </a:solidFill>
          <a:ln/>
        </p:spPr>
      </p:sp>
      <p:sp>
        <p:nvSpPr>
          <p:cNvPr id="23" name="Shape 21"/>
          <p:cNvSpPr/>
          <p:nvPr/>
        </p:nvSpPr>
        <p:spPr>
          <a:xfrm>
            <a:off x="6419088" y="4270248"/>
            <a:ext cx="292608" cy="292608"/>
          </a:xfrm>
          <a:prstGeom prst="ellipse">
            <a:avLst/>
          </a:prstGeom>
          <a:solidFill>
            <a:srgbClr val="F9BB0B"/>
          </a:solidFill>
          <a:ln/>
        </p:spPr>
      </p:sp>
      <p:sp>
        <p:nvSpPr>
          <p:cNvPr id="24" name="Text 22"/>
          <p:cNvSpPr txBox="1"/>
          <p:nvPr/>
        </p:nvSpPr>
        <p:spPr>
          <a:xfrm>
            <a:off x="6766560" y="3886200"/>
            <a:ext cx="1783080" cy="1051560"/>
          </a:xfrm>
          <a:prstGeom prst="rect">
            <a:avLst/>
          </a:prstGeom>
          <a:noFill/>
          <a:ln/>
        </p:spPr>
        <p:txBody>
          <a:bodyPr wrap="square" lIns="0" tIns="0" rIns="0" bIns="0" rtlCol="0" anchor="ctr"/>
          <a:lstStyle/>
          <a:p>
            <a:pPr indent="0" marL="0">
              <a:buNone/>
            </a:pPr>
            <a:r>
              <a:rPr lang="en-US" sz="1100" b="1" dirty="0">
                <a:solidFill>
                  <a:srgbClr val="1B1C6E"/>
                </a:solidFill>
                <a:latin typeface="Tahoma" pitchFamily="34" charset="0"/>
                <a:ea typeface="Tahoma" pitchFamily="34" charset="-122"/>
                <a:cs typeface="Tahoma" pitchFamily="34" charset="-120"/>
              </a:rPr>
              <a:t>Internacionalización</a:t>
            </a:r>
            <a:endParaRPr lang="en-US" sz="1100" dirty="0"/>
          </a:p>
        </p:txBody>
      </p:sp>
      <p:pic>
        <p:nvPicPr>
          <p:cNvPr id="25" name="Image 0" descr="preencoded.png">    </p:cNvPr>
          <p:cNvPicPr>
            <a:picLocks noChangeAspect="1"/>
          </p:cNvPicPr>
          <p:nvPr/>
        </p:nvPicPr>
        <p:blipFill>
          <a:blip r:embed="rId2"/>
          <a:stretch>
            <a:fillRect/>
          </a:stretch>
        </p:blipFill>
        <p:spPr>
          <a:xfrm>
            <a:off x="8933688" y="3886200"/>
            <a:ext cx="2423160" cy="1051560"/>
          </a:xfrm>
          <a:prstGeom prst="rect">
            <a:avLst/>
          </a:prstGeom>
        </p:spPr>
      </p:pic>
      <p:sp>
        <p:nvSpPr>
          <p:cNvPr id="26" name="Text 23"/>
          <p:cNvSpPr txBox="1"/>
          <p:nvPr/>
        </p:nvSpPr>
        <p:spPr>
          <a:xfrm>
            <a:off x="841248" y="5120640"/>
            <a:ext cx="10515600" cy="320040"/>
          </a:xfrm>
          <a:prstGeom prst="rect">
            <a:avLst/>
          </a:prstGeom>
          <a:noFill/>
          <a:ln/>
        </p:spPr>
        <p:txBody>
          <a:bodyPr wrap="square" lIns="0" tIns="0" rIns="0" bIns="0" rtlCol="0" anchor="ctr"/>
          <a:lstStyle/>
          <a:p>
            <a:pPr indent="0" marL="0">
              <a:buNone/>
            </a:pPr>
            <a:r>
              <a:rPr lang="en-US" sz="1150" i="1" dirty="0">
                <a:solidFill>
                  <a:srgbClr val="55565E"/>
                </a:solidFill>
                <a:latin typeface="Calibri" pitchFamily="34" charset="0"/>
                <a:ea typeface="Calibri" pitchFamily="34" charset="-122"/>
                <a:cs typeface="Calibri" pitchFamily="34" charset="-120"/>
              </a:rPr>
              <a:t>Siete frentes posibles de crecimiento identificados por la gerencia.</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Crecer exige invertir</a:t>
            </a:r>
            <a:endParaRPr lang="en-US" sz="2500" dirty="0"/>
          </a:p>
        </p:txBody>
      </p:sp>
      <p:sp>
        <p:nvSpPr>
          <p:cNvPr id="3" name="Text 1"/>
          <p:cNvSpPr txBox="1"/>
          <p:nvPr/>
        </p:nvSpPr>
        <p:spPr>
          <a:xfrm>
            <a:off x="841248" y="1600200"/>
            <a:ext cx="667512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La empresa no tiene recursos ilimitados. Para crecer necesita realizar inversiones simultáneas en nueve frentes, y además enfrentar un aumento en la complejidad de su operación.</a:t>
            </a:r>
            <a:endParaRPr lang="en-US" sz="1450" dirty="0"/>
          </a:p>
        </p:txBody>
      </p:sp>
      <p:sp>
        <p:nvSpPr>
          <p:cNvPr id="4" name="Shape 2"/>
          <p:cNvSpPr/>
          <p:nvPr/>
        </p:nvSpPr>
        <p:spPr>
          <a:xfrm>
            <a:off x="841248" y="2743200"/>
            <a:ext cx="1965960" cy="603504"/>
          </a:xfrm>
          <a:prstGeom prst="roundRect">
            <a:avLst>
              <a:gd name="adj" fmla="val 12121"/>
            </a:avLst>
          </a:prstGeom>
          <a:solidFill>
            <a:srgbClr val="FDF4DC"/>
          </a:solidFill>
          <a:ln/>
        </p:spPr>
      </p:sp>
      <p:sp>
        <p:nvSpPr>
          <p:cNvPr id="5" name="Text 3"/>
          <p:cNvSpPr txBox="1"/>
          <p:nvPr/>
        </p:nvSpPr>
        <p:spPr>
          <a:xfrm>
            <a:off x="987552" y="2743200"/>
            <a:ext cx="1691640" cy="603504"/>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Maquinaria</a:t>
            </a:r>
            <a:endParaRPr lang="en-US" sz="1200" dirty="0"/>
          </a:p>
        </p:txBody>
      </p:sp>
      <p:sp>
        <p:nvSpPr>
          <p:cNvPr id="6" name="Shape 4"/>
          <p:cNvSpPr/>
          <p:nvPr/>
        </p:nvSpPr>
        <p:spPr>
          <a:xfrm>
            <a:off x="2990088" y="2743200"/>
            <a:ext cx="1965960" cy="603504"/>
          </a:xfrm>
          <a:prstGeom prst="roundRect">
            <a:avLst>
              <a:gd name="adj" fmla="val 12121"/>
            </a:avLst>
          </a:prstGeom>
          <a:solidFill>
            <a:srgbClr val="FDF4DC"/>
          </a:solidFill>
          <a:ln/>
        </p:spPr>
      </p:sp>
      <p:sp>
        <p:nvSpPr>
          <p:cNvPr id="7" name="Text 5"/>
          <p:cNvSpPr txBox="1"/>
          <p:nvPr/>
        </p:nvSpPr>
        <p:spPr>
          <a:xfrm>
            <a:off x="3136392" y="2743200"/>
            <a:ext cx="1691640" cy="603504"/>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Tecnología</a:t>
            </a:r>
            <a:endParaRPr lang="en-US" sz="1200" dirty="0"/>
          </a:p>
        </p:txBody>
      </p:sp>
      <p:sp>
        <p:nvSpPr>
          <p:cNvPr id="8" name="Shape 6"/>
          <p:cNvSpPr/>
          <p:nvPr/>
        </p:nvSpPr>
        <p:spPr>
          <a:xfrm>
            <a:off x="5138928" y="2743200"/>
            <a:ext cx="1965960" cy="603504"/>
          </a:xfrm>
          <a:prstGeom prst="roundRect">
            <a:avLst>
              <a:gd name="adj" fmla="val 12121"/>
            </a:avLst>
          </a:prstGeom>
          <a:solidFill>
            <a:srgbClr val="FDF4DC"/>
          </a:solidFill>
          <a:ln/>
        </p:spPr>
      </p:sp>
      <p:sp>
        <p:nvSpPr>
          <p:cNvPr id="9" name="Text 7"/>
          <p:cNvSpPr txBox="1"/>
          <p:nvPr/>
        </p:nvSpPr>
        <p:spPr>
          <a:xfrm>
            <a:off x="5285232" y="2743200"/>
            <a:ext cx="1691640" cy="603504"/>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Almacenamiento</a:t>
            </a:r>
            <a:endParaRPr lang="en-US" sz="1200" dirty="0"/>
          </a:p>
        </p:txBody>
      </p:sp>
      <p:sp>
        <p:nvSpPr>
          <p:cNvPr id="10" name="Shape 8"/>
          <p:cNvSpPr/>
          <p:nvPr/>
        </p:nvSpPr>
        <p:spPr>
          <a:xfrm>
            <a:off x="841248" y="3493008"/>
            <a:ext cx="1965960" cy="603504"/>
          </a:xfrm>
          <a:prstGeom prst="roundRect">
            <a:avLst>
              <a:gd name="adj" fmla="val 12121"/>
            </a:avLst>
          </a:prstGeom>
          <a:solidFill>
            <a:srgbClr val="FDF4DC"/>
          </a:solidFill>
          <a:ln/>
        </p:spPr>
      </p:sp>
      <p:sp>
        <p:nvSpPr>
          <p:cNvPr id="11" name="Text 9"/>
          <p:cNvSpPr txBox="1"/>
          <p:nvPr/>
        </p:nvSpPr>
        <p:spPr>
          <a:xfrm>
            <a:off x="987552" y="3493008"/>
            <a:ext cx="1691640" cy="603504"/>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Talento humano</a:t>
            </a:r>
            <a:endParaRPr lang="en-US" sz="1200" dirty="0"/>
          </a:p>
        </p:txBody>
      </p:sp>
      <p:sp>
        <p:nvSpPr>
          <p:cNvPr id="12" name="Shape 10"/>
          <p:cNvSpPr/>
          <p:nvPr/>
        </p:nvSpPr>
        <p:spPr>
          <a:xfrm>
            <a:off x="2990088" y="3493008"/>
            <a:ext cx="1965960" cy="603504"/>
          </a:xfrm>
          <a:prstGeom prst="roundRect">
            <a:avLst>
              <a:gd name="adj" fmla="val 12121"/>
            </a:avLst>
          </a:prstGeom>
          <a:solidFill>
            <a:srgbClr val="FDF4DC"/>
          </a:solidFill>
          <a:ln/>
        </p:spPr>
      </p:sp>
      <p:sp>
        <p:nvSpPr>
          <p:cNvPr id="13" name="Text 11"/>
          <p:cNvSpPr txBox="1"/>
          <p:nvPr/>
        </p:nvSpPr>
        <p:spPr>
          <a:xfrm>
            <a:off x="3136392" y="3493008"/>
            <a:ext cx="1691640" cy="603504"/>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Marketing</a:t>
            </a:r>
            <a:endParaRPr lang="en-US" sz="1200" dirty="0"/>
          </a:p>
        </p:txBody>
      </p:sp>
      <p:sp>
        <p:nvSpPr>
          <p:cNvPr id="14" name="Shape 12"/>
          <p:cNvSpPr/>
          <p:nvPr/>
        </p:nvSpPr>
        <p:spPr>
          <a:xfrm>
            <a:off x="5138928" y="3493008"/>
            <a:ext cx="1965960" cy="603504"/>
          </a:xfrm>
          <a:prstGeom prst="roundRect">
            <a:avLst>
              <a:gd name="adj" fmla="val 12121"/>
            </a:avLst>
          </a:prstGeom>
          <a:solidFill>
            <a:srgbClr val="FDF4DC"/>
          </a:solidFill>
          <a:ln/>
        </p:spPr>
      </p:sp>
      <p:sp>
        <p:nvSpPr>
          <p:cNvPr id="15" name="Text 13"/>
          <p:cNvSpPr txBox="1"/>
          <p:nvPr/>
        </p:nvSpPr>
        <p:spPr>
          <a:xfrm>
            <a:off x="5285232" y="3493008"/>
            <a:ext cx="1691640" cy="603504"/>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Sistemas de información</a:t>
            </a:r>
            <a:endParaRPr lang="en-US" sz="1200" dirty="0"/>
          </a:p>
        </p:txBody>
      </p:sp>
      <p:sp>
        <p:nvSpPr>
          <p:cNvPr id="16" name="Shape 14"/>
          <p:cNvSpPr/>
          <p:nvPr/>
        </p:nvSpPr>
        <p:spPr>
          <a:xfrm>
            <a:off x="841248" y="4242816"/>
            <a:ext cx="1965960" cy="603504"/>
          </a:xfrm>
          <a:prstGeom prst="roundRect">
            <a:avLst>
              <a:gd name="adj" fmla="val 12121"/>
            </a:avLst>
          </a:prstGeom>
          <a:solidFill>
            <a:srgbClr val="FDF4DC"/>
          </a:solidFill>
          <a:ln/>
        </p:spPr>
      </p:sp>
      <p:sp>
        <p:nvSpPr>
          <p:cNvPr id="17" name="Text 15"/>
          <p:cNvSpPr txBox="1"/>
          <p:nvPr/>
        </p:nvSpPr>
        <p:spPr>
          <a:xfrm>
            <a:off x="987552" y="4242816"/>
            <a:ext cx="1691640" cy="603504"/>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Inventarios</a:t>
            </a:r>
            <a:endParaRPr lang="en-US" sz="1200" dirty="0"/>
          </a:p>
        </p:txBody>
      </p:sp>
      <p:sp>
        <p:nvSpPr>
          <p:cNvPr id="18" name="Shape 16"/>
          <p:cNvSpPr/>
          <p:nvPr/>
        </p:nvSpPr>
        <p:spPr>
          <a:xfrm>
            <a:off x="2990088" y="4242816"/>
            <a:ext cx="1965960" cy="603504"/>
          </a:xfrm>
          <a:prstGeom prst="roundRect">
            <a:avLst>
              <a:gd name="adj" fmla="val 12121"/>
            </a:avLst>
          </a:prstGeom>
          <a:solidFill>
            <a:srgbClr val="FDF4DC"/>
          </a:solidFill>
          <a:ln/>
        </p:spPr>
      </p:sp>
      <p:sp>
        <p:nvSpPr>
          <p:cNvPr id="19" name="Text 17"/>
          <p:cNvSpPr txBox="1"/>
          <p:nvPr/>
        </p:nvSpPr>
        <p:spPr>
          <a:xfrm>
            <a:off x="3136392" y="4242816"/>
            <a:ext cx="1691640" cy="603504"/>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Transporte</a:t>
            </a:r>
            <a:endParaRPr lang="en-US" sz="1200" dirty="0"/>
          </a:p>
        </p:txBody>
      </p:sp>
      <p:sp>
        <p:nvSpPr>
          <p:cNvPr id="20" name="Shape 18"/>
          <p:cNvSpPr/>
          <p:nvPr/>
        </p:nvSpPr>
        <p:spPr>
          <a:xfrm>
            <a:off x="5138928" y="4242816"/>
            <a:ext cx="1965960" cy="603504"/>
          </a:xfrm>
          <a:prstGeom prst="roundRect">
            <a:avLst>
              <a:gd name="adj" fmla="val 12121"/>
            </a:avLst>
          </a:prstGeom>
          <a:solidFill>
            <a:srgbClr val="FDF4DC"/>
          </a:solidFill>
          <a:ln/>
        </p:spPr>
      </p:sp>
      <p:sp>
        <p:nvSpPr>
          <p:cNvPr id="21" name="Text 19"/>
          <p:cNvSpPr txBox="1"/>
          <p:nvPr/>
        </p:nvSpPr>
        <p:spPr>
          <a:xfrm>
            <a:off x="5285232" y="4242816"/>
            <a:ext cx="1691640" cy="603504"/>
          </a:xfrm>
          <a:prstGeom prst="rect">
            <a:avLst/>
          </a:prstGeom>
          <a:noFill/>
          <a:ln/>
        </p:spPr>
        <p:txBody>
          <a:bodyPr wrap="square" lIns="0" tIns="0" rIns="0" bIns="0" rtlCol="0" anchor="ctr"/>
          <a:lstStyle/>
          <a:p>
            <a:pPr indent="0" marL="0">
              <a:buNone/>
            </a:pPr>
            <a:r>
              <a:rPr lang="en-US" sz="1200" b="1" dirty="0">
                <a:solidFill>
                  <a:srgbClr val="1B1C6E"/>
                </a:solidFill>
                <a:latin typeface="Tahoma" pitchFamily="34" charset="0"/>
                <a:ea typeface="Tahoma" pitchFamily="34" charset="-122"/>
                <a:cs typeface="Tahoma" pitchFamily="34" charset="-120"/>
              </a:rPr>
              <a:t>Distribución</a:t>
            </a:r>
            <a:endParaRPr lang="en-US" sz="1200" dirty="0"/>
          </a:p>
        </p:txBody>
      </p:sp>
      <p:sp>
        <p:nvSpPr>
          <p:cNvPr id="22" name="Shape 20"/>
          <p:cNvSpPr/>
          <p:nvPr/>
        </p:nvSpPr>
        <p:spPr>
          <a:xfrm>
            <a:off x="841248" y="5029200"/>
            <a:ext cx="6080760" cy="566928"/>
          </a:xfrm>
          <a:prstGeom prst="roundRect">
            <a:avLst>
              <a:gd name="adj" fmla="val 12903"/>
            </a:avLst>
          </a:prstGeom>
          <a:solidFill>
            <a:srgbClr val="1B1C6E"/>
          </a:solidFill>
          <a:ln/>
        </p:spPr>
      </p:sp>
      <p:sp>
        <p:nvSpPr>
          <p:cNvPr id="23" name="Text 21"/>
          <p:cNvSpPr txBox="1"/>
          <p:nvPr/>
        </p:nvSpPr>
        <p:spPr>
          <a:xfrm>
            <a:off x="1042416" y="5029200"/>
            <a:ext cx="571500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Y con el crecimiento aumenta la complejidad de toda la operación</a:t>
            </a:r>
            <a:endParaRPr lang="en-US" sz="1250" dirty="0"/>
          </a:p>
        </p:txBody>
      </p:sp>
      <p:pic>
        <p:nvPicPr>
          <p:cNvPr id="24" name="Image 0" descr="preencoded.png">    </p:cNvPr>
          <p:cNvPicPr>
            <a:picLocks noChangeAspect="1"/>
          </p:cNvPicPr>
          <p:nvPr/>
        </p:nvPicPr>
        <p:blipFill>
          <a:blip r:embed="rId2"/>
          <a:stretch>
            <a:fillRect/>
          </a:stretch>
        </p:blipFill>
        <p:spPr>
          <a:xfrm>
            <a:off x="7333488" y="2468880"/>
            <a:ext cx="3977640" cy="1600200"/>
          </a:xfrm>
          <a:prstGeom prst="rect">
            <a:avLst/>
          </a:prstGeom>
        </p:spPr>
      </p:pic>
      <p:pic>
        <p:nvPicPr>
          <p:cNvPr id="25" name="Image 1" descr="preencoded.png">    </p:cNvPr>
          <p:cNvPicPr>
            <a:picLocks noChangeAspect="1"/>
          </p:cNvPicPr>
          <p:nvPr/>
        </p:nvPicPr>
        <p:blipFill>
          <a:blip r:embed="rId3"/>
          <a:stretch>
            <a:fillRect/>
          </a:stretch>
        </p:blipFill>
        <p:spPr>
          <a:xfrm>
            <a:off x="7333488" y="4206240"/>
            <a:ext cx="3977640" cy="1600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Las cuatro alternativas de la Junta Directiva</a:t>
            </a:r>
            <a:endParaRPr lang="en-US" sz="2500" dirty="0"/>
          </a:p>
        </p:txBody>
      </p:sp>
      <p:sp>
        <p:nvSpPr>
          <p:cNvPr id="3" name="Text 1"/>
          <p:cNvSpPr txBox="1"/>
          <p:nvPr/>
        </p:nvSpPr>
        <p:spPr>
          <a:xfrm>
            <a:off x="841248" y="1600200"/>
            <a:ext cx="1051560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La Junta Directiva puso sobre la mesa cuatro caminos posibles, y considera también la posibilidad de combinar varios de ellos.</a:t>
            </a:r>
            <a:endParaRPr lang="en-US" sz="1450" dirty="0"/>
          </a:p>
        </p:txBody>
      </p:sp>
      <p:sp>
        <p:nvSpPr>
          <p:cNvPr id="4" name="Shape 2"/>
          <p:cNvSpPr/>
          <p:nvPr/>
        </p:nvSpPr>
        <p:spPr>
          <a:xfrm>
            <a:off x="841248" y="2606040"/>
            <a:ext cx="2423160" cy="2286000"/>
          </a:xfrm>
          <a:prstGeom prst="roundRect">
            <a:avLst>
              <a:gd name="adj" fmla="val 4000"/>
            </a:avLst>
          </a:prstGeom>
          <a:solidFill>
            <a:srgbClr val="1B1C6E"/>
          </a:solidFill>
          <a:ln/>
        </p:spPr>
      </p:sp>
      <p:sp>
        <p:nvSpPr>
          <p:cNvPr id="5" name="Shape 3"/>
          <p:cNvSpPr/>
          <p:nvPr/>
        </p:nvSpPr>
        <p:spPr>
          <a:xfrm>
            <a:off x="1069848" y="2834640"/>
            <a:ext cx="566928" cy="566928"/>
          </a:xfrm>
          <a:prstGeom prst="ellipse">
            <a:avLst/>
          </a:prstGeom>
          <a:solidFill>
            <a:srgbClr val="F9BB0B"/>
          </a:solidFill>
          <a:ln/>
        </p:spPr>
      </p:sp>
      <p:sp>
        <p:nvSpPr>
          <p:cNvPr id="6" name="Text 4"/>
          <p:cNvSpPr txBox="1"/>
          <p:nvPr/>
        </p:nvSpPr>
        <p:spPr>
          <a:xfrm>
            <a:off x="1069848" y="2834640"/>
            <a:ext cx="566928" cy="566928"/>
          </a:xfrm>
          <a:prstGeom prst="rect">
            <a:avLst/>
          </a:prstGeom>
          <a:noFill/>
          <a:ln/>
        </p:spPr>
        <p:txBody>
          <a:bodyPr wrap="square" lIns="0" tIns="0" rIns="0" bIns="0" rtlCol="0" anchor="ctr"/>
          <a:lstStyle/>
          <a:p>
            <a:pPr algn="ctr" indent="0" marL="0">
              <a:buNone/>
            </a:pPr>
            <a:r>
              <a:rPr lang="en-US" sz="1800" b="1" dirty="0">
                <a:solidFill>
                  <a:srgbClr val="1B1C6E"/>
                </a:solidFill>
                <a:latin typeface="Tahoma" pitchFamily="34" charset="0"/>
                <a:ea typeface="Tahoma" pitchFamily="34" charset="-122"/>
                <a:cs typeface="Tahoma" pitchFamily="34" charset="-120"/>
              </a:rPr>
              <a:t>1</a:t>
            </a:r>
            <a:endParaRPr lang="en-US" sz="1800" dirty="0"/>
          </a:p>
        </p:txBody>
      </p:sp>
      <p:sp>
        <p:nvSpPr>
          <p:cNvPr id="7" name="Text 5"/>
          <p:cNvSpPr txBox="1"/>
          <p:nvPr/>
        </p:nvSpPr>
        <p:spPr>
          <a:xfrm>
            <a:off x="1069848" y="3520440"/>
            <a:ext cx="1965960" cy="274320"/>
          </a:xfrm>
          <a:prstGeom prst="rect">
            <a:avLst/>
          </a:prstGeom>
          <a:noFill/>
          <a:ln/>
        </p:spPr>
        <p:txBody>
          <a:bodyPr wrap="square" lIns="0" tIns="0" rIns="0" bIns="0" rtlCol="0" anchor="ctr"/>
          <a:lstStyle/>
          <a:p>
            <a:pPr indent="0" marL="0">
              <a:buNone/>
            </a:pPr>
            <a:r>
              <a:rPr lang="en-US" sz="1100" b="1" dirty="0">
                <a:solidFill>
                  <a:srgbClr val="F9BB0B"/>
                </a:solidFill>
                <a:latin typeface="Calibri" pitchFamily="34" charset="0"/>
                <a:ea typeface="Calibri" pitchFamily="34" charset="-122"/>
                <a:cs typeface="Calibri" pitchFamily="34" charset="-120"/>
              </a:rPr>
              <a:t>Alternativa 1</a:t>
            </a:r>
            <a:endParaRPr lang="en-US" sz="1100" dirty="0"/>
          </a:p>
        </p:txBody>
      </p:sp>
      <p:sp>
        <p:nvSpPr>
          <p:cNvPr id="8" name="Text 6"/>
          <p:cNvSpPr txBox="1"/>
          <p:nvPr/>
        </p:nvSpPr>
        <p:spPr>
          <a:xfrm>
            <a:off x="1069848" y="3822192"/>
            <a:ext cx="1965960" cy="914400"/>
          </a:xfrm>
          <a:prstGeom prst="rect">
            <a:avLst/>
          </a:prstGeom>
          <a:noFill/>
          <a:ln/>
        </p:spPr>
        <p:txBody>
          <a:bodyPr wrap="square" lIns="0" tIns="0" rIns="0" bIns="0" rtlCol="0" anchor="t"/>
          <a:lstStyle/>
          <a:p>
            <a:pPr indent="0" marL="0">
              <a:lnSpc>
                <a:spcPts val="1700"/>
              </a:lnSpc>
              <a:buNone/>
            </a:pPr>
            <a:r>
              <a:rPr lang="en-US" sz="1250" b="1" dirty="0">
                <a:solidFill>
                  <a:srgbClr val="FFFFFF"/>
                </a:solidFill>
                <a:latin typeface="Tahoma" pitchFamily="34" charset="0"/>
                <a:ea typeface="Tahoma" pitchFamily="34" charset="-122"/>
                <a:cs typeface="Tahoma" pitchFamily="34" charset="-120"/>
              </a:rPr>
              <a:t>Consolidar el mercado antioqueño antes de crecer</a:t>
            </a:r>
            <a:endParaRPr lang="en-US" sz="1250" dirty="0"/>
          </a:p>
        </p:txBody>
      </p:sp>
      <p:sp>
        <p:nvSpPr>
          <p:cNvPr id="9" name="Shape 7"/>
          <p:cNvSpPr/>
          <p:nvPr/>
        </p:nvSpPr>
        <p:spPr>
          <a:xfrm>
            <a:off x="3538728" y="2606040"/>
            <a:ext cx="2423160" cy="2286000"/>
          </a:xfrm>
          <a:prstGeom prst="roundRect">
            <a:avLst>
              <a:gd name="adj" fmla="val 4000"/>
            </a:avLst>
          </a:prstGeom>
          <a:solidFill>
            <a:srgbClr val="FDF4DC"/>
          </a:solidFill>
          <a:ln/>
        </p:spPr>
      </p:sp>
      <p:sp>
        <p:nvSpPr>
          <p:cNvPr id="10" name="Shape 8"/>
          <p:cNvSpPr/>
          <p:nvPr/>
        </p:nvSpPr>
        <p:spPr>
          <a:xfrm>
            <a:off x="3767328" y="2834640"/>
            <a:ext cx="566928" cy="566928"/>
          </a:xfrm>
          <a:prstGeom prst="ellipse">
            <a:avLst/>
          </a:prstGeom>
          <a:solidFill>
            <a:srgbClr val="1B1C6E"/>
          </a:solidFill>
          <a:ln/>
        </p:spPr>
      </p:sp>
      <p:sp>
        <p:nvSpPr>
          <p:cNvPr id="11" name="Text 9"/>
          <p:cNvSpPr txBox="1"/>
          <p:nvPr/>
        </p:nvSpPr>
        <p:spPr>
          <a:xfrm>
            <a:off x="3767328" y="2834640"/>
            <a:ext cx="566928" cy="566928"/>
          </a:xfrm>
          <a:prstGeom prst="rect">
            <a:avLst/>
          </a:prstGeom>
          <a:noFill/>
          <a:ln/>
        </p:spPr>
        <p:txBody>
          <a:bodyPr wrap="square" lIns="0" tIns="0" rIns="0" bIns="0" rtlCol="0" anchor="ctr"/>
          <a:lstStyle/>
          <a:p>
            <a:pPr algn="ctr" indent="0" marL="0">
              <a:buNone/>
            </a:pPr>
            <a:r>
              <a:rPr lang="en-US" sz="1800" b="1" dirty="0">
                <a:solidFill>
                  <a:srgbClr val="F9BB0B"/>
                </a:solidFill>
                <a:latin typeface="Tahoma" pitchFamily="34" charset="0"/>
                <a:ea typeface="Tahoma" pitchFamily="34" charset="-122"/>
                <a:cs typeface="Tahoma" pitchFamily="34" charset="-120"/>
              </a:rPr>
              <a:t>2</a:t>
            </a:r>
            <a:endParaRPr lang="en-US" sz="1800" dirty="0"/>
          </a:p>
        </p:txBody>
      </p:sp>
      <p:sp>
        <p:nvSpPr>
          <p:cNvPr id="12" name="Text 10"/>
          <p:cNvSpPr txBox="1"/>
          <p:nvPr/>
        </p:nvSpPr>
        <p:spPr>
          <a:xfrm>
            <a:off x="3767328" y="3520440"/>
            <a:ext cx="1965960" cy="274320"/>
          </a:xfrm>
          <a:prstGeom prst="rect">
            <a:avLst/>
          </a:prstGeom>
          <a:noFill/>
          <a:ln/>
        </p:spPr>
        <p:txBody>
          <a:bodyPr wrap="square" lIns="0" tIns="0" rIns="0" bIns="0" rtlCol="0" anchor="ctr"/>
          <a:lstStyle/>
          <a:p>
            <a:pPr indent="0" marL="0">
              <a:buNone/>
            </a:pPr>
            <a:r>
              <a:rPr lang="en-US" sz="1100" b="1" dirty="0">
                <a:solidFill>
                  <a:srgbClr val="1B1C6E"/>
                </a:solidFill>
                <a:latin typeface="Calibri" pitchFamily="34" charset="0"/>
                <a:ea typeface="Calibri" pitchFamily="34" charset="-122"/>
                <a:cs typeface="Calibri" pitchFamily="34" charset="-120"/>
              </a:rPr>
              <a:t>Alternativa 2</a:t>
            </a:r>
            <a:endParaRPr lang="en-US" sz="1100" dirty="0"/>
          </a:p>
        </p:txBody>
      </p:sp>
      <p:sp>
        <p:nvSpPr>
          <p:cNvPr id="13" name="Text 11"/>
          <p:cNvSpPr txBox="1"/>
          <p:nvPr/>
        </p:nvSpPr>
        <p:spPr>
          <a:xfrm>
            <a:off x="3767328" y="3822192"/>
            <a:ext cx="1965960" cy="914400"/>
          </a:xfrm>
          <a:prstGeom prst="rect">
            <a:avLst/>
          </a:prstGeom>
          <a:noFill/>
          <a:ln/>
        </p:spPr>
        <p:txBody>
          <a:bodyPr wrap="square" lIns="0" tIns="0" rIns="0" bIns="0" rtlCol="0" anchor="t"/>
          <a:lstStyle/>
          <a:p>
            <a:pPr indent="0" marL="0">
              <a:lnSpc>
                <a:spcPts val="1700"/>
              </a:lnSpc>
              <a:buNone/>
            </a:pPr>
            <a:r>
              <a:rPr lang="en-US" sz="1250" b="1" dirty="0">
                <a:solidFill>
                  <a:srgbClr val="1B1C6E"/>
                </a:solidFill>
                <a:latin typeface="Tahoma" pitchFamily="34" charset="0"/>
                <a:ea typeface="Tahoma" pitchFamily="34" charset="-122"/>
                <a:cs typeface="Tahoma" pitchFamily="34" charset="-120"/>
              </a:rPr>
              <a:t>Expandirse hacia otras ciudades de Colombia</a:t>
            </a:r>
            <a:endParaRPr lang="en-US" sz="1250" dirty="0"/>
          </a:p>
        </p:txBody>
      </p:sp>
      <p:sp>
        <p:nvSpPr>
          <p:cNvPr id="14" name="Shape 12"/>
          <p:cNvSpPr/>
          <p:nvPr/>
        </p:nvSpPr>
        <p:spPr>
          <a:xfrm>
            <a:off x="6236208" y="2606040"/>
            <a:ext cx="2423160" cy="2286000"/>
          </a:xfrm>
          <a:prstGeom prst="roundRect">
            <a:avLst>
              <a:gd name="adj" fmla="val 4000"/>
            </a:avLst>
          </a:prstGeom>
          <a:solidFill>
            <a:srgbClr val="1B1C6E"/>
          </a:solidFill>
          <a:ln/>
        </p:spPr>
      </p:sp>
      <p:sp>
        <p:nvSpPr>
          <p:cNvPr id="15" name="Shape 13"/>
          <p:cNvSpPr/>
          <p:nvPr/>
        </p:nvSpPr>
        <p:spPr>
          <a:xfrm>
            <a:off x="6464808" y="2834640"/>
            <a:ext cx="566928" cy="566928"/>
          </a:xfrm>
          <a:prstGeom prst="ellipse">
            <a:avLst/>
          </a:prstGeom>
          <a:solidFill>
            <a:srgbClr val="F9BB0B"/>
          </a:solidFill>
          <a:ln/>
        </p:spPr>
      </p:sp>
      <p:sp>
        <p:nvSpPr>
          <p:cNvPr id="16" name="Text 14"/>
          <p:cNvSpPr txBox="1"/>
          <p:nvPr/>
        </p:nvSpPr>
        <p:spPr>
          <a:xfrm>
            <a:off x="6464808" y="2834640"/>
            <a:ext cx="566928" cy="566928"/>
          </a:xfrm>
          <a:prstGeom prst="rect">
            <a:avLst/>
          </a:prstGeom>
          <a:noFill/>
          <a:ln/>
        </p:spPr>
        <p:txBody>
          <a:bodyPr wrap="square" lIns="0" tIns="0" rIns="0" bIns="0" rtlCol="0" anchor="ctr"/>
          <a:lstStyle/>
          <a:p>
            <a:pPr algn="ctr" indent="0" marL="0">
              <a:buNone/>
            </a:pPr>
            <a:r>
              <a:rPr lang="en-US" sz="1800" b="1" dirty="0">
                <a:solidFill>
                  <a:srgbClr val="1B1C6E"/>
                </a:solidFill>
                <a:latin typeface="Tahoma" pitchFamily="34" charset="0"/>
                <a:ea typeface="Tahoma" pitchFamily="34" charset="-122"/>
                <a:cs typeface="Tahoma" pitchFamily="34" charset="-120"/>
              </a:rPr>
              <a:t>3</a:t>
            </a:r>
            <a:endParaRPr lang="en-US" sz="1800" dirty="0"/>
          </a:p>
        </p:txBody>
      </p:sp>
      <p:sp>
        <p:nvSpPr>
          <p:cNvPr id="17" name="Text 15"/>
          <p:cNvSpPr txBox="1"/>
          <p:nvPr/>
        </p:nvSpPr>
        <p:spPr>
          <a:xfrm>
            <a:off x="6464808" y="3520440"/>
            <a:ext cx="1965960" cy="274320"/>
          </a:xfrm>
          <a:prstGeom prst="rect">
            <a:avLst/>
          </a:prstGeom>
          <a:noFill/>
          <a:ln/>
        </p:spPr>
        <p:txBody>
          <a:bodyPr wrap="square" lIns="0" tIns="0" rIns="0" bIns="0" rtlCol="0" anchor="ctr"/>
          <a:lstStyle/>
          <a:p>
            <a:pPr indent="0" marL="0">
              <a:buNone/>
            </a:pPr>
            <a:r>
              <a:rPr lang="en-US" sz="1100" b="1" dirty="0">
                <a:solidFill>
                  <a:srgbClr val="F9BB0B"/>
                </a:solidFill>
                <a:latin typeface="Calibri" pitchFamily="34" charset="0"/>
                <a:ea typeface="Calibri" pitchFamily="34" charset="-122"/>
                <a:cs typeface="Calibri" pitchFamily="34" charset="-120"/>
              </a:rPr>
              <a:t>Alternativa 3</a:t>
            </a:r>
            <a:endParaRPr lang="en-US" sz="1100" dirty="0"/>
          </a:p>
        </p:txBody>
      </p:sp>
      <p:sp>
        <p:nvSpPr>
          <p:cNvPr id="18" name="Text 16"/>
          <p:cNvSpPr txBox="1"/>
          <p:nvPr/>
        </p:nvSpPr>
        <p:spPr>
          <a:xfrm>
            <a:off x="6464808" y="3822192"/>
            <a:ext cx="1965960" cy="914400"/>
          </a:xfrm>
          <a:prstGeom prst="rect">
            <a:avLst/>
          </a:prstGeom>
          <a:noFill/>
          <a:ln/>
        </p:spPr>
        <p:txBody>
          <a:bodyPr wrap="square" lIns="0" tIns="0" rIns="0" bIns="0" rtlCol="0" anchor="t"/>
          <a:lstStyle/>
          <a:p>
            <a:pPr indent="0" marL="0">
              <a:lnSpc>
                <a:spcPts val="1700"/>
              </a:lnSpc>
              <a:buNone/>
            </a:pPr>
            <a:r>
              <a:rPr lang="en-US" sz="1250" b="1" dirty="0">
                <a:solidFill>
                  <a:srgbClr val="FFFFFF"/>
                </a:solidFill>
                <a:latin typeface="Tahoma" pitchFamily="34" charset="0"/>
                <a:ea typeface="Tahoma" pitchFamily="34" charset="-122"/>
                <a:cs typeface="Tahoma" pitchFamily="34" charset="-120"/>
              </a:rPr>
              <a:t>Desarrollar nuevos productos y fortalecer los canales digitales</a:t>
            </a:r>
            <a:endParaRPr lang="en-US" sz="1250" dirty="0"/>
          </a:p>
        </p:txBody>
      </p:sp>
      <p:sp>
        <p:nvSpPr>
          <p:cNvPr id="19" name="Shape 17"/>
          <p:cNvSpPr/>
          <p:nvPr/>
        </p:nvSpPr>
        <p:spPr>
          <a:xfrm>
            <a:off x="8933688" y="2606040"/>
            <a:ext cx="2423160" cy="2286000"/>
          </a:xfrm>
          <a:prstGeom prst="roundRect">
            <a:avLst>
              <a:gd name="adj" fmla="val 4000"/>
            </a:avLst>
          </a:prstGeom>
          <a:solidFill>
            <a:srgbClr val="FDF4DC"/>
          </a:solidFill>
          <a:ln/>
        </p:spPr>
      </p:sp>
      <p:sp>
        <p:nvSpPr>
          <p:cNvPr id="20" name="Shape 18"/>
          <p:cNvSpPr/>
          <p:nvPr/>
        </p:nvSpPr>
        <p:spPr>
          <a:xfrm>
            <a:off x="9162288" y="2834640"/>
            <a:ext cx="566928" cy="566928"/>
          </a:xfrm>
          <a:prstGeom prst="ellipse">
            <a:avLst/>
          </a:prstGeom>
          <a:solidFill>
            <a:srgbClr val="1B1C6E"/>
          </a:solidFill>
          <a:ln/>
        </p:spPr>
      </p:sp>
      <p:sp>
        <p:nvSpPr>
          <p:cNvPr id="21" name="Text 19"/>
          <p:cNvSpPr txBox="1"/>
          <p:nvPr/>
        </p:nvSpPr>
        <p:spPr>
          <a:xfrm>
            <a:off x="9162288" y="2834640"/>
            <a:ext cx="566928" cy="566928"/>
          </a:xfrm>
          <a:prstGeom prst="rect">
            <a:avLst/>
          </a:prstGeom>
          <a:noFill/>
          <a:ln/>
        </p:spPr>
        <p:txBody>
          <a:bodyPr wrap="square" lIns="0" tIns="0" rIns="0" bIns="0" rtlCol="0" anchor="ctr"/>
          <a:lstStyle/>
          <a:p>
            <a:pPr algn="ctr" indent="0" marL="0">
              <a:buNone/>
            </a:pPr>
            <a:r>
              <a:rPr lang="en-US" sz="1800" b="1" dirty="0">
                <a:solidFill>
                  <a:srgbClr val="F9BB0B"/>
                </a:solidFill>
                <a:latin typeface="Tahoma" pitchFamily="34" charset="0"/>
                <a:ea typeface="Tahoma" pitchFamily="34" charset="-122"/>
                <a:cs typeface="Tahoma" pitchFamily="34" charset="-120"/>
              </a:rPr>
              <a:t>4</a:t>
            </a:r>
            <a:endParaRPr lang="en-US" sz="1800" dirty="0"/>
          </a:p>
        </p:txBody>
      </p:sp>
      <p:sp>
        <p:nvSpPr>
          <p:cNvPr id="22" name="Text 20"/>
          <p:cNvSpPr txBox="1"/>
          <p:nvPr/>
        </p:nvSpPr>
        <p:spPr>
          <a:xfrm>
            <a:off x="9162288" y="3520440"/>
            <a:ext cx="1965960" cy="274320"/>
          </a:xfrm>
          <a:prstGeom prst="rect">
            <a:avLst/>
          </a:prstGeom>
          <a:noFill/>
          <a:ln/>
        </p:spPr>
        <p:txBody>
          <a:bodyPr wrap="square" lIns="0" tIns="0" rIns="0" bIns="0" rtlCol="0" anchor="ctr"/>
          <a:lstStyle/>
          <a:p>
            <a:pPr indent="0" marL="0">
              <a:buNone/>
            </a:pPr>
            <a:r>
              <a:rPr lang="en-US" sz="1100" b="1" dirty="0">
                <a:solidFill>
                  <a:srgbClr val="1B1C6E"/>
                </a:solidFill>
                <a:latin typeface="Calibri" pitchFamily="34" charset="0"/>
                <a:ea typeface="Calibri" pitchFamily="34" charset="-122"/>
                <a:cs typeface="Calibri" pitchFamily="34" charset="-120"/>
              </a:rPr>
              <a:t>Alternativa 4</a:t>
            </a:r>
            <a:endParaRPr lang="en-US" sz="1100" dirty="0"/>
          </a:p>
        </p:txBody>
      </p:sp>
      <p:sp>
        <p:nvSpPr>
          <p:cNvPr id="23" name="Text 21"/>
          <p:cNvSpPr txBox="1"/>
          <p:nvPr/>
        </p:nvSpPr>
        <p:spPr>
          <a:xfrm>
            <a:off x="9162288" y="3822192"/>
            <a:ext cx="1965960" cy="914400"/>
          </a:xfrm>
          <a:prstGeom prst="rect">
            <a:avLst/>
          </a:prstGeom>
          <a:noFill/>
          <a:ln/>
        </p:spPr>
        <p:txBody>
          <a:bodyPr wrap="square" lIns="0" tIns="0" rIns="0" bIns="0" rtlCol="0" anchor="t"/>
          <a:lstStyle/>
          <a:p>
            <a:pPr indent="0" marL="0">
              <a:lnSpc>
                <a:spcPts val="1700"/>
              </a:lnSpc>
              <a:buNone/>
            </a:pPr>
            <a:r>
              <a:rPr lang="en-US" sz="1250" b="1" dirty="0">
                <a:solidFill>
                  <a:srgbClr val="1B1C6E"/>
                </a:solidFill>
                <a:latin typeface="Tahoma" pitchFamily="34" charset="0"/>
                <a:ea typeface="Tahoma" pitchFamily="34" charset="-122"/>
                <a:cs typeface="Tahoma" pitchFamily="34" charset="-120"/>
              </a:rPr>
              <a:t>Prepararse para una futura internacionalización</a:t>
            </a:r>
            <a:endParaRPr lang="en-US" sz="1250" dirty="0"/>
          </a:p>
        </p:txBody>
      </p:sp>
      <p:sp>
        <p:nvSpPr>
          <p:cNvPr id="24" name="Text 22"/>
          <p:cNvSpPr txBox="1"/>
          <p:nvPr/>
        </p:nvSpPr>
        <p:spPr>
          <a:xfrm>
            <a:off x="841248" y="5029200"/>
            <a:ext cx="10515600" cy="320040"/>
          </a:xfrm>
          <a:prstGeom prst="rect">
            <a:avLst/>
          </a:prstGeom>
          <a:noFill/>
          <a:ln/>
        </p:spPr>
        <p:txBody>
          <a:bodyPr wrap="square" lIns="0" tIns="0" rIns="0" bIns="0" rtlCol="0" anchor="ctr"/>
          <a:lstStyle/>
          <a:p>
            <a:pPr indent="0" marL="0">
              <a:buNone/>
            </a:pPr>
            <a:r>
              <a:rPr lang="en-US" sz="1150" i="1" dirty="0">
                <a:solidFill>
                  <a:srgbClr val="55565E"/>
                </a:solidFill>
                <a:latin typeface="Calibri" pitchFamily="34" charset="0"/>
                <a:ea typeface="Calibri" pitchFamily="34" charset="-122"/>
                <a:cs typeface="Calibri" pitchFamily="34" charset="-120"/>
              </a:rPr>
              <a:t>La Junta también contempla combinar varias alternativas antes de definir el rumbo.</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86968" y="1965960"/>
            <a:ext cx="10515600" cy="548640"/>
          </a:xfrm>
          <a:prstGeom prst="rect">
            <a:avLst/>
          </a:prstGeom>
          <a:noFill/>
          <a:ln/>
        </p:spPr>
        <p:txBody>
          <a:bodyPr wrap="square" lIns="0" tIns="0" rIns="0" bIns="0" rtlCol="0" anchor="ctr"/>
          <a:lstStyle/>
          <a:p>
            <a:pPr algn="ctr" indent="0" marL="0">
              <a:buNone/>
            </a:pPr>
            <a:r>
              <a:rPr lang="en-US" sz="1500" b="1" dirty="0">
                <a:solidFill>
                  <a:srgbClr val="1B1C6E"/>
                </a:solidFill>
                <a:latin typeface="Tahoma" pitchFamily="34" charset="0"/>
                <a:ea typeface="Tahoma" pitchFamily="34" charset="-122"/>
                <a:cs typeface="Tahoma" pitchFamily="34" charset="-120"/>
              </a:rPr>
              <a:t>PREGUNTA CENTRAL DEL CASO</a:t>
            </a:r>
            <a:endParaRPr lang="en-US" sz="1500" dirty="0"/>
          </a:p>
        </p:txBody>
      </p:sp>
      <p:sp>
        <p:nvSpPr>
          <p:cNvPr id="3" name="Text 1"/>
          <p:cNvSpPr txBox="1"/>
          <p:nvPr/>
        </p:nvSpPr>
        <p:spPr>
          <a:xfrm>
            <a:off x="1463040" y="2560320"/>
            <a:ext cx="9326880" cy="1554480"/>
          </a:xfrm>
          <a:prstGeom prst="rect">
            <a:avLst/>
          </a:prstGeom>
          <a:noFill/>
          <a:ln/>
        </p:spPr>
        <p:txBody>
          <a:bodyPr wrap="square" lIns="0" tIns="0" rIns="0" bIns="0" rtlCol="0" anchor="ctr"/>
          <a:lstStyle/>
          <a:p>
            <a:pPr algn="ctr" indent="0" marL="0">
              <a:lnSpc>
                <a:spcPts val="3400"/>
              </a:lnSpc>
              <a:buNone/>
            </a:pPr>
            <a:r>
              <a:rPr lang="en-US" sz="2600" b="1" dirty="0">
                <a:solidFill>
                  <a:srgbClr val="1B1C6E"/>
                </a:solidFill>
                <a:latin typeface="Tahoma" pitchFamily="34" charset="0"/>
                <a:ea typeface="Tahoma" pitchFamily="34" charset="-122"/>
                <a:cs typeface="Tahoma" pitchFamily="34" charset="-120"/>
              </a:rPr>
              <a:t>¿Qué estrategia debería implementar Café de Montaña Antioqueño S.A.S. para crecer de manera competitiva, rentable y sostenible?</a:t>
            </a:r>
            <a:endParaRPr lang="en-US" sz="2600" dirty="0"/>
          </a:p>
        </p:txBody>
      </p:sp>
      <p:sp>
        <p:nvSpPr>
          <p:cNvPr id="4" name="Text 2"/>
          <p:cNvSpPr txBox="1"/>
          <p:nvPr/>
        </p:nvSpPr>
        <p:spPr>
          <a:xfrm>
            <a:off x="2011680" y="4206240"/>
            <a:ext cx="8229600" cy="548640"/>
          </a:xfrm>
          <a:prstGeom prst="rect">
            <a:avLst/>
          </a:prstGeom>
          <a:noFill/>
          <a:ln/>
        </p:spPr>
        <p:txBody>
          <a:bodyPr wrap="square" lIns="0" tIns="0" rIns="0" bIns="0" rtlCol="0" anchor="t"/>
          <a:lstStyle/>
          <a:p>
            <a:pPr algn="ctr" indent="0" marL="0">
              <a:buNone/>
            </a:pPr>
            <a:r>
              <a:rPr lang="en-US" sz="1400" dirty="0">
                <a:solidFill>
                  <a:srgbClr val="1B1C6E"/>
                </a:solidFill>
                <a:latin typeface="Calibri" pitchFamily="34" charset="0"/>
                <a:ea typeface="Calibri" pitchFamily="34" charset="-122"/>
                <a:cs typeface="Calibri" pitchFamily="34" charset="-120"/>
              </a:rPr>
              <a:t>Esta pregunta acompaña todo el encuentro. Cada área del conocimiento la analiza desde una perspectiva diferente.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Apertura: la primera pregunta es para ustedes</a:t>
            </a:r>
            <a:endParaRPr lang="en-US" sz="2500" dirty="0"/>
          </a:p>
        </p:txBody>
      </p:sp>
      <p:sp>
        <p:nvSpPr>
          <p:cNvPr id="3" name="Text 1"/>
          <p:cNvSpPr txBox="1"/>
          <p:nvPr/>
        </p:nvSpPr>
        <p:spPr>
          <a:xfrm>
            <a:off x="841248" y="1600200"/>
            <a:ext cx="658368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Antes de que intervenga cada área del conocimiento, la discusión arranca con los estudiantes. La respuesta a esta pregunta revela qué información considera necesaria un equipo directivo antes de decidir.</a:t>
            </a:r>
            <a:endParaRPr lang="en-US" sz="1450" dirty="0"/>
          </a:p>
        </p:txBody>
      </p:sp>
      <p:sp>
        <p:nvSpPr>
          <p:cNvPr id="4" name="Shape 2"/>
          <p:cNvSpPr/>
          <p:nvPr/>
        </p:nvSpPr>
        <p:spPr>
          <a:xfrm>
            <a:off x="841248" y="2743200"/>
            <a:ext cx="6583680" cy="1737360"/>
          </a:xfrm>
          <a:prstGeom prst="roundRect">
            <a:avLst>
              <a:gd name="adj" fmla="val 6316"/>
            </a:avLst>
          </a:prstGeom>
          <a:solidFill>
            <a:srgbClr val="1B1C6E"/>
          </a:solidFill>
          <a:ln/>
        </p:spPr>
      </p:sp>
      <p:sp>
        <p:nvSpPr>
          <p:cNvPr id="5" name="Text 3"/>
          <p:cNvSpPr txBox="1"/>
          <p:nvPr/>
        </p:nvSpPr>
        <p:spPr>
          <a:xfrm>
            <a:off x="1143000" y="2743200"/>
            <a:ext cx="5989320" cy="1737360"/>
          </a:xfrm>
          <a:prstGeom prst="rect">
            <a:avLst/>
          </a:prstGeom>
          <a:noFill/>
          <a:ln/>
        </p:spPr>
        <p:txBody>
          <a:bodyPr wrap="square" lIns="0" tIns="0" rIns="0" bIns="0" rtlCol="0" anchor="ctr"/>
          <a:lstStyle/>
          <a:p>
            <a:pPr indent="0" marL="0">
              <a:lnSpc>
                <a:spcPts val="2500"/>
              </a:lnSpc>
              <a:buNone/>
            </a:pPr>
            <a:r>
              <a:rPr lang="en-US" sz="1700" b="1" dirty="0">
                <a:solidFill>
                  <a:srgbClr val="FFFFFF"/>
                </a:solidFill>
                <a:latin typeface="Tahoma" pitchFamily="34" charset="0"/>
                <a:ea typeface="Tahoma" pitchFamily="34" charset="-122"/>
                <a:cs typeface="Tahoma" pitchFamily="34" charset="-120"/>
              </a:rPr>
              <a:t>Si ustedes fueran la Junta Directiva de Café de Montaña Antioqueño, ¿qué información necesitarían antes de decidir si la empresa debe crecer?</a:t>
            </a:r>
            <a:endParaRPr lang="en-US" sz="1700" dirty="0"/>
          </a:p>
        </p:txBody>
      </p:sp>
      <p:sp>
        <p:nvSpPr>
          <p:cNvPr id="6" name="Shape 4"/>
          <p:cNvSpPr/>
          <p:nvPr/>
        </p:nvSpPr>
        <p:spPr>
          <a:xfrm>
            <a:off x="841248" y="4663440"/>
            <a:ext cx="6583680" cy="868680"/>
          </a:xfrm>
          <a:prstGeom prst="roundRect">
            <a:avLst>
              <a:gd name="adj" fmla="val 10526"/>
            </a:avLst>
          </a:prstGeom>
          <a:solidFill>
            <a:srgbClr val="FDF4DC"/>
          </a:solidFill>
          <a:ln/>
        </p:spPr>
      </p:sp>
      <p:sp>
        <p:nvSpPr>
          <p:cNvPr id="7" name="Text 5"/>
          <p:cNvSpPr txBox="1"/>
          <p:nvPr/>
        </p:nvSpPr>
        <p:spPr>
          <a:xfrm>
            <a:off x="1143000" y="4663440"/>
            <a:ext cx="5989320" cy="868680"/>
          </a:xfrm>
          <a:prstGeom prst="rect">
            <a:avLst/>
          </a:prstGeom>
          <a:noFill/>
          <a:ln/>
        </p:spPr>
        <p:txBody>
          <a:bodyPr wrap="square" lIns="0" tIns="0" rIns="0" bIns="0" rtlCol="0" anchor="ctr"/>
          <a:lstStyle/>
          <a:p>
            <a:pPr indent="0" marL="0">
              <a:lnSpc>
                <a:spcPts val="1700"/>
              </a:lnSpc>
              <a:buNone/>
            </a:pPr>
            <a:r>
              <a:rPr lang="en-US" sz="1200" dirty="0">
                <a:solidFill>
                  <a:srgbClr val="55565E"/>
                </a:solidFill>
                <a:latin typeface="Calibri" pitchFamily="34" charset="0"/>
                <a:ea typeface="Calibri" pitchFamily="34" charset="-122"/>
                <a:cs typeface="Calibri" pitchFamily="34" charset="-120"/>
              </a:rPr>
              <a:t>Las respuestas pueden recogerse por el chat o con una herramienta interactiva. El moderador las agrupa y las conecta con las cuatro áreas del conocimiento.</a:t>
            </a:r>
            <a:endParaRPr lang="en-US" sz="1200" dirty="0"/>
          </a:p>
        </p:txBody>
      </p:sp>
      <p:pic>
        <p:nvPicPr>
          <p:cNvPr id="8" name="Image 0" descr="preencoded.png">    </p:cNvPr>
          <p:cNvPicPr>
            <a:picLocks noChangeAspect="1"/>
          </p:cNvPicPr>
          <p:nvPr/>
        </p:nvPicPr>
        <p:blipFill>
          <a:blip r:embed="rId2"/>
          <a:stretch>
            <a:fillRect/>
          </a:stretch>
        </p:blipFill>
        <p:spPr>
          <a:xfrm>
            <a:off x="7772400" y="2743200"/>
            <a:ext cx="3566160" cy="2788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Preguntas desde Economía</a:t>
            </a:r>
            <a:endParaRPr lang="en-US" sz="2500" dirty="0"/>
          </a:p>
        </p:txBody>
      </p:sp>
      <p:sp>
        <p:nvSpPr>
          <p:cNvPr id="3" name="Shape 1"/>
          <p:cNvSpPr/>
          <p:nvPr/>
        </p:nvSpPr>
        <p:spPr>
          <a:xfrm>
            <a:off x="841248" y="1481328"/>
            <a:ext cx="2194560" cy="384048"/>
          </a:xfrm>
          <a:prstGeom prst="roundRect">
            <a:avLst>
              <a:gd name="adj" fmla="val 23810"/>
            </a:avLst>
          </a:prstGeom>
          <a:solidFill>
            <a:srgbClr val="F9BB0B"/>
          </a:solidFill>
          <a:ln/>
        </p:spPr>
      </p:sp>
      <p:sp>
        <p:nvSpPr>
          <p:cNvPr id="4" name="Text 2"/>
          <p:cNvSpPr txBox="1"/>
          <p:nvPr/>
        </p:nvSpPr>
        <p:spPr>
          <a:xfrm>
            <a:off x="841248" y="1481328"/>
            <a:ext cx="2194560" cy="384048"/>
          </a:xfrm>
          <a:prstGeom prst="rect">
            <a:avLst/>
          </a:prstGeom>
          <a:noFill/>
          <a:ln/>
        </p:spPr>
        <p:txBody>
          <a:bodyPr wrap="square" lIns="0" tIns="0" rIns="0" bIns="0" rtlCol="0" anchor="ctr"/>
          <a:lstStyle/>
          <a:p>
            <a:pPr algn="ctr" indent="0" marL="0">
              <a:buNone/>
            </a:pPr>
            <a:r>
              <a:rPr lang="en-US" sz="950" b="1" dirty="0">
                <a:solidFill>
                  <a:srgbClr val="1B1C6E"/>
                </a:solidFill>
                <a:latin typeface="Tahoma" pitchFamily="34" charset="0"/>
                <a:ea typeface="Tahoma" pitchFamily="34" charset="-122"/>
                <a:cs typeface="Tahoma" pitchFamily="34" charset="-120"/>
              </a:rPr>
              <a:t>ÁREA: ECONOMÍA</a:t>
            </a:r>
            <a:endParaRPr lang="en-US" sz="950" dirty="0"/>
          </a:p>
        </p:txBody>
      </p:sp>
      <p:sp>
        <p:nvSpPr>
          <p:cNvPr id="5" name="Text 3"/>
          <p:cNvSpPr txBox="1"/>
          <p:nvPr/>
        </p:nvSpPr>
        <p:spPr>
          <a:xfrm>
            <a:off x="3291840" y="1481328"/>
            <a:ext cx="6035040" cy="384048"/>
          </a:xfrm>
          <a:prstGeom prst="rect">
            <a:avLst/>
          </a:prstGeom>
          <a:noFill/>
          <a:ln/>
        </p:spPr>
        <p:txBody>
          <a:bodyPr wrap="square" lIns="0" tIns="0" rIns="0" bIns="0" rtlCol="0" anchor="ctr"/>
          <a:lstStyle/>
          <a:p>
            <a:pPr indent="0" marL="0">
              <a:buNone/>
            </a:pPr>
            <a:r>
              <a:rPr lang="en-US" sz="1300" b="1" i="1" dirty="0">
                <a:solidFill>
                  <a:srgbClr val="1B1C6E"/>
                </a:solidFill>
                <a:latin typeface="Calibri" pitchFamily="34" charset="0"/>
                <a:ea typeface="Calibri" pitchFamily="34" charset="-122"/>
                <a:cs typeface="Calibri" pitchFamily="34" charset="-120"/>
              </a:rPr>
              <a:t>El entorno condiciona la decisión</a:t>
            </a:r>
            <a:endParaRPr lang="en-US" sz="1300" dirty="0"/>
          </a:p>
        </p:txBody>
      </p:sp>
      <p:sp>
        <p:nvSpPr>
          <p:cNvPr id="6" name="Text 4"/>
          <p:cNvSpPr txBox="1"/>
          <p:nvPr/>
        </p:nvSpPr>
        <p:spPr>
          <a:xfrm>
            <a:off x="841248" y="1965960"/>
            <a:ext cx="8503920" cy="594360"/>
          </a:xfrm>
          <a:prstGeom prst="rect">
            <a:avLst/>
          </a:prstGeom>
          <a:noFill/>
          <a:ln/>
        </p:spPr>
        <p:txBody>
          <a:bodyPr wrap="square" lIns="0" tIns="0" rIns="0" bIns="0" rtlCol="0" anchor="t"/>
          <a:lstStyle/>
          <a:p>
            <a:pPr indent="0" marL="0">
              <a:lnSpc>
                <a:spcPts val="1600"/>
              </a:lnSpc>
              <a:buNone/>
            </a:pPr>
            <a:r>
              <a:rPr lang="en-US" sz="1150" dirty="0">
                <a:solidFill>
                  <a:srgbClr val="55565E"/>
                </a:solidFill>
                <a:latin typeface="Calibri" pitchFamily="34" charset="0"/>
                <a:ea typeface="Calibri" pitchFamily="34" charset="-122"/>
                <a:cs typeface="Calibri" pitchFamily="34" charset="-120"/>
              </a:rPr>
              <a:t>El propósito no es una clase extensa de teoría económica, sino usar conceptos económicos para leer el caso.</a:t>
            </a:r>
            <a:endParaRPr lang="en-US" sz="1150" dirty="0"/>
          </a:p>
        </p:txBody>
      </p:sp>
      <p:pic>
        <p:nvPicPr>
          <p:cNvPr id="7" name="Image 0" descr="preencoded.png">    </p:cNvPr>
          <p:cNvPicPr>
            <a:picLocks noChangeAspect="1"/>
          </p:cNvPicPr>
          <p:nvPr/>
        </p:nvPicPr>
        <p:blipFill>
          <a:blip r:embed="rId2"/>
          <a:stretch>
            <a:fillRect/>
          </a:stretch>
        </p:blipFill>
        <p:spPr>
          <a:xfrm>
            <a:off x="9555480" y="1481328"/>
            <a:ext cx="1783080" cy="1234440"/>
          </a:xfrm>
          <a:prstGeom prst="rect">
            <a:avLst/>
          </a:prstGeom>
        </p:spPr>
      </p:pic>
      <p:sp>
        <p:nvSpPr>
          <p:cNvPr id="8" name="Shape 5"/>
          <p:cNvSpPr/>
          <p:nvPr/>
        </p:nvSpPr>
        <p:spPr>
          <a:xfrm>
            <a:off x="841248" y="2788920"/>
            <a:ext cx="5120640" cy="530352"/>
          </a:xfrm>
          <a:prstGeom prst="roundRect">
            <a:avLst>
              <a:gd name="adj" fmla="val 13793"/>
            </a:avLst>
          </a:prstGeom>
          <a:solidFill>
            <a:srgbClr val="FDF4DC"/>
          </a:solidFill>
          <a:ln/>
        </p:spPr>
      </p:sp>
      <p:sp>
        <p:nvSpPr>
          <p:cNvPr id="9" name="Shape 6"/>
          <p:cNvSpPr/>
          <p:nvPr/>
        </p:nvSpPr>
        <p:spPr>
          <a:xfrm>
            <a:off x="987552" y="2916936"/>
            <a:ext cx="274320" cy="274320"/>
          </a:xfrm>
          <a:prstGeom prst="ellipse">
            <a:avLst/>
          </a:prstGeom>
          <a:solidFill>
            <a:srgbClr val="1B1C6E"/>
          </a:solidFill>
          <a:ln/>
        </p:spPr>
      </p:sp>
      <p:sp>
        <p:nvSpPr>
          <p:cNvPr id="10" name="Text 7"/>
          <p:cNvSpPr txBox="1"/>
          <p:nvPr/>
        </p:nvSpPr>
        <p:spPr>
          <a:xfrm>
            <a:off x="987552" y="2916936"/>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1</a:t>
            </a:r>
            <a:endParaRPr lang="en-US" sz="1000" dirty="0"/>
          </a:p>
        </p:txBody>
      </p:sp>
      <p:sp>
        <p:nvSpPr>
          <p:cNvPr id="11" name="Text 8"/>
          <p:cNvSpPr txBox="1"/>
          <p:nvPr/>
        </p:nvSpPr>
        <p:spPr>
          <a:xfrm>
            <a:off x="1371600" y="2788920"/>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¿Crecer en este momento representa una oportunidad o un riesgo para la empresa?</a:t>
            </a:r>
            <a:endParaRPr lang="en-US" sz="1100" dirty="0"/>
          </a:p>
        </p:txBody>
      </p:sp>
      <p:sp>
        <p:nvSpPr>
          <p:cNvPr id="12" name="Shape 9"/>
          <p:cNvSpPr/>
          <p:nvPr/>
        </p:nvSpPr>
        <p:spPr>
          <a:xfrm>
            <a:off x="841248" y="3392424"/>
            <a:ext cx="5120640" cy="530352"/>
          </a:xfrm>
          <a:prstGeom prst="roundRect">
            <a:avLst>
              <a:gd name="adj" fmla="val 13793"/>
            </a:avLst>
          </a:prstGeom>
          <a:solidFill>
            <a:srgbClr val="FDF4DC"/>
          </a:solidFill>
          <a:ln/>
        </p:spPr>
      </p:sp>
      <p:sp>
        <p:nvSpPr>
          <p:cNvPr id="13" name="Shape 10"/>
          <p:cNvSpPr/>
          <p:nvPr/>
        </p:nvSpPr>
        <p:spPr>
          <a:xfrm>
            <a:off x="987552" y="3520440"/>
            <a:ext cx="274320" cy="274320"/>
          </a:xfrm>
          <a:prstGeom prst="ellipse">
            <a:avLst/>
          </a:prstGeom>
          <a:solidFill>
            <a:srgbClr val="1B1C6E"/>
          </a:solidFill>
          <a:ln/>
        </p:spPr>
      </p:sp>
      <p:sp>
        <p:nvSpPr>
          <p:cNvPr id="14" name="Text 11"/>
          <p:cNvSpPr txBox="1"/>
          <p:nvPr/>
        </p:nvSpPr>
        <p:spPr>
          <a:xfrm>
            <a:off x="987552" y="3520440"/>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2</a:t>
            </a:r>
            <a:endParaRPr lang="en-US" sz="1000" dirty="0"/>
          </a:p>
        </p:txBody>
      </p:sp>
      <p:sp>
        <p:nvSpPr>
          <p:cNvPr id="15" name="Text 12"/>
          <p:cNvSpPr txBox="1"/>
          <p:nvPr/>
        </p:nvSpPr>
        <p:spPr>
          <a:xfrm>
            <a:off x="1371600" y="3392424"/>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variables económicas podrían modificar la decisión de inversión?</a:t>
            </a:r>
            <a:endParaRPr lang="en-US" sz="1100" dirty="0"/>
          </a:p>
        </p:txBody>
      </p:sp>
      <p:sp>
        <p:nvSpPr>
          <p:cNvPr id="16" name="Shape 13"/>
          <p:cNvSpPr/>
          <p:nvPr/>
        </p:nvSpPr>
        <p:spPr>
          <a:xfrm>
            <a:off x="841248" y="3995928"/>
            <a:ext cx="5120640" cy="530352"/>
          </a:xfrm>
          <a:prstGeom prst="roundRect">
            <a:avLst>
              <a:gd name="adj" fmla="val 13793"/>
            </a:avLst>
          </a:prstGeom>
          <a:solidFill>
            <a:srgbClr val="FDF4DC"/>
          </a:solidFill>
          <a:ln/>
        </p:spPr>
      </p:sp>
      <p:sp>
        <p:nvSpPr>
          <p:cNvPr id="17" name="Shape 14"/>
          <p:cNvSpPr/>
          <p:nvPr/>
        </p:nvSpPr>
        <p:spPr>
          <a:xfrm>
            <a:off x="987552" y="4123944"/>
            <a:ext cx="274320" cy="274320"/>
          </a:xfrm>
          <a:prstGeom prst="ellipse">
            <a:avLst/>
          </a:prstGeom>
          <a:solidFill>
            <a:srgbClr val="1B1C6E"/>
          </a:solidFill>
          <a:ln/>
        </p:spPr>
      </p:sp>
      <p:sp>
        <p:nvSpPr>
          <p:cNvPr id="18" name="Text 15"/>
          <p:cNvSpPr txBox="1"/>
          <p:nvPr/>
        </p:nvSpPr>
        <p:spPr>
          <a:xfrm>
            <a:off x="987552" y="4123944"/>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3</a:t>
            </a:r>
            <a:endParaRPr lang="en-US" sz="1000" dirty="0"/>
          </a:p>
        </p:txBody>
      </p:sp>
      <p:sp>
        <p:nvSpPr>
          <p:cNvPr id="19" name="Text 16"/>
          <p:cNvSpPr txBox="1"/>
          <p:nvPr/>
        </p:nvSpPr>
        <p:spPr>
          <a:xfrm>
            <a:off x="1371600" y="3995928"/>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podría ocurrir si la empresa se endeuda para financiar su expansión?</a:t>
            </a:r>
            <a:endParaRPr lang="en-US" sz="1100" dirty="0"/>
          </a:p>
        </p:txBody>
      </p:sp>
      <p:sp>
        <p:nvSpPr>
          <p:cNvPr id="20" name="Shape 17"/>
          <p:cNvSpPr/>
          <p:nvPr/>
        </p:nvSpPr>
        <p:spPr>
          <a:xfrm>
            <a:off x="6236208" y="2788920"/>
            <a:ext cx="5120640" cy="530352"/>
          </a:xfrm>
          <a:prstGeom prst="roundRect">
            <a:avLst>
              <a:gd name="adj" fmla="val 13793"/>
            </a:avLst>
          </a:prstGeom>
          <a:solidFill>
            <a:srgbClr val="FDF4DC"/>
          </a:solidFill>
          <a:ln/>
        </p:spPr>
      </p:sp>
      <p:sp>
        <p:nvSpPr>
          <p:cNvPr id="21" name="Shape 18"/>
          <p:cNvSpPr/>
          <p:nvPr/>
        </p:nvSpPr>
        <p:spPr>
          <a:xfrm>
            <a:off x="6382512" y="2916936"/>
            <a:ext cx="274320" cy="274320"/>
          </a:xfrm>
          <a:prstGeom prst="ellipse">
            <a:avLst/>
          </a:prstGeom>
          <a:solidFill>
            <a:srgbClr val="1B1C6E"/>
          </a:solidFill>
          <a:ln/>
        </p:spPr>
      </p:sp>
      <p:sp>
        <p:nvSpPr>
          <p:cNvPr id="22" name="Text 19"/>
          <p:cNvSpPr txBox="1"/>
          <p:nvPr/>
        </p:nvSpPr>
        <p:spPr>
          <a:xfrm>
            <a:off x="6382512" y="2916936"/>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4</a:t>
            </a:r>
            <a:endParaRPr lang="en-US" sz="1000" dirty="0"/>
          </a:p>
        </p:txBody>
      </p:sp>
      <p:sp>
        <p:nvSpPr>
          <p:cNvPr id="23" name="Text 20"/>
          <p:cNvSpPr txBox="1"/>
          <p:nvPr/>
        </p:nvSpPr>
        <p:spPr>
          <a:xfrm>
            <a:off x="6766560" y="2788920"/>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¿Es conveniente depender exclusivamente del mercado antioqueño?</a:t>
            </a:r>
            <a:endParaRPr lang="en-US" sz="1100" dirty="0"/>
          </a:p>
        </p:txBody>
      </p:sp>
      <p:sp>
        <p:nvSpPr>
          <p:cNvPr id="24" name="Shape 21"/>
          <p:cNvSpPr/>
          <p:nvPr/>
        </p:nvSpPr>
        <p:spPr>
          <a:xfrm>
            <a:off x="6236208" y="3392424"/>
            <a:ext cx="5120640" cy="530352"/>
          </a:xfrm>
          <a:prstGeom prst="roundRect">
            <a:avLst>
              <a:gd name="adj" fmla="val 13793"/>
            </a:avLst>
          </a:prstGeom>
          <a:solidFill>
            <a:srgbClr val="FDF4DC"/>
          </a:solidFill>
          <a:ln/>
        </p:spPr>
      </p:sp>
      <p:sp>
        <p:nvSpPr>
          <p:cNvPr id="25" name="Shape 22"/>
          <p:cNvSpPr/>
          <p:nvPr/>
        </p:nvSpPr>
        <p:spPr>
          <a:xfrm>
            <a:off x="6382512" y="3520440"/>
            <a:ext cx="274320" cy="274320"/>
          </a:xfrm>
          <a:prstGeom prst="ellipse">
            <a:avLst/>
          </a:prstGeom>
          <a:solidFill>
            <a:srgbClr val="1B1C6E"/>
          </a:solidFill>
          <a:ln/>
        </p:spPr>
      </p:sp>
      <p:sp>
        <p:nvSpPr>
          <p:cNvPr id="26" name="Text 23"/>
          <p:cNvSpPr txBox="1"/>
          <p:nvPr/>
        </p:nvSpPr>
        <p:spPr>
          <a:xfrm>
            <a:off x="6382512" y="3520440"/>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5</a:t>
            </a:r>
            <a:endParaRPr lang="en-US" sz="1000" dirty="0"/>
          </a:p>
        </p:txBody>
      </p:sp>
      <p:sp>
        <p:nvSpPr>
          <p:cNvPr id="27" name="Text 24"/>
          <p:cNvSpPr txBox="1"/>
          <p:nvPr/>
        </p:nvSpPr>
        <p:spPr>
          <a:xfrm>
            <a:off x="6766560" y="3392424"/>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tendría que analizar la empresa antes de considerar un mercado internacional?</a:t>
            </a:r>
            <a:endParaRPr lang="en-US" sz="1100" dirty="0"/>
          </a:p>
        </p:txBody>
      </p:sp>
      <p:sp>
        <p:nvSpPr>
          <p:cNvPr id="28" name="Shape 25"/>
          <p:cNvSpPr/>
          <p:nvPr/>
        </p:nvSpPr>
        <p:spPr>
          <a:xfrm>
            <a:off x="841248" y="4800600"/>
            <a:ext cx="10515600" cy="777240"/>
          </a:xfrm>
          <a:prstGeom prst="roundRect">
            <a:avLst>
              <a:gd name="adj" fmla="val 11765"/>
            </a:avLst>
          </a:prstGeom>
          <a:solidFill>
            <a:srgbClr val="1B1C6E"/>
          </a:solidFill>
          <a:ln/>
        </p:spPr>
      </p:sp>
      <p:sp>
        <p:nvSpPr>
          <p:cNvPr id="29" name="Text 26"/>
          <p:cNvSpPr txBox="1"/>
          <p:nvPr/>
        </p:nvSpPr>
        <p:spPr>
          <a:xfrm>
            <a:off x="1115568" y="4873752"/>
            <a:ext cx="2194560" cy="256032"/>
          </a:xfrm>
          <a:prstGeom prst="rect">
            <a:avLst/>
          </a:prstGeom>
          <a:noFill/>
          <a:ln/>
        </p:spPr>
        <p:txBody>
          <a:bodyPr wrap="square" lIns="0" tIns="0" rIns="0" bIns="0" rtlCol="0" anchor="ctr"/>
          <a:lstStyle/>
          <a:p>
            <a:pPr indent="0" marL="0">
              <a:buNone/>
            </a:pPr>
            <a:r>
              <a:rPr lang="en-US" sz="950" b="1" dirty="0">
                <a:solidFill>
                  <a:srgbClr val="F9BB0B"/>
                </a:solidFill>
                <a:latin typeface="Tahoma" pitchFamily="34" charset="0"/>
                <a:ea typeface="Tahoma" pitchFamily="34" charset="-122"/>
                <a:cs typeface="Tahoma" pitchFamily="34" charset="-120"/>
              </a:rPr>
              <a:t>PREGUNTA DE CIERRE</a:t>
            </a:r>
            <a:endParaRPr lang="en-US" sz="950" dirty="0"/>
          </a:p>
        </p:txBody>
      </p:sp>
      <p:sp>
        <p:nvSpPr>
          <p:cNvPr id="30" name="Text 27"/>
          <p:cNvSpPr txBox="1"/>
          <p:nvPr/>
        </p:nvSpPr>
        <p:spPr>
          <a:xfrm>
            <a:off x="1115568" y="5111496"/>
            <a:ext cx="996696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¿Qué información económica necesitarían ustedes para recomendarle a la Junta Directiva crecer o no crecer?</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Preguntas desde Emprendimiento</a:t>
            </a:r>
            <a:endParaRPr lang="en-US" sz="2500" dirty="0"/>
          </a:p>
        </p:txBody>
      </p:sp>
      <p:sp>
        <p:nvSpPr>
          <p:cNvPr id="3" name="Shape 1"/>
          <p:cNvSpPr/>
          <p:nvPr/>
        </p:nvSpPr>
        <p:spPr>
          <a:xfrm>
            <a:off x="841248" y="1481328"/>
            <a:ext cx="2743200" cy="384048"/>
          </a:xfrm>
          <a:prstGeom prst="roundRect">
            <a:avLst>
              <a:gd name="adj" fmla="val 23810"/>
            </a:avLst>
          </a:prstGeom>
          <a:solidFill>
            <a:srgbClr val="F9BB0B"/>
          </a:solidFill>
          <a:ln/>
        </p:spPr>
      </p:sp>
      <p:sp>
        <p:nvSpPr>
          <p:cNvPr id="4" name="Text 2"/>
          <p:cNvSpPr txBox="1"/>
          <p:nvPr/>
        </p:nvSpPr>
        <p:spPr>
          <a:xfrm>
            <a:off x="841248" y="1481328"/>
            <a:ext cx="2743200" cy="384048"/>
          </a:xfrm>
          <a:prstGeom prst="rect">
            <a:avLst/>
          </a:prstGeom>
          <a:noFill/>
          <a:ln/>
        </p:spPr>
        <p:txBody>
          <a:bodyPr wrap="square" lIns="0" tIns="0" rIns="0" bIns="0" rtlCol="0" anchor="ctr"/>
          <a:lstStyle/>
          <a:p>
            <a:pPr algn="ctr" indent="0" marL="0">
              <a:buNone/>
            </a:pPr>
            <a:r>
              <a:rPr lang="en-US" sz="950" b="1" dirty="0">
                <a:solidFill>
                  <a:srgbClr val="1B1C6E"/>
                </a:solidFill>
                <a:latin typeface="Tahoma" pitchFamily="34" charset="0"/>
                <a:ea typeface="Tahoma" pitchFamily="34" charset="-122"/>
                <a:cs typeface="Tahoma" pitchFamily="34" charset="-120"/>
              </a:rPr>
              <a:t>ÁREA: EMPRENDIMIENTO</a:t>
            </a:r>
            <a:endParaRPr lang="en-US" sz="950" dirty="0"/>
          </a:p>
        </p:txBody>
      </p:sp>
      <p:sp>
        <p:nvSpPr>
          <p:cNvPr id="5" name="Text 3"/>
          <p:cNvSpPr txBox="1"/>
          <p:nvPr/>
        </p:nvSpPr>
        <p:spPr>
          <a:xfrm>
            <a:off x="3840480" y="1481328"/>
            <a:ext cx="5486400" cy="384048"/>
          </a:xfrm>
          <a:prstGeom prst="rect">
            <a:avLst/>
          </a:prstGeom>
          <a:noFill/>
          <a:ln/>
        </p:spPr>
        <p:txBody>
          <a:bodyPr wrap="square" lIns="0" tIns="0" rIns="0" bIns="0" rtlCol="0" anchor="ctr"/>
          <a:lstStyle/>
          <a:p>
            <a:pPr indent="0" marL="0">
              <a:buNone/>
            </a:pPr>
            <a:r>
              <a:rPr lang="en-US" sz="1300" b="1" i="1" dirty="0">
                <a:solidFill>
                  <a:srgbClr val="1B1C6E"/>
                </a:solidFill>
                <a:latin typeface="Calibri" pitchFamily="34" charset="0"/>
                <a:ea typeface="Calibri" pitchFamily="34" charset="-122"/>
                <a:cs typeface="Calibri" pitchFamily="34" charset="-120"/>
              </a:rPr>
              <a:t>Crecer no significa simplemente vender más</a:t>
            </a:r>
            <a:endParaRPr lang="en-US" sz="1300" dirty="0"/>
          </a:p>
        </p:txBody>
      </p:sp>
      <p:sp>
        <p:nvSpPr>
          <p:cNvPr id="6" name="Text 4"/>
          <p:cNvSpPr txBox="1"/>
          <p:nvPr/>
        </p:nvSpPr>
        <p:spPr>
          <a:xfrm>
            <a:off x="841248" y="1965960"/>
            <a:ext cx="8503920" cy="594360"/>
          </a:xfrm>
          <a:prstGeom prst="rect">
            <a:avLst/>
          </a:prstGeom>
          <a:noFill/>
          <a:ln/>
        </p:spPr>
        <p:txBody>
          <a:bodyPr wrap="square" lIns="0" tIns="0" rIns="0" bIns="0" rtlCol="0" anchor="t"/>
          <a:lstStyle/>
          <a:p>
            <a:pPr indent="0" marL="0">
              <a:lnSpc>
                <a:spcPts val="1600"/>
              </a:lnSpc>
              <a:buNone/>
            </a:pPr>
            <a:r>
              <a:rPr lang="en-US" sz="1150" dirty="0">
                <a:solidFill>
                  <a:srgbClr val="55565E"/>
                </a:solidFill>
                <a:latin typeface="Calibri" pitchFamily="34" charset="0"/>
                <a:ea typeface="Calibri" pitchFamily="34" charset="-122"/>
                <a:cs typeface="Calibri" pitchFamily="34" charset="-120"/>
              </a:rPr>
              <a:t>La discusión se desplaza hacia el mercado y hacia la capacidad de la empresa para generar valor: necesidades del consumidor, propuesta de valor, segmentación, innovación y modelo de negocio.</a:t>
            </a:r>
            <a:endParaRPr lang="en-US" sz="1150" dirty="0"/>
          </a:p>
        </p:txBody>
      </p:sp>
      <p:pic>
        <p:nvPicPr>
          <p:cNvPr id="7" name="Image 0" descr="preencoded.png">    </p:cNvPr>
          <p:cNvPicPr>
            <a:picLocks noChangeAspect="1"/>
          </p:cNvPicPr>
          <p:nvPr/>
        </p:nvPicPr>
        <p:blipFill>
          <a:blip r:embed="rId2"/>
          <a:stretch>
            <a:fillRect/>
          </a:stretch>
        </p:blipFill>
        <p:spPr>
          <a:xfrm>
            <a:off x="9555480" y="1481328"/>
            <a:ext cx="1783080" cy="1234440"/>
          </a:xfrm>
          <a:prstGeom prst="rect">
            <a:avLst/>
          </a:prstGeom>
        </p:spPr>
      </p:pic>
      <p:sp>
        <p:nvSpPr>
          <p:cNvPr id="8" name="Shape 5"/>
          <p:cNvSpPr/>
          <p:nvPr/>
        </p:nvSpPr>
        <p:spPr>
          <a:xfrm>
            <a:off x="841248" y="2788920"/>
            <a:ext cx="5120640" cy="530352"/>
          </a:xfrm>
          <a:prstGeom prst="roundRect">
            <a:avLst>
              <a:gd name="adj" fmla="val 13793"/>
            </a:avLst>
          </a:prstGeom>
          <a:solidFill>
            <a:srgbClr val="F1F2F8"/>
          </a:solidFill>
          <a:ln/>
        </p:spPr>
      </p:sp>
      <p:sp>
        <p:nvSpPr>
          <p:cNvPr id="9" name="Shape 6"/>
          <p:cNvSpPr/>
          <p:nvPr/>
        </p:nvSpPr>
        <p:spPr>
          <a:xfrm>
            <a:off x="987552" y="2916936"/>
            <a:ext cx="274320" cy="274320"/>
          </a:xfrm>
          <a:prstGeom prst="ellipse">
            <a:avLst/>
          </a:prstGeom>
          <a:solidFill>
            <a:srgbClr val="1B1C6E"/>
          </a:solidFill>
          <a:ln/>
        </p:spPr>
      </p:sp>
      <p:sp>
        <p:nvSpPr>
          <p:cNvPr id="10" name="Text 7"/>
          <p:cNvSpPr txBox="1"/>
          <p:nvPr/>
        </p:nvSpPr>
        <p:spPr>
          <a:xfrm>
            <a:off x="987552" y="2916936"/>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1</a:t>
            </a:r>
            <a:endParaRPr lang="en-US" sz="1000" dirty="0"/>
          </a:p>
        </p:txBody>
      </p:sp>
      <p:sp>
        <p:nvSpPr>
          <p:cNvPr id="11" name="Text 8"/>
          <p:cNvSpPr txBox="1"/>
          <p:nvPr/>
        </p:nvSpPr>
        <p:spPr>
          <a:xfrm>
            <a:off x="1371600" y="2788920"/>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oportunidad de negocio está desaprovechando actualmente Café de Montaña?</a:t>
            </a:r>
            <a:endParaRPr lang="en-US" sz="1100" dirty="0"/>
          </a:p>
        </p:txBody>
      </p:sp>
      <p:sp>
        <p:nvSpPr>
          <p:cNvPr id="12" name="Shape 9"/>
          <p:cNvSpPr/>
          <p:nvPr/>
        </p:nvSpPr>
        <p:spPr>
          <a:xfrm>
            <a:off x="841248" y="3392424"/>
            <a:ext cx="5120640" cy="530352"/>
          </a:xfrm>
          <a:prstGeom prst="roundRect">
            <a:avLst>
              <a:gd name="adj" fmla="val 13793"/>
            </a:avLst>
          </a:prstGeom>
          <a:solidFill>
            <a:srgbClr val="F1F2F8"/>
          </a:solidFill>
          <a:ln/>
        </p:spPr>
      </p:sp>
      <p:sp>
        <p:nvSpPr>
          <p:cNvPr id="13" name="Shape 10"/>
          <p:cNvSpPr/>
          <p:nvPr/>
        </p:nvSpPr>
        <p:spPr>
          <a:xfrm>
            <a:off x="987552" y="3520440"/>
            <a:ext cx="274320" cy="274320"/>
          </a:xfrm>
          <a:prstGeom prst="ellipse">
            <a:avLst/>
          </a:prstGeom>
          <a:solidFill>
            <a:srgbClr val="1B1C6E"/>
          </a:solidFill>
          <a:ln/>
        </p:spPr>
      </p:sp>
      <p:sp>
        <p:nvSpPr>
          <p:cNvPr id="14" name="Text 11"/>
          <p:cNvSpPr txBox="1"/>
          <p:nvPr/>
        </p:nvSpPr>
        <p:spPr>
          <a:xfrm>
            <a:off x="987552" y="3520440"/>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2</a:t>
            </a:r>
            <a:endParaRPr lang="en-US" sz="1000" dirty="0"/>
          </a:p>
        </p:txBody>
      </p:sp>
      <p:sp>
        <p:nvSpPr>
          <p:cNvPr id="15" name="Text 12"/>
          <p:cNvSpPr txBox="1"/>
          <p:nvPr/>
        </p:nvSpPr>
        <p:spPr>
          <a:xfrm>
            <a:off x="1371600" y="3392424"/>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¿Debería la empresa vender más del mismo producto o crear una nueva propuesta de valor?</a:t>
            </a:r>
            <a:endParaRPr lang="en-US" sz="1100" dirty="0"/>
          </a:p>
        </p:txBody>
      </p:sp>
      <p:sp>
        <p:nvSpPr>
          <p:cNvPr id="16" name="Shape 13"/>
          <p:cNvSpPr/>
          <p:nvPr/>
        </p:nvSpPr>
        <p:spPr>
          <a:xfrm>
            <a:off x="841248" y="3995928"/>
            <a:ext cx="5120640" cy="530352"/>
          </a:xfrm>
          <a:prstGeom prst="roundRect">
            <a:avLst>
              <a:gd name="adj" fmla="val 13793"/>
            </a:avLst>
          </a:prstGeom>
          <a:solidFill>
            <a:srgbClr val="F1F2F8"/>
          </a:solidFill>
          <a:ln/>
        </p:spPr>
      </p:sp>
      <p:sp>
        <p:nvSpPr>
          <p:cNvPr id="17" name="Shape 14"/>
          <p:cNvSpPr/>
          <p:nvPr/>
        </p:nvSpPr>
        <p:spPr>
          <a:xfrm>
            <a:off x="987552" y="4123944"/>
            <a:ext cx="274320" cy="274320"/>
          </a:xfrm>
          <a:prstGeom prst="ellipse">
            <a:avLst/>
          </a:prstGeom>
          <a:solidFill>
            <a:srgbClr val="1B1C6E"/>
          </a:solidFill>
          <a:ln/>
        </p:spPr>
      </p:sp>
      <p:sp>
        <p:nvSpPr>
          <p:cNvPr id="18" name="Text 15"/>
          <p:cNvSpPr txBox="1"/>
          <p:nvPr/>
        </p:nvSpPr>
        <p:spPr>
          <a:xfrm>
            <a:off x="987552" y="4123944"/>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3</a:t>
            </a:r>
            <a:endParaRPr lang="en-US" sz="1000" dirty="0"/>
          </a:p>
        </p:txBody>
      </p:sp>
      <p:sp>
        <p:nvSpPr>
          <p:cNvPr id="19" name="Text 16"/>
          <p:cNvSpPr txBox="1"/>
          <p:nvPr/>
        </p:nvSpPr>
        <p:spPr>
          <a:xfrm>
            <a:off x="1371600" y="3995928"/>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estaría dispuesto a pagar el cliente y por qué?</a:t>
            </a:r>
            <a:endParaRPr lang="en-US" sz="1100" dirty="0"/>
          </a:p>
        </p:txBody>
      </p:sp>
      <p:sp>
        <p:nvSpPr>
          <p:cNvPr id="20" name="Shape 17"/>
          <p:cNvSpPr/>
          <p:nvPr/>
        </p:nvSpPr>
        <p:spPr>
          <a:xfrm>
            <a:off x="6236208" y="2788920"/>
            <a:ext cx="5120640" cy="530352"/>
          </a:xfrm>
          <a:prstGeom prst="roundRect">
            <a:avLst>
              <a:gd name="adj" fmla="val 13793"/>
            </a:avLst>
          </a:prstGeom>
          <a:solidFill>
            <a:srgbClr val="F1F2F8"/>
          </a:solidFill>
          <a:ln/>
        </p:spPr>
      </p:sp>
      <p:sp>
        <p:nvSpPr>
          <p:cNvPr id="21" name="Shape 18"/>
          <p:cNvSpPr/>
          <p:nvPr/>
        </p:nvSpPr>
        <p:spPr>
          <a:xfrm>
            <a:off x="6382512" y="2916936"/>
            <a:ext cx="274320" cy="274320"/>
          </a:xfrm>
          <a:prstGeom prst="ellipse">
            <a:avLst/>
          </a:prstGeom>
          <a:solidFill>
            <a:srgbClr val="1B1C6E"/>
          </a:solidFill>
          <a:ln/>
        </p:spPr>
      </p:sp>
      <p:sp>
        <p:nvSpPr>
          <p:cNvPr id="22" name="Text 19"/>
          <p:cNvSpPr txBox="1"/>
          <p:nvPr/>
        </p:nvSpPr>
        <p:spPr>
          <a:xfrm>
            <a:off x="6382512" y="2916936"/>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4</a:t>
            </a:r>
            <a:endParaRPr lang="en-US" sz="1000" dirty="0"/>
          </a:p>
        </p:txBody>
      </p:sp>
      <p:sp>
        <p:nvSpPr>
          <p:cNvPr id="23" name="Text 20"/>
          <p:cNvSpPr txBox="1"/>
          <p:nvPr/>
        </p:nvSpPr>
        <p:spPr>
          <a:xfrm>
            <a:off x="6766560" y="2788920"/>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tendría que cambiar en su modelo de negocio para llegar a nuevos mercados?</a:t>
            </a:r>
            <a:endParaRPr lang="en-US" sz="1100" dirty="0"/>
          </a:p>
        </p:txBody>
      </p:sp>
      <p:sp>
        <p:nvSpPr>
          <p:cNvPr id="24" name="Shape 21"/>
          <p:cNvSpPr/>
          <p:nvPr/>
        </p:nvSpPr>
        <p:spPr>
          <a:xfrm>
            <a:off x="6236208" y="3392424"/>
            <a:ext cx="5120640" cy="530352"/>
          </a:xfrm>
          <a:prstGeom prst="roundRect">
            <a:avLst>
              <a:gd name="adj" fmla="val 13793"/>
            </a:avLst>
          </a:prstGeom>
          <a:solidFill>
            <a:srgbClr val="F1F2F8"/>
          </a:solidFill>
          <a:ln/>
        </p:spPr>
      </p:sp>
      <p:sp>
        <p:nvSpPr>
          <p:cNvPr id="25" name="Shape 22"/>
          <p:cNvSpPr/>
          <p:nvPr/>
        </p:nvSpPr>
        <p:spPr>
          <a:xfrm>
            <a:off x="6382512" y="3520440"/>
            <a:ext cx="274320" cy="274320"/>
          </a:xfrm>
          <a:prstGeom prst="ellipse">
            <a:avLst/>
          </a:prstGeom>
          <a:solidFill>
            <a:srgbClr val="1B1C6E"/>
          </a:solidFill>
          <a:ln/>
        </p:spPr>
      </p:sp>
      <p:sp>
        <p:nvSpPr>
          <p:cNvPr id="26" name="Text 23"/>
          <p:cNvSpPr txBox="1"/>
          <p:nvPr/>
        </p:nvSpPr>
        <p:spPr>
          <a:xfrm>
            <a:off x="6382512" y="3520440"/>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5</a:t>
            </a:r>
            <a:endParaRPr lang="en-US" sz="1000" dirty="0"/>
          </a:p>
        </p:txBody>
      </p:sp>
      <p:sp>
        <p:nvSpPr>
          <p:cNvPr id="27" name="Text 24"/>
          <p:cNvSpPr txBox="1"/>
          <p:nvPr/>
        </p:nvSpPr>
        <p:spPr>
          <a:xfrm>
            <a:off x="6766560" y="3392424"/>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¿La sostenibilidad puede convertirse en una ventaja competitiva o solamente representa un costo adicional?</a:t>
            </a:r>
            <a:endParaRPr lang="en-US" sz="1100" dirty="0"/>
          </a:p>
        </p:txBody>
      </p:sp>
      <p:sp>
        <p:nvSpPr>
          <p:cNvPr id="28" name="Shape 25"/>
          <p:cNvSpPr/>
          <p:nvPr/>
        </p:nvSpPr>
        <p:spPr>
          <a:xfrm>
            <a:off x="841248" y="4800600"/>
            <a:ext cx="10515600" cy="777240"/>
          </a:xfrm>
          <a:prstGeom prst="roundRect">
            <a:avLst>
              <a:gd name="adj" fmla="val 11765"/>
            </a:avLst>
          </a:prstGeom>
          <a:solidFill>
            <a:srgbClr val="1B1C6E"/>
          </a:solidFill>
          <a:ln/>
        </p:spPr>
      </p:sp>
      <p:sp>
        <p:nvSpPr>
          <p:cNvPr id="29" name="Text 26"/>
          <p:cNvSpPr txBox="1"/>
          <p:nvPr/>
        </p:nvSpPr>
        <p:spPr>
          <a:xfrm>
            <a:off x="1115568" y="4873752"/>
            <a:ext cx="2194560" cy="256032"/>
          </a:xfrm>
          <a:prstGeom prst="rect">
            <a:avLst/>
          </a:prstGeom>
          <a:noFill/>
          <a:ln/>
        </p:spPr>
        <p:txBody>
          <a:bodyPr wrap="square" lIns="0" tIns="0" rIns="0" bIns="0" rtlCol="0" anchor="ctr"/>
          <a:lstStyle/>
          <a:p>
            <a:pPr indent="0" marL="0">
              <a:buNone/>
            </a:pPr>
            <a:r>
              <a:rPr lang="en-US" sz="950" b="1" dirty="0">
                <a:solidFill>
                  <a:srgbClr val="F9BB0B"/>
                </a:solidFill>
                <a:latin typeface="Tahoma" pitchFamily="34" charset="0"/>
                <a:ea typeface="Tahoma" pitchFamily="34" charset="-122"/>
                <a:cs typeface="Tahoma" pitchFamily="34" charset="-120"/>
              </a:rPr>
              <a:t>PREGUNTA DE CIERRE</a:t>
            </a:r>
            <a:endParaRPr lang="en-US" sz="950" dirty="0"/>
          </a:p>
        </p:txBody>
      </p:sp>
      <p:sp>
        <p:nvSpPr>
          <p:cNvPr id="30" name="Text 27"/>
          <p:cNvSpPr txBox="1"/>
          <p:nvPr/>
        </p:nvSpPr>
        <p:spPr>
          <a:xfrm>
            <a:off x="1115568" y="5111496"/>
            <a:ext cx="996696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 ustedes fueran los emprendedores, ¿qué nueva oportunidad desarrollarían y para qué tipo de cliente?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Preguntas desde Proyectos</a:t>
            </a:r>
            <a:endParaRPr lang="en-US" sz="2500" dirty="0"/>
          </a:p>
        </p:txBody>
      </p:sp>
      <p:sp>
        <p:nvSpPr>
          <p:cNvPr id="3" name="Shape 1"/>
          <p:cNvSpPr/>
          <p:nvPr/>
        </p:nvSpPr>
        <p:spPr>
          <a:xfrm>
            <a:off x="841248" y="1481328"/>
            <a:ext cx="2194560" cy="384048"/>
          </a:xfrm>
          <a:prstGeom prst="roundRect">
            <a:avLst>
              <a:gd name="adj" fmla="val 23810"/>
            </a:avLst>
          </a:prstGeom>
          <a:solidFill>
            <a:srgbClr val="F9BB0B"/>
          </a:solidFill>
          <a:ln/>
        </p:spPr>
      </p:sp>
      <p:sp>
        <p:nvSpPr>
          <p:cNvPr id="4" name="Text 2"/>
          <p:cNvSpPr txBox="1"/>
          <p:nvPr/>
        </p:nvSpPr>
        <p:spPr>
          <a:xfrm>
            <a:off x="841248" y="1481328"/>
            <a:ext cx="2194560" cy="384048"/>
          </a:xfrm>
          <a:prstGeom prst="rect">
            <a:avLst/>
          </a:prstGeom>
          <a:noFill/>
          <a:ln/>
        </p:spPr>
        <p:txBody>
          <a:bodyPr wrap="square" lIns="0" tIns="0" rIns="0" bIns="0" rtlCol="0" anchor="ctr"/>
          <a:lstStyle/>
          <a:p>
            <a:pPr algn="ctr" indent="0" marL="0">
              <a:buNone/>
            </a:pPr>
            <a:r>
              <a:rPr lang="en-US" sz="950" b="1" dirty="0">
                <a:solidFill>
                  <a:srgbClr val="1B1C6E"/>
                </a:solidFill>
                <a:latin typeface="Tahoma" pitchFamily="34" charset="0"/>
                <a:ea typeface="Tahoma" pitchFamily="34" charset="-122"/>
                <a:cs typeface="Tahoma" pitchFamily="34" charset="-120"/>
              </a:rPr>
              <a:t>ÁREA: PROYECTOS</a:t>
            </a:r>
            <a:endParaRPr lang="en-US" sz="950" dirty="0"/>
          </a:p>
        </p:txBody>
      </p:sp>
      <p:sp>
        <p:nvSpPr>
          <p:cNvPr id="5" name="Text 3"/>
          <p:cNvSpPr txBox="1"/>
          <p:nvPr/>
        </p:nvSpPr>
        <p:spPr>
          <a:xfrm>
            <a:off x="3291840" y="1481328"/>
            <a:ext cx="6035040" cy="384048"/>
          </a:xfrm>
          <a:prstGeom prst="rect">
            <a:avLst/>
          </a:prstGeom>
          <a:noFill/>
          <a:ln/>
        </p:spPr>
        <p:txBody>
          <a:bodyPr wrap="square" lIns="0" tIns="0" rIns="0" bIns="0" rtlCol="0" anchor="ctr"/>
          <a:lstStyle/>
          <a:p>
            <a:pPr indent="0" marL="0">
              <a:buNone/>
            </a:pPr>
            <a:r>
              <a:rPr lang="en-US" sz="1300" b="1" i="1" dirty="0">
                <a:solidFill>
                  <a:srgbClr val="1B1C6E"/>
                </a:solidFill>
                <a:latin typeface="Calibri" pitchFamily="34" charset="0"/>
                <a:ea typeface="Calibri" pitchFamily="34" charset="-122"/>
                <a:cs typeface="Calibri" pitchFamily="34" charset="-120"/>
              </a:rPr>
              <a:t>Una buena idea necesita convertirse en un proyecto viable</a:t>
            </a:r>
            <a:endParaRPr lang="en-US" sz="1300" dirty="0"/>
          </a:p>
        </p:txBody>
      </p:sp>
      <p:sp>
        <p:nvSpPr>
          <p:cNvPr id="6" name="Text 4"/>
          <p:cNvSpPr txBox="1"/>
          <p:nvPr/>
        </p:nvSpPr>
        <p:spPr>
          <a:xfrm>
            <a:off x="841248" y="1965960"/>
            <a:ext cx="8503920" cy="594360"/>
          </a:xfrm>
          <a:prstGeom prst="rect">
            <a:avLst/>
          </a:prstGeom>
          <a:noFill/>
          <a:ln/>
        </p:spPr>
        <p:txBody>
          <a:bodyPr wrap="square" lIns="0" tIns="0" rIns="0" bIns="0" rtlCol="0" anchor="t"/>
          <a:lstStyle/>
          <a:p>
            <a:pPr indent="0" marL="0">
              <a:lnSpc>
                <a:spcPts val="1600"/>
              </a:lnSpc>
              <a:buNone/>
            </a:pPr>
            <a:r>
              <a:rPr lang="en-US" sz="1150" dirty="0">
                <a:solidFill>
                  <a:srgbClr val="55565E"/>
                </a:solidFill>
                <a:latin typeface="Calibri" pitchFamily="34" charset="0"/>
                <a:ea typeface="Calibri" pitchFamily="34" charset="-122"/>
                <a:cs typeface="Calibri" pitchFamily="34" charset="-120"/>
              </a:rPr>
              <a:t>Identificar una oportunidad no significa que pueda ejecutarse. La empresa debe definir qué quiere lograr, cuánto cuesta, qué recursos necesita, cuánto tiempo requiere, qué riesgos enfrenta, cómo lo financia y cómo mide resultados.</a:t>
            </a:r>
            <a:endParaRPr lang="en-US" sz="1150" dirty="0"/>
          </a:p>
        </p:txBody>
      </p:sp>
      <p:pic>
        <p:nvPicPr>
          <p:cNvPr id="7" name="Image 0" descr="preencoded.png">    </p:cNvPr>
          <p:cNvPicPr>
            <a:picLocks noChangeAspect="1"/>
          </p:cNvPicPr>
          <p:nvPr/>
        </p:nvPicPr>
        <p:blipFill>
          <a:blip r:embed="rId2"/>
          <a:stretch>
            <a:fillRect/>
          </a:stretch>
        </p:blipFill>
        <p:spPr>
          <a:xfrm>
            <a:off x="9555480" y="1481328"/>
            <a:ext cx="1783080" cy="1234440"/>
          </a:xfrm>
          <a:prstGeom prst="rect">
            <a:avLst/>
          </a:prstGeom>
        </p:spPr>
      </p:pic>
      <p:sp>
        <p:nvSpPr>
          <p:cNvPr id="8" name="Shape 5"/>
          <p:cNvSpPr/>
          <p:nvPr/>
        </p:nvSpPr>
        <p:spPr>
          <a:xfrm>
            <a:off x="841248" y="2788920"/>
            <a:ext cx="5120640" cy="530352"/>
          </a:xfrm>
          <a:prstGeom prst="roundRect">
            <a:avLst>
              <a:gd name="adj" fmla="val 13793"/>
            </a:avLst>
          </a:prstGeom>
          <a:solidFill>
            <a:srgbClr val="FDF4DC"/>
          </a:solidFill>
          <a:ln/>
        </p:spPr>
      </p:sp>
      <p:sp>
        <p:nvSpPr>
          <p:cNvPr id="9" name="Shape 6"/>
          <p:cNvSpPr/>
          <p:nvPr/>
        </p:nvSpPr>
        <p:spPr>
          <a:xfrm>
            <a:off x="987552" y="2916936"/>
            <a:ext cx="274320" cy="274320"/>
          </a:xfrm>
          <a:prstGeom prst="ellipse">
            <a:avLst/>
          </a:prstGeom>
          <a:solidFill>
            <a:srgbClr val="1B1C6E"/>
          </a:solidFill>
          <a:ln/>
        </p:spPr>
      </p:sp>
      <p:sp>
        <p:nvSpPr>
          <p:cNvPr id="10" name="Text 7"/>
          <p:cNvSpPr txBox="1"/>
          <p:nvPr/>
        </p:nvSpPr>
        <p:spPr>
          <a:xfrm>
            <a:off x="987552" y="2916936"/>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1</a:t>
            </a:r>
            <a:endParaRPr lang="en-US" sz="1000" dirty="0"/>
          </a:p>
        </p:txBody>
      </p:sp>
      <p:sp>
        <p:nvSpPr>
          <p:cNvPr id="11" name="Text 8"/>
          <p:cNvSpPr txBox="1"/>
          <p:nvPr/>
        </p:nvSpPr>
        <p:spPr>
          <a:xfrm>
            <a:off x="1371600" y="2788920"/>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proyecto debería ejecutar primero la empresa?</a:t>
            </a:r>
            <a:endParaRPr lang="en-US" sz="1100" dirty="0"/>
          </a:p>
        </p:txBody>
      </p:sp>
      <p:sp>
        <p:nvSpPr>
          <p:cNvPr id="12" name="Shape 9"/>
          <p:cNvSpPr/>
          <p:nvPr/>
        </p:nvSpPr>
        <p:spPr>
          <a:xfrm>
            <a:off x="841248" y="3392424"/>
            <a:ext cx="5120640" cy="530352"/>
          </a:xfrm>
          <a:prstGeom prst="roundRect">
            <a:avLst>
              <a:gd name="adj" fmla="val 13793"/>
            </a:avLst>
          </a:prstGeom>
          <a:solidFill>
            <a:srgbClr val="FDF4DC"/>
          </a:solidFill>
          <a:ln/>
        </p:spPr>
      </p:sp>
      <p:sp>
        <p:nvSpPr>
          <p:cNvPr id="13" name="Shape 10"/>
          <p:cNvSpPr/>
          <p:nvPr/>
        </p:nvSpPr>
        <p:spPr>
          <a:xfrm>
            <a:off x="987552" y="3520440"/>
            <a:ext cx="274320" cy="274320"/>
          </a:xfrm>
          <a:prstGeom prst="ellipse">
            <a:avLst/>
          </a:prstGeom>
          <a:solidFill>
            <a:srgbClr val="1B1C6E"/>
          </a:solidFill>
          <a:ln/>
        </p:spPr>
      </p:sp>
      <p:sp>
        <p:nvSpPr>
          <p:cNvPr id="14" name="Text 11"/>
          <p:cNvSpPr txBox="1"/>
          <p:nvPr/>
        </p:nvSpPr>
        <p:spPr>
          <a:xfrm>
            <a:off x="987552" y="3520440"/>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2</a:t>
            </a:r>
            <a:endParaRPr lang="en-US" sz="1000" dirty="0"/>
          </a:p>
        </p:txBody>
      </p:sp>
      <p:sp>
        <p:nvSpPr>
          <p:cNvPr id="15" name="Text 12"/>
          <p:cNvSpPr txBox="1"/>
          <p:nvPr/>
        </p:nvSpPr>
        <p:spPr>
          <a:xfrm>
            <a:off x="1371600" y="3392424"/>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¿Debe realizar todas las inversiones al mismo tiempo o hacerlo por etapas?</a:t>
            </a:r>
            <a:endParaRPr lang="en-US" sz="1100" dirty="0"/>
          </a:p>
        </p:txBody>
      </p:sp>
      <p:sp>
        <p:nvSpPr>
          <p:cNvPr id="16" name="Shape 13"/>
          <p:cNvSpPr/>
          <p:nvPr/>
        </p:nvSpPr>
        <p:spPr>
          <a:xfrm>
            <a:off x="841248" y="3995928"/>
            <a:ext cx="5120640" cy="530352"/>
          </a:xfrm>
          <a:prstGeom prst="roundRect">
            <a:avLst>
              <a:gd name="adj" fmla="val 13793"/>
            </a:avLst>
          </a:prstGeom>
          <a:solidFill>
            <a:srgbClr val="FDF4DC"/>
          </a:solidFill>
          <a:ln/>
        </p:spPr>
      </p:sp>
      <p:sp>
        <p:nvSpPr>
          <p:cNvPr id="17" name="Shape 14"/>
          <p:cNvSpPr/>
          <p:nvPr/>
        </p:nvSpPr>
        <p:spPr>
          <a:xfrm>
            <a:off x="987552" y="4123944"/>
            <a:ext cx="274320" cy="274320"/>
          </a:xfrm>
          <a:prstGeom prst="ellipse">
            <a:avLst/>
          </a:prstGeom>
          <a:solidFill>
            <a:srgbClr val="1B1C6E"/>
          </a:solidFill>
          <a:ln/>
        </p:spPr>
      </p:sp>
      <p:sp>
        <p:nvSpPr>
          <p:cNvPr id="18" name="Text 15"/>
          <p:cNvSpPr txBox="1"/>
          <p:nvPr/>
        </p:nvSpPr>
        <p:spPr>
          <a:xfrm>
            <a:off x="987552" y="4123944"/>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3</a:t>
            </a:r>
            <a:endParaRPr lang="en-US" sz="1000" dirty="0"/>
          </a:p>
        </p:txBody>
      </p:sp>
      <p:sp>
        <p:nvSpPr>
          <p:cNvPr id="19" name="Text 16"/>
          <p:cNvSpPr txBox="1"/>
          <p:nvPr/>
        </p:nvSpPr>
        <p:spPr>
          <a:xfrm>
            <a:off x="1371600" y="3995928"/>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recursos necesita para ejecutar la estrategia?</a:t>
            </a:r>
            <a:endParaRPr lang="en-US" sz="1100" dirty="0"/>
          </a:p>
        </p:txBody>
      </p:sp>
      <p:sp>
        <p:nvSpPr>
          <p:cNvPr id="20" name="Shape 17"/>
          <p:cNvSpPr/>
          <p:nvPr/>
        </p:nvSpPr>
        <p:spPr>
          <a:xfrm>
            <a:off x="6236208" y="2788920"/>
            <a:ext cx="5120640" cy="530352"/>
          </a:xfrm>
          <a:prstGeom prst="roundRect">
            <a:avLst>
              <a:gd name="adj" fmla="val 13793"/>
            </a:avLst>
          </a:prstGeom>
          <a:solidFill>
            <a:srgbClr val="FDF4DC"/>
          </a:solidFill>
          <a:ln/>
        </p:spPr>
      </p:sp>
      <p:sp>
        <p:nvSpPr>
          <p:cNvPr id="21" name="Shape 18"/>
          <p:cNvSpPr/>
          <p:nvPr/>
        </p:nvSpPr>
        <p:spPr>
          <a:xfrm>
            <a:off x="6382512" y="2916936"/>
            <a:ext cx="274320" cy="274320"/>
          </a:xfrm>
          <a:prstGeom prst="ellipse">
            <a:avLst/>
          </a:prstGeom>
          <a:solidFill>
            <a:srgbClr val="1B1C6E"/>
          </a:solidFill>
          <a:ln/>
        </p:spPr>
      </p:sp>
      <p:sp>
        <p:nvSpPr>
          <p:cNvPr id="22" name="Text 19"/>
          <p:cNvSpPr txBox="1"/>
          <p:nvPr/>
        </p:nvSpPr>
        <p:spPr>
          <a:xfrm>
            <a:off x="6382512" y="2916936"/>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4</a:t>
            </a:r>
            <a:endParaRPr lang="en-US" sz="1000" dirty="0"/>
          </a:p>
        </p:txBody>
      </p:sp>
      <p:sp>
        <p:nvSpPr>
          <p:cNvPr id="23" name="Text 20"/>
          <p:cNvSpPr txBox="1"/>
          <p:nvPr/>
        </p:nvSpPr>
        <p:spPr>
          <a:xfrm>
            <a:off x="6766560" y="2788920"/>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¿Cómo podría financiar el proyecto?</a:t>
            </a:r>
            <a:endParaRPr lang="en-US" sz="1100" dirty="0"/>
          </a:p>
        </p:txBody>
      </p:sp>
      <p:sp>
        <p:nvSpPr>
          <p:cNvPr id="24" name="Shape 21"/>
          <p:cNvSpPr/>
          <p:nvPr/>
        </p:nvSpPr>
        <p:spPr>
          <a:xfrm>
            <a:off x="6236208" y="3392424"/>
            <a:ext cx="5120640" cy="530352"/>
          </a:xfrm>
          <a:prstGeom prst="roundRect">
            <a:avLst>
              <a:gd name="adj" fmla="val 13793"/>
            </a:avLst>
          </a:prstGeom>
          <a:solidFill>
            <a:srgbClr val="FDF4DC"/>
          </a:solidFill>
          <a:ln/>
        </p:spPr>
      </p:sp>
      <p:sp>
        <p:nvSpPr>
          <p:cNvPr id="25" name="Shape 22"/>
          <p:cNvSpPr/>
          <p:nvPr/>
        </p:nvSpPr>
        <p:spPr>
          <a:xfrm>
            <a:off x="6382512" y="3520440"/>
            <a:ext cx="274320" cy="274320"/>
          </a:xfrm>
          <a:prstGeom prst="ellipse">
            <a:avLst/>
          </a:prstGeom>
          <a:solidFill>
            <a:srgbClr val="1B1C6E"/>
          </a:solidFill>
          <a:ln/>
        </p:spPr>
      </p:sp>
      <p:sp>
        <p:nvSpPr>
          <p:cNvPr id="26" name="Text 23"/>
          <p:cNvSpPr txBox="1"/>
          <p:nvPr/>
        </p:nvSpPr>
        <p:spPr>
          <a:xfrm>
            <a:off x="6382512" y="3520440"/>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5</a:t>
            </a:r>
            <a:endParaRPr lang="en-US" sz="1000" dirty="0"/>
          </a:p>
        </p:txBody>
      </p:sp>
      <p:sp>
        <p:nvSpPr>
          <p:cNvPr id="27" name="Text 24"/>
          <p:cNvSpPr txBox="1"/>
          <p:nvPr/>
        </p:nvSpPr>
        <p:spPr>
          <a:xfrm>
            <a:off x="6766560" y="3392424"/>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riesgos podrían hacer fracasar la iniciativa?</a:t>
            </a:r>
            <a:endParaRPr lang="en-US" sz="1100" dirty="0"/>
          </a:p>
        </p:txBody>
      </p:sp>
      <p:sp>
        <p:nvSpPr>
          <p:cNvPr id="28" name="Shape 25"/>
          <p:cNvSpPr/>
          <p:nvPr/>
        </p:nvSpPr>
        <p:spPr>
          <a:xfrm>
            <a:off x="6236208" y="3995928"/>
            <a:ext cx="5120640" cy="530352"/>
          </a:xfrm>
          <a:prstGeom prst="roundRect">
            <a:avLst>
              <a:gd name="adj" fmla="val 13793"/>
            </a:avLst>
          </a:prstGeom>
          <a:solidFill>
            <a:srgbClr val="FDF4DC"/>
          </a:solidFill>
          <a:ln/>
        </p:spPr>
      </p:sp>
      <p:sp>
        <p:nvSpPr>
          <p:cNvPr id="29" name="Shape 26"/>
          <p:cNvSpPr/>
          <p:nvPr/>
        </p:nvSpPr>
        <p:spPr>
          <a:xfrm>
            <a:off x="6382512" y="4123944"/>
            <a:ext cx="274320" cy="274320"/>
          </a:xfrm>
          <a:prstGeom prst="ellipse">
            <a:avLst/>
          </a:prstGeom>
          <a:solidFill>
            <a:srgbClr val="1B1C6E"/>
          </a:solidFill>
          <a:ln/>
        </p:spPr>
      </p:sp>
      <p:sp>
        <p:nvSpPr>
          <p:cNvPr id="30" name="Text 27"/>
          <p:cNvSpPr txBox="1"/>
          <p:nvPr/>
        </p:nvSpPr>
        <p:spPr>
          <a:xfrm>
            <a:off x="6382512" y="4123944"/>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6</a:t>
            </a:r>
            <a:endParaRPr lang="en-US" sz="1000" dirty="0"/>
          </a:p>
        </p:txBody>
      </p:sp>
      <p:sp>
        <p:nvSpPr>
          <p:cNvPr id="31" name="Text 28"/>
          <p:cNvSpPr txBox="1"/>
          <p:nvPr/>
        </p:nvSpPr>
        <p:spPr>
          <a:xfrm>
            <a:off x="6766560" y="3995928"/>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indicadores deberían utilizarse para determinar si el proyecto fue exitoso?</a:t>
            </a:r>
            <a:endParaRPr lang="en-US" sz="1100" dirty="0"/>
          </a:p>
        </p:txBody>
      </p:sp>
      <p:sp>
        <p:nvSpPr>
          <p:cNvPr id="32" name="Shape 29"/>
          <p:cNvSpPr/>
          <p:nvPr/>
        </p:nvSpPr>
        <p:spPr>
          <a:xfrm>
            <a:off x="841248" y="4800600"/>
            <a:ext cx="10515600" cy="777240"/>
          </a:xfrm>
          <a:prstGeom prst="roundRect">
            <a:avLst>
              <a:gd name="adj" fmla="val 11765"/>
            </a:avLst>
          </a:prstGeom>
          <a:solidFill>
            <a:srgbClr val="1B1C6E"/>
          </a:solidFill>
          <a:ln/>
        </p:spPr>
      </p:sp>
      <p:sp>
        <p:nvSpPr>
          <p:cNvPr id="33" name="Text 30"/>
          <p:cNvSpPr txBox="1"/>
          <p:nvPr/>
        </p:nvSpPr>
        <p:spPr>
          <a:xfrm>
            <a:off x="1115568" y="4873752"/>
            <a:ext cx="2194560" cy="256032"/>
          </a:xfrm>
          <a:prstGeom prst="rect">
            <a:avLst/>
          </a:prstGeom>
          <a:noFill/>
          <a:ln/>
        </p:spPr>
        <p:txBody>
          <a:bodyPr wrap="square" lIns="0" tIns="0" rIns="0" bIns="0" rtlCol="0" anchor="ctr"/>
          <a:lstStyle/>
          <a:p>
            <a:pPr indent="0" marL="0">
              <a:buNone/>
            </a:pPr>
            <a:r>
              <a:rPr lang="en-US" sz="950" b="1" dirty="0">
                <a:solidFill>
                  <a:srgbClr val="F9BB0B"/>
                </a:solidFill>
                <a:latin typeface="Tahoma" pitchFamily="34" charset="0"/>
                <a:ea typeface="Tahoma" pitchFamily="34" charset="-122"/>
                <a:cs typeface="Tahoma" pitchFamily="34" charset="-120"/>
              </a:rPr>
              <a:t>PREGUNTA DE CIERRE</a:t>
            </a:r>
            <a:endParaRPr lang="en-US" sz="950" dirty="0"/>
          </a:p>
        </p:txBody>
      </p:sp>
      <p:sp>
        <p:nvSpPr>
          <p:cNvPr id="34" name="Text 31"/>
          <p:cNvSpPr txBox="1"/>
          <p:nvPr/>
        </p:nvSpPr>
        <p:spPr>
          <a:xfrm>
            <a:off x="1115568" y="5111496"/>
            <a:ext cx="996696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 solamente pudieran ejecutar una iniciativa durante el próximo año, ¿cuál elegirían y por qué?</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Preguntas desde Logística</a:t>
            </a:r>
            <a:endParaRPr lang="en-US" sz="2500" dirty="0"/>
          </a:p>
        </p:txBody>
      </p:sp>
      <p:sp>
        <p:nvSpPr>
          <p:cNvPr id="3" name="Shape 1"/>
          <p:cNvSpPr/>
          <p:nvPr/>
        </p:nvSpPr>
        <p:spPr>
          <a:xfrm>
            <a:off x="841248" y="1481328"/>
            <a:ext cx="3108960" cy="384048"/>
          </a:xfrm>
          <a:prstGeom prst="roundRect">
            <a:avLst>
              <a:gd name="adj" fmla="val 23810"/>
            </a:avLst>
          </a:prstGeom>
          <a:solidFill>
            <a:srgbClr val="F9BB0B"/>
          </a:solidFill>
          <a:ln/>
        </p:spPr>
      </p:sp>
      <p:sp>
        <p:nvSpPr>
          <p:cNvPr id="4" name="Text 2"/>
          <p:cNvSpPr txBox="1"/>
          <p:nvPr/>
        </p:nvSpPr>
        <p:spPr>
          <a:xfrm>
            <a:off x="841248" y="1481328"/>
            <a:ext cx="3108960" cy="384048"/>
          </a:xfrm>
          <a:prstGeom prst="rect">
            <a:avLst/>
          </a:prstGeom>
          <a:noFill/>
          <a:ln/>
        </p:spPr>
        <p:txBody>
          <a:bodyPr wrap="square" lIns="0" tIns="0" rIns="0" bIns="0" rtlCol="0" anchor="ctr"/>
          <a:lstStyle/>
          <a:p>
            <a:pPr algn="ctr" indent="0" marL="0">
              <a:buNone/>
            </a:pPr>
            <a:r>
              <a:rPr lang="en-US" sz="950" b="1" dirty="0">
                <a:solidFill>
                  <a:srgbClr val="1B1C6E"/>
                </a:solidFill>
                <a:latin typeface="Tahoma" pitchFamily="34" charset="0"/>
                <a:ea typeface="Tahoma" pitchFamily="34" charset="-122"/>
                <a:cs typeface="Tahoma" pitchFamily="34" charset="-120"/>
              </a:rPr>
              <a:t>ÁREA: LOGÍSTICA Y COMERCIO EXTERIOR</a:t>
            </a:r>
            <a:endParaRPr lang="en-US" sz="950" dirty="0"/>
          </a:p>
        </p:txBody>
      </p:sp>
      <p:sp>
        <p:nvSpPr>
          <p:cNvPr id="5" name="Text 3"/>
          <p:cNvSpPr txBox="1"/>
          <p:nvPr/>
        </p:nvSpPr>
        <p:spPr>
          <a:xfrm>
            <a:off x="4206240" y="1481328"/>
            <a:ext cx="5120640" cy="384048"/>
          </a:xfrm>
          <a:prstGeom prst="rect">
            <a:avLst/>
          </a:prstGeom>
          <a:noFill/>
          <a:ln/>
        </p:spPr>
        <p:txBody>
          <a:bodyPr wrap="square" lIns="0" tIns="0" rIns="0" bIns="0" rtlCol="0" anchor="ctr"/>
          <a:lstStyle/>
          <a:p>
            <a:pPr indent="0" marL="0">
              <a:buNone/>
            </a:pPr>
            <a:r>
              <a:rPr lang="en-US" sz="1150" b="1" i="1" dirty="0">
                <a:solidFill>
                  <a:srgbClr val="1B1C6E"/>
                </a:solidFill>
                <a:latin typeface="Calibri" pitchFamily="34" charset="0"/>
                <a:ea typeface="Calibri" pitchFamily="34" charset="-122"/>
                <a:cs typeface="Calibri" pitchFamily="34" charset="-120"/>
              </a:rPr>
              <a:t>Una oportunidad comercial debe poder convertirse en una operación eficiente</a:t>
            </a:r>
            <a:endParaRPr lang="en-US" sz="1150" dirty="0"/>
          </a:p>
        </p:txBody>
      </p:sp>
      <p:sp>
        <p:nvSpPr>
          <p:cNvPr id="6" name="Text 4"/>
          <p:cNvSpPr txBox="1"/>
          <p:nvPr/>
        </p:nvSpPr>
        <p:spPr>
          <a:xfrm>
            <a:off x="841248" y="1965960"/>
            <a:ext cx="8503920" cy="594360"/>
          </a:xfrm>
          <a:prstGeom prst="rect">
            <a:avLst/>
          </a:prstGeom>
          <a:noFill/>
          <a:ln/>
        </p:spPr>
        <p:txBody>
          <a:bodyPr wrap="square" lIns="0" tIns="0" rIns="0" bIns="0" rtlCol="0" anchor="t"/>
          <a:lstStyle/>
          <a:p>
            <a:pPr indent="0" marL="0">
              <a:lnSpc>
                <a:spcPts val="1600"/>
              </a:lnSpc>
              <a:buNone/>
            </a:pPr>
            <a:r>
              <a:rPr lang="en-US" sz="1150" dirty="0">
                <a:solidFill>
                  <a:srgbClr val="55565E"/>
                </a:solidFill>
                <a:latin typeface="Calibri" pitchFamily="34" charset="0"/>
                <a:ea typeface="Calibri" pitchFamily="34" charset="-122"/>
                <a:cs typeface="Calibri" pitchFamily="34" charset="-120"/>
              </a:rPr>
              <a:t>Productores → Abastecimiento → Transformación → Almacenamiento → Transporte → Distribución → Cliente. Una empresa puede tener un producto excelente y un mercado atractivo, y aun así fracasar si la cadena no responde.</a:t>
            </a:r>
            <a:endParaRPr lang="en-US" sz="1150" dirty="0"/>
          </a:p>
        </p:txBody>
      </p:sp>
      <p:pic>
        <p:nvPicPr>
          <p:cNvPr id="7" name="Image 0" descr="preencoded.png">    </p:cNvPr>
          <p:cNvPicPr>
            <a:picLocks noChangeAspect="1"/>
          </p:cNvPicPr>
          <p:nvPr/>
        </p:nvPicPr>
        <p:blipFill>
          <a:blip r:embed="rId2"/>
          <a:stretch>
            <a:fillRect/>
          </a:stretch>
        </p:blipFill>
        <p:spPr>
          <a:xfrm>
            <a:off x="9555480" y="1481328"/>
            <a:ext cx="1783080" cy="1234440"/>
          </a:xfrm>
          <a:prstGeom prst="rect">
            <a:avLst/>
          </a:prstGeom>
        </p:spPr>
      </p:pic>
      <p:sp>
        <p:nvSpPr>
          <p:cNvPr id="8" name="Shape 5"/>
          <p:cNvSpPr/>
          <p:nvPr/>
        </p:nvSpPr>
        <p:spPr>
          <a:xfrm>
            <a:off x="841248" y="2788920"/>
            <a:ext cx="5120640" cy="530352"/>
          </a:xfrm>
          <a:prstGeom prst="roundRect">
            <a:avLst>
              <a:gd name="adj" fmla="val 13793"/>
            </a:avLst>
          </a:prstGeom>
          <a:solidFill>
            <a:srgbClr val="F1F2F8"/>
          </a:solidFill>
          <a:ln/>
        </p:spPr>
      </p:sp>
      <p:sp>
        <p:nvSpPr>
          <p:cNvPr id="9" name="Shape 6"/>
          <p:cNvSpPr/>
          <p:nvPr/>
        </p:nvSpPr>
        <p:spPr>
          <a:xfrm>
            <a:off x="987552" y="2916936"/>
            <a:ext cx="274320" cy="274320"/>
          </a:xfrm>
          <a:prstGeom prst="ellipse">
            <a:avLst/>
          </a:prstGeom>
          <a:solidFill>
            <a:srgbClr val="1B1C6E"/>
          </a:solidFill>
          <a:ln/>
        </p:spPr>
      </p:sp>
      <p:sp>
        <p:nvSpPr>
          <p:cNvPr id="10" name="Text 7"/>
          <p:cNvSpPr txBox="1"/>
          <p:nvPr/>
        </p:nvSpPr>
        <p:spPr>
          <a:xfrm>
            <a:off x="987552" y="2916936"/>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1</a:t>
            </a:r>
            <a:endParaRPr lang="en-US" sz="1000" dirty="0"/>
          </a:p>
        </p:txBody>
      </p:sp>
      <p:sp>
        <p:nvSpPr>
          <p:cNvPr id="11" name="Text 8"/>
          <p:cNvSpPr txBox="1"/>
          <p:nvPr/>
        </p:nvSpPr>
        <p:spPr>
          <a:xfrm>
            <a:off x="1371600" y="2788920"/>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¿La cadena logística actual está preparada para soportar el crecimiento?</a:t>
            </a:r>
            <a:endParaRPr lang="en-US" sz="1100" dirty="0"/>
          </a:p>
        </p:txBody>
      </p:sp>
      <p:sp>
        <p:nvSpPr>
          <p:cNvPr id="12" name="Shape 9"/>
          <p:cNvSpPr/>
          <p:nvPr/>
        </p:nvSpPr>
        <p:spPr>
          <a:xfrm>
            <a:off x="841248" y="3392424"/>
            <a:ext cx="5120640" cy="530352"/>
          </a:xfrm>
          <a:prstGeom prst="roundRect">
            <a:avLst>
              <a:gd name="adj" fmla="val 13793"/>
            </a:avLst>
          </a:prstGeom>
          <a:solidFill>
            <a:srgbClr val="F1F2F8"/>
          </a:solidFill>
          <a:ln/>
        </p:spPr>
      </p:sp>
      <p:sp>
        <p:nvSpPr>
          <p:cNvPr id="13" name="Shape 10"/>
          <p:cNvSpPr/>
          <p:nvPr/>
        </p:nvSpPr>
        <p:spPr>
          <a:xfrm>
            <a:off x="987552" y="3520440"/>
            <a:ext cx="274320" cy="274320"/>
          </a:xfrm>
          <a:prstGeom prst="ellipse">
            <a:avLst/>
          </a:prstGeom>
          <a:solidFill>
            <a:srgbClr val="1B1C6E"/>
          </a:solidFill>
          <a:ln/>
        </p:spPr>
      </p:sp>
      <p:sp>
        <p:nvSpPr>
          <p:cNvPr id="14" name="Text 11"/>
          <p:cNvSpPr txBox="1"/>
          <p:nvPr/>
        </p:nvSpPr>
        <p:spPr>
          <a:xfrm>
            <a:off x="987552" y="3520440"/>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2</a:t>
            </a:r>
            <a:endParaRPr lang="en-US" sz="1000" dirty="0"/>
          </a:p>
        </p:txBody>
      </p:sp>
      <p:sp>
        <p:nvSpPr>
          <p:cNvPr id="15" name="Text 12"/>
          <p:cNvSpPr txBox="1"/>
          <p:nvPr/>
        </p:nvSpPr>
        <p:spPr>
          <a:xfrm>
            <a:off x="1371600" y="3392424"/>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ocurriría con los costos si la empresa empieza a vender en otras ciudades?</a:t>
            </a:r>
            <a:endParaRPr lang="en-US" sz="1100" dirty="0"/>
          </a:p>
        </p:txBody>
      </p:sp>
      <p:sp>
        <p:nvSpPr>
          <p:cNvPr id="16" name="Shape 13"/>
          <p:cNvSpPr/>
          <p:nvPr/>
        </p:nvSpPr>
        <p:spPr>
          <a:xfrm>
            <a:off x="841248" y="3995928"/>
            <a:ext cx="5120640" cy="530352"/>
          </a:xfrm>
          <a:prstGeom prst="roundRect">
            <a:avLst>
              <a:gd name="adj" fmla="val 13793"/>
            </a:avLst>
          </a:prstGeom>
          <a:solidFill>
            <a:srgbClr val="F1F2F8"/>
          </a:solidFill>
          <a:ln/>
        </p:spPr>
      </p:sp>
      <p:sp>
        <p:nvSpPr>
          <p:cNvPr id="17" name="Shape 14"/>
          <p:cNvSpPr/>
          <p:nvPr/>
        </p:nvSpPr>
        <p:spPr>
          <a:xfrm>
            <a:off x="987552" y="4123944"/>
            <a:ext cx="274320" cy="274320"/>
          </a:xfrm>
          <a:prstGeom prst="ellipse">
            <a:avLst/>
          </a:prstGeom>
          <a:solidFill>
            <a:srgbClr val="1B1C6E"/>
          </a:solidFill>
          <a:ln/>
        </p:spPr>
      </p:sp>
      <p:sp>
        <p:nvSpPr>
          <p:cNvPr id="18" name="Text 15"/>
          <p:cNvSpPr txBox="1"/>
          <p:nvPr/>
        </p:nvSpPr>
        <p:spPr>
          <a:xfrm>
            <a:off x="987552" y="4123944"/>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3</a:t>
            </a:r>
            <a:endParaRPr lang="en-US" sz="1000" dirty="0"/>
          </a:p>
        </p:txBody>
      </p:sp>
      <p:sp>
        <p:nvSpPr>
          <p:cNvPr id="19" name="Text 16"/>
          <p:cNvSpPr txBox="1"/>
          <p:nvPr/>
        </p:nvSpPr>
        <p:spPr>
          <a:xfrm>
            <a:off x="1371600" y="3995928"/>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¿Dónde debería almacenar sus productos?</a:t>
            </a:r>
            <a:endParaRPr lang="en-US" sz="1100" dirty="0"/>
          </a:p>
        </p:txBody>
      </p:sp>
      <p:sp>
        <p:nvSpPr>
          <p:cNvPr id="20" name="Shape 17"/>
          <p:cNvSpPr/>
          <p:nvPr/>
        </p:nvSpPr>
        <p:spPr>
          <a:xfrm>
            <a:off x="841248" y="4599432"/>
            <a:ext cx="5120640" cy="530352"/>
          </a:xfrm>
          <a:prstGeom prst="roundRect">
            <a:avLst>
              <a:gd name="adj" fmla="val 13793"/>
            </a:avLst>
          </a:prstGeom>
          <a:solidFill>
            <a:srgbClr val="F1F2F8"/>
          </a:solidFill>
          <a:ln/>
        </p:spPr>
      </p:sp>
      <p:sp>
        <p:nvSpPr>
          <p:cNvPr id="21" name="Shape 18"/>
          <p:cNvSpPr/>
          <p:nvPr/>
        </p:nvSpPr>
        <p:spPr>
          <a:xfrm>
            <a:off x="987552" y="4727448"/>
            <a:ext cx="274320" cy="274320"/>
          </a:xfrm>
          <a:prstGeom prst="ellipse">
            <a:avLst/>
          </a:prstGeom>
          <a:solidFill>
            <a:srgbClr val="1B1C6E"/>
          </a:solidFill>
          <a:ln/>
        </p:spPr>
      </p:sp>
      <p:sp>
        <p:nvSpPr>
          <p:cNvPr id="22" name="Text 19"/>
          <p:cNvSpPr txBox="1"/>
          <p:nvPr/>
        </p:nvSpPr>
        <p:spPr>
          <a:xfrm>
            <a:off x="987552" y="4727448"/>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4</a:t>
            </a:r>
            <a:endParaRPr lang="en-US" sz="1000" dirty="0"/>
          </a:p>
        </p:txBody>
      </p:sp>
      <p:sp>
        <p:nvSpPr>
          <p:cNvPr id="23" name="Text 20"/>
          <p:cNvSpPr txBox="1"/>
          <p:nvPr/>
        </p:nvSpPr>
        <p:spPr>
          <a:xfrm>
            <a:off x="1371600" y="4599432"/>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¿Cómo debería gestionar sus inventarios?</a:t>
            </a:r>
            <a:endParaRPr lang="en-US" sz="1100" dirty="0"/>
          </a:p>
        </p:txBody>
      </p:sp>
      <p:sp>
        <p:nvSpPr>
          <p:cNvPr id="24" name="Shape 21"/>
          <p:cNvSpPr/>
          <p:nvPr/>
        </p:nvSpPr>
        <p:spPr>
          <a:xfrm>
            <a:off x="6236208" y="2788920"/>
            <a:ext cx="5120640" cy="530352"/>
          </a:xfrm>
          <a:prstGeom prst="roundRect">
            <a:avLst>
              <a:gd name="adj" fmla="val 13793"/>
            </a:avLst>
          </a:prstGeom>
          <a:solidFill>
            <a:srgbClr val="F1F2F8"/>
          </a:solidFill>
          <a:ln/>
        </p:spPr>
      </p:sp>
      <p:sp>
        <p:nvSpPr>
          <p:cNvPr id="25" name="Shape 22"/>
          <p:cNvSpPr/>
          <p:nvPr/>
        </p:nvSpPr>
        <p:spPr>
          <a:xfrm>
            <a:off x="6382512" y="2916936"/>
            <a:ext cx="274320" cy="274320"/>
          </a:xfrm>
          <a:prstGeom prst="ellipse">
            <a:avLst/>
          </a:prstGeom>
          <a:solidFill>
            <a:srgbClr val="1B1C6E"/>
          </a:solidFill>
          <a:ln/>
        </p:spPr>
      </p:sp>
      <p:sp>
        <p:nvSpPr>
          <p:cNvPr id="26" name="Text 23"/>
          <p:cNvSpPr txBox="1"/>
          <p:nvPr/>
        </p:nvSpPr>
        <p:spPr>
          <a:xfrm>
            <a:off x="6382512" y="2916936"/>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5</a:t>
            </a:r>
            <a:endParaRPr lang="en-US" sz="1000" dirty="0"/>
          </a:p>
        </p:txBody>
      </p:sp>
      <p:sp>
        <p:nvSpPr>
          <p:cNvPr id="27" name="Text 24"/>
          <p:cNvSpPr txBox="1"/>
          <p:nvPr/>
        </p:nvSpPr>
        <p:spPr>
          <a:xfrm>
            <a:off x="6766560" y="2788920"/>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riesgos existen en el abastecimiento desde diferentes municipios?</a:t>
            </a:r>
            <a:endParaRPr lang="en-US" sz="1100" dirty="0"/>
          </a:p>
        </p:txBody>
      </p:sp>
      <p:sp>
        <p:nvSpPr>
          <p:cNvPr id="28" name="Shape 25"/>
          <p:cNvSpPr/>
          <p:nvPr/>
        </p:nvSpPr>
        <p:spPr>
          <a:xfrm>
            <a:off x="6236208" y="3392424"/>
            <a:ext cx="5120640" cy="530352"/>
          </a:xfrm>
          <a:prstGeom prst="roundRect">
            <a:avLst>
              <a:gd name="adj" fmla="val 13793"/>
            </a:avLst>
          </a:prstGeom>
          <a:solidFill>
            <a:srgbClr val="F1F2F8"/>
          </a:solidFill>
          <a:ln/>
        </p:spPr>
      </p:sp>
      <p:sp>
        <p:nvSpPr>
          <p:cNvPr id="29" name="Shape 26"/>
          <p:cNvSpPr/>
          <p:nvPr/>
        </p:nvSpPr>
        <p:spPr>
          <a:xfrm>
            <a:off x="6382512" y="3520440"/>
            <a:ext cx="274320" cy="274320"/>
          </a:xfrm>
          <a:prstGeom prst="ellipse">
            <a:avLst/>
          </a:prstGeom>
          <a:solidFill>
            <a:srgbClr val="1B1C6E"/>
          </a:solidFill>
          <a:ln/>
        </p:spPr>
      </p:sp>
      <p:sp>
        <p:nvSpPr>
          <p:cNvPr id="30" name="Text 27"/>
          <p:cNvSpPr txBox="1"/>
          <p:nvPr/>
        </p:nvSpPr>
        <p:spPr>
          <a:xfrm>
            <a:off x="6382512" y="3520440"/>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6</a:t>
            </a:r>
            <a:endParaRPr lang="en-US" sz="1000" dirty="0"/>
          </a:p>
        </p:txBody>
      </p:sp>
      <p:sp>
        <p:nvSpPr>
          <p:cNvPr id="31" name="Text 28"/>
          <p:cNvSpPr txBox="1"/>
          <p:nvPr/>
        </p:nvSpPr>
        <p:spPr>
          <a:xfrm>
            <a:off x="6766560" y="3392424"/>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tecnología podría mejorar la gestión logística?</a:t>
            </a:r>
            <a:endParaRPr lang="en-US" sz="1100" dirty="0"/>
          </a:p>
        </p:txBody>
      </p:sp>
      <p:sp>
        <p:nvSpPr>
          <p:cNvPr id="32" name="Shape 29"/>
          <p:cNvSpPr/>
          <p:nvPr/>
        </p:nvSpPr>
        <p:spPr>
          <a:xfrm>
            <a:off x="6236208" y="3995928"/>
            <a:ext cx="5120640" cy="530352"/>
          </a:xfrm>
          <a:prstGeom prst="roundRect">
            <a:avLst>
              <a:gd name="adj" fmla="val 13793"/>
            </a:avLst>
          </a:prstGeom>
          <a:solidFill>
            <a:srgbClr val="F1F2F8"/>
          </a:solidFill>
          <a:ln/>
        </p:spPr>
      </p:sp>
      <p:sp>
        <p:nvSpPr>
          <p:cNvPr id="33" name="Shape 30"/>
          <p:cNvSpPr/>
          <p:nvPr/>
        </p:nvSpPr>
        <p:spPr>
          <a:xfrm>
            <a:off x="6382512" y="4123944"/>
            <a:ext cx="274320" cy="274320"/>
          </a:xfrm>
          <a:prstGeom prst="ellipse">
            <a:avLst/>
          </a:prstGeom>
          <a:solidFill>
            <a:srgbClr val="1B1C6E"/>
          </a:solidFill>
          <a:ln/>
        </p:spPr>
      </p:sp>
      <p:sp>
        <p:nvSpPr>
          <p:cNvPr id="34" name="Text 31"/>
          <p:cNvSpPr txBox="1"/>
          <p:nvPr/>
        </p:nvSpPr>
        <p:spPr>
          <a:xfrm>
            <a:off x="6382512" y="4123944"/>
            <a:ext cx="274320" cy="274320"/>
          </a:xfrm>
          <a:prstGeom prst="rect">
            <a:avLst/>
          </a:prstGeom>
          <a:noFill/>
          <a:ln/>
        </p:spPr>
        <p:txBody>
          <a:bodyPr wrap="square" lIns="0" tIns="0" rIns="0" bIns="0" rtlCol="0" anchor="ctr"/>
          <a:lstStyle/>
          <a:p>
            <a:pPr algn="ctr" indent="0" marL="0">
              <a:buNone/>
            </a:pPr>
            <a:r>
              <a:rPr lang="en-US" sz="1000" b="1" dirty="0">
                <a:solidFill>
                  <a:srgbClr val="F9BB0B"/>
                </a:solidFill>
                <a:latin typeface="Tahoma" pitchFamily="34" charset="0"/>
                <a:ea typeface="Tahoma" pitchFamily="34" charset="-122"/>
                <a:cs typeface="Tahoma" pitchFamily="34" charset="-120"/>
              </a:rPr>
              <a:t>7</a:t>
            </a:r>
            <a:endParaRPr lang="en-US" sz="1000" dirty="0"/>
          </a:p>
        </p:txBody>
      </p:sp>
      <p:sp>
        <p:nvSpPr>
          <p:cNvPr id="35" name="Text 32"/>
          <p:cNvSpPr txBox="1"/>
          <p:nvPr/>
        </p:nvSpPr>
        <p:spPr>
          <a:xfrm>
            <a:off x="6766560" y="3995928"/>
            <a:ext cx="4434840" cy="530352"/>
          </a:xfrm>
          <a:prstGeom prst="rect">
            <a:avLst/>
          </a:prstGeom>
          <a:noFill/>
          <a:ln/>
        </p:spPr>
        <p:txBody>
          <a:bodyPr wrap="square" lIns="0" tIns="0" rIns="0" bIns="0" rtlCol="0" anchor="ctr"/>
          <a:lstStyle/>
          <a:p>
            <a:pPr indent="0" marL="0">
              <a:lnSpc>
                <a:spcPts val="1400"/>
              </a:lnSpc>
              <a:buNone/>
            </a:pPr>
            <a:r>
              <a:rPr lang="en-US" sz="1100" dirty="0">
                <a:solidFill>
                  <a:srgbClr val="1B1C6E"/>
                </a:solidFill>
                <a:latin typeface="Calibri" pitchFamily="34" charset="0"/>
                <a:ea typeface="Calibri" pitchFamily="34" charset="-122"/>
                <a:cs typeface="Calibri" pitchFamily="34" charset="-120"/>
              </a:rPr>
              <a:t>¿Qué tendría que cambiar si posteriormente decide exportar?</a:t>
            </a:r>
            <a:endParaRPr lang="en-US" sz="1100" dirty="0"/>
          </a:p>
        </p:txBody>
      </p:sp>
      <p:sp>
        <p:nvSpPr>
          <p:cNvPr id="36" name="Shape 33"/>
          <p:cNvSpPr/>
          <p:nvPr/>
        </p:nvSpPr>
        <p:spPr>
          <a:xfrm>
            <a:off x="841248" y="5404104"/>
            <a:ext cx="10515600" cy="777240"/>
          </a:xfrm>
          <a:prstGeom prst="roundRect">
            <a:avLst>
              <a:gd name="adj" fmla="val 11765"/>
            </a:avLst>
          </a:prstGeom>
          <a:solidFill>
            <a:srgbClr val="1B1C6E"/>
          </a:solidFill>
          <a:ln/>
        </p:spPr>
      </p:sp>
      <p:sp>
        <p:nvSpPr>
          <p:cNvPr id="37" name="Text 34"/>
          <p:cNvSpPr txBox="1"/>
          <p:nvPr/>
        </p:nvSpPr>
        <p:spPr>
          <a:xfrm>
            <a:off x="1115568" y="5477256"/>
            <a:ext cx="2194560" cy="256032"/>
          </a:xfrm>
          <a:prstGeom prst="rect">
            <a:avLst/>
          </a:prstGeom>
          <a:noFill/>
          <a:ln/>
        </p:spPr>
        <p:txBody>
          <a:bodyPr wrap="square" lIns="0" tIns="0" rIns="0" bIns="0" rtlCol="0" anchor="ctr"/>
          <a:lstStyle/>
          <a:p>
            <a:pPr indent="0" marL="0">
              <a:buNone/>
            </a:pPr>
            <a:r>
              <a:rPr lang="en-US" sz="950" b="1" dirty="0">
                <a:solidFill>
                  <a:srgbClr val="F9BB0B"/>
                </a:solidFill>
                <a:latin typeface="Tahoma" pitchFamily="34" charset="0"/>
                <a:ea typeface="Tahoma" pitchFamily="34" charset="-122"/>
                <a:cs typeface="Tahoma" pitchFamily="34" charset="-120"/>
              </a:rPr>
              <a:t>PREGUNTA DE CIERRE</a:t>
            </a:r>
            <a:endParaRPr lang="en-US" sz="950" dirty="0"/>
          </a:p>
        </p:txBody>
      </p:sp>
      <p:sp>
        <p:nvSpPr>
          <p:cNvPr id="38" name="Text 35"/>
          <p:cNvSpPr txBox="1"/>
          <p:nvPr/>
        </p:nvSpPr>
        <p:spPr>
          <a:xfrm>
            <a:off x="1115568" y="5715000"/>
            <a:ext cx="996696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¿Qué debería solucionar primero la empresa en su cadena logística antes de iniciar la expansión?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Momento de integración</a:t>
            </a:r>
            <a:endParaRPr lang="en-US" sz="2500" dirty="0"/>
          </a:p>
        </p:txBody>
      </p:sp>
      <p:sp>
        <p:nvSpPr>
          <p:cNvPr id="3" name="Text 1"/>
          <p:cNvSpPr txBox="1"/>
          <p:nvPr/>
        </p:nvSpPr>
        <p:spPr>
          <a:xfrm>
            <a:off x="841248" y="1600200"/>
            <a:ext cx="1051560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Después de las cuatro intervenciones se retoma la pregunta central. Ahora corresponde relacionar las cuatro perspectivas: cada área responde una pregunta distinta y, encadenadas, conducen a la decisión gerencial.</a:t>
            </a:r>
            <a:endParaRPr lang="en-US" sz="1450" dirty="0"/>
          </a:p>
        </p:txBody>
      </p:sp>
      <p:sp>
        <p:nvSpPr>
          <p:cNvPr id="4" name="Shape 2"/>
          <p:cNvSpPr/>
          <p:nvPr/>
        </p:nvSpPr>
        <p:spPr>
          <a:xfrm>
            <a:off x="841248" y="2697480"/>
            <a:ext cx="1920240" cy="2011680"/>
          </a:xfrm>
          <a:prstGeom prst="roundRect">
            <a:avLst>
              <a:gd name="adj" fmla="val 4762"/>
            </a:avLst>
          </a:prstGeom>
          <a:solidFill>
            <a:srgbClr val="F1F2F8"/>
          </a:solidFill>
          <a:ln/>
        </p:spPr>
      </p:sp>
      <p:sp>
        <p:nvSpPr>
          <p:cNvPr id="5" name="Shape 3"/>
          <p:cNvSpPr/>
          <p:nvPr/>
        </p:nvSpPr>
        <p:spPr>
          <a:xfrm>
            <a:off x="1572768" y="2880360"/>
            <a:ext cx="457200" cy="457200"/>
          </a:xfrm>
          <a:prstGeom prst="ellipse">
            <a:avLst/>
          </a:prstGeom>
          <a:solidFill>
            <a:srgbClr val="1B1C6E"/>
          </a:solidFill>
          <a:ln/>
        </p:spPr>
      </p:sp>
      <p:sp>
        <p:nvSpPr>
          <p:cNvPr id="6" name="Text 4"/>
          <p:cNvSpPr txBox="1"/>
          <p:nvPr/>
        </p:nvSpPr>
        <p:spPr>
          <a:xfrm>
            <a:off x="1572768" y="2880360"/>
            <a:ext cx="457200" cy="457200"/>
          </a:xfrm>
          <a:prstGeom prst="rect">
            <a:avLst/>
          </a:prstGeom>
          <a:noFill/>
          <a:ln/>
        </p:spPr>
        <p:txBody>
          <a:bodyPr wrap="square" lIns="0" tIns="0" rIns="0" bIns="0" rtlCol="0" anchor="ctr"/>
          <a:lstStyle/>
          <a:p>
            <a:pPr algn="ctr" indent="0" marL="0">
              <a:buNone/>
            </a:pPr>
            <a:r>
              <a:rPr lang="en-US" sz="1300" b="1" dirty="0">
                <a:solidFill>
                  <a:srgbClr val="F9BB0B"/>
                </a:solidFill>
                <a:latin typeface="Tahoma" pitchFamily="34" charset="0"/>
                <a:ea typeface="Tahoma" pitchFamily="34" charset="-122"/>
                <a:cs typeface="Tahoma" pitchFamily="34" charset="-120"/>
              </a:rPr>
              <a:t>1</a:t>
            </a:r>
            <a:endParaRPr lang="en-US" sz="1300" dirty="0"/>
          </a:p>
        </p:txBody>
      </p:sp>
      <p:sp>
        <p:nvSpPr>
          <p:cNvPr id="7" name="Text 5"/>
          <p:cNvSpPr txBox="1"/>
          <p:nvPr/>
        </p:nvSpPr>
        <p:spPr>
          <a:xfrm>
            <a:off x="978408" y="3456432"/>
            <a:ext cx="1645920" cy="457200"/>
          </a:xfrm>
          <a:prstGeom prst="rect">
            <a:avLst/>
          </a:prstGeom>
          <a:noFill/>
          <a:ln/>
        </p:spPr>
        <p:txBody>
          <a:bodyPr wrap="square" lIns="0" tIns="0" rIns="0" bIns="0" rtlCol="0" anchor="t"/>
          <a:lstStyle/>
          <a:p>
            <a:pPr algn="ctr" indent="0" marL="0">
              <a:lnSpc>
                <a:spcPts val="1400"/>
              </a:lnSpc>
              <a:buNone/>
            </a:pPr>
            <a:r>
              <a:rPr lang="en-US" sz="1100" b="1" dirty="0">
                <a:solidFill>
                  <a:srgbClr val="1B1C6E"/>
                </a:solidFill>
                <a:latin typeface="Tahoma" pitchFamily="34" charset="0"/>
                <a:ea typeface="Tahoma" pitchFamily="34" charset="-122"/>
                <a:cs typeface="Tahoma" pitchFamily="34" charset="-120"/>
              </a:rPr>
              <a:t>ECONOMÍA</a:t>
            </a:r>
            <a:endParaRPr lang="en-US" sz="1100" dirty="0"/>
          </a:p>
        </p:txBody>
      </p:sp>
      <p:sp>
        <p:nvSpPr>
          <p:cNvPr id="8" name="Text 6"/>
          <p:cNvSpPr txBox="1"/>
          <p:nvPr/>
        </p:nvSpPr>
        <p:spPr>
          <a:xfrm>
            <a:off x="978408" y="3913632"/>
            <a:ext cx="1645920" cy="685800"/>
          </a:xfrm>
          <a:prstGeom prst="rect">
            <a:avLst/>
          </a:prstGeom>
          <a:noFill/>
          <a:ln/>
        </p:spPr>
        <p:txBody>
          <a:bodyPr wrap="square" lIns="0" tIns="0" rIns="0" bIns="0" rtlCol="0" anchor="ctr"/>
          <a:lstStyle/>
          <a:p>
            <a:pPr algn="ctr" indent="0" marL="0">
              <a:lnSpc>
                <a:spcPts val="1500"/>
              </a:lnSpc>
              <a:buNone/>
            </a:pPr>
            <a:r>
              <a:rPr lang="en-US" sz="1100" dirty="0">
                <a:solidFill>
                  <a:srgbClr val="55565E"/>
                </a:solidFill>
                <a:latin typeface="Calibri" pitchFamily="34" charset="0"/>
                <a:ea typeface="Calibri" pitchFamily="34" charset="-122"/>
                <a:cs typeface="Calibri" pitchFamily="34" charset="-120"/>
              </a:rPr>
              <a:t>¿Qué está pasando afuera?</a:t>
            </a:r>
            <a:endParaRPr lang="en-US" sz="1100" dirty="0"/>
          </a:p>
        </p:txBody>
      </p:sp>
      <p:sp>
        <p:nvSpPr>
          <p:cNvPr id="9" name="Text 7"/>
          <p:cNvSpPr txBox="1"/>
          <p:nvPr/>
        </p:nvSpPr>
        <p:spPr>
          <a:xfrm>
            <a:off x="2761488" y="3520440"/>
            <a:ext cx="237744" cy="365760"/>
          </a:xfrm>
          <a:prstGeom prst="rect">
            <a:avLst/>
          </a:prstGeom>
          <a:noFill/>
          <a:ln/>
        </p:spPr>
        <p:txBody>
          <a:bodyPr wrap="square" lIns="0" tIns="0" rIns="0" bIns="0" rtlCol="0" anchor="ctr"/>
          <a:lstStyle/>
          <a:p>
            <a:pPr algn="ctr" indent="0" marL="0">
              <a:buNone/>
            </a:pPr>
            <a:r>
              <a:rPr lang="en-US" sz="1600" b="1" dirty="0">
                <a:solidFill>
                  <a:srgbClr val="F9BB0B"/>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999232" y="2697480"/>
            <a:ext cx="1920240" cy="2011680"/>
          </a:xfrm>
          <a:prstGeom prst="roundRect">
            <a:avLst>
              <a:gd name="adj" fmla="val 4762"/>
            </a:avLst>
          </a:prstGeom>
          <a:solidFill>
            <a:srgbClr val="F1F2F8"/>
          </a:solidFill>
          <a:ln/>
        </p:spPr>
      </p:sp>
      <p:sp>
        <p:nvSpPr>
          <p:cNvPr id="11" name="Shape 9"/>
          <p:cNvSpPr/>
          <p:nvPr/>
        </p:nvSpPr>
        <p:spPr>
          <a:xfrm>
            <a:off x="3730752" y="2880360"/>
            <a:ext cx="457200" cy="457200"/>
          </a:xfrm>
          <a:prstGeom prst="ellipse">
            <a:avLst/>
          </a:prstGeom>
          <a:solidFill>
            <a:srgbClr val="1B1C6E"/>
          </a:solidFill>
          <a:ln/>
        </p:spPr>
      </p:sp>
      <p:sp>
        <p:nvSpPr>
          <p:cNvPr id="12" name="Text 10"/>
          <p:cNvSpPr txBox="1"/>
          <p:nvPr/>
        </p:nvSpPr>
        <p:spPr>
          <a:xfrm>
            <a:off x="3730752" y="2880360"/>
            <a:ext cx="457200" cy="457200"/>
          </a:xfrm>
          <a:prstGeom prst="rect">
            <a:avLst/>
          </a:prstGeom>
          <a:noFill/>
          <a:ln/>
        </p:spPr>
        <p:txBody>
          <a:bodyPr wrap="square" lIns="0" tIns="0" rIns="0" bIns="0" rtlCol="0" anchor="ctr"/>
          <a:lstStyle/>
          <a:p>
            <a:pPr algn="ctr" indent="0" marL="0">
              <a:buNone/>
            </a:pPr>
            <a:r>
              <a:rPr lang="en-US" sz="1300" b="1" dirty="0">
                <a:solidFill>
                  <a:srgbClr val="F9BB0B"/>
                </a:solidFill>
                <a:latin typeface="Tahoma" pitchFamily="34" charset="0"/>
                <a:ea typeface="Tahoma" pitchFamily="34" charset="-122"/>
                <a:cs typeface="Tahoma" pitchFamily="34" charset="-120"/>
              </a:rPr>
              <a:t>2</a:t>
            </a:r>
            <a:endParaRPr lang="en-US" sz="1300" dirty="0"/>
          </a:p>
        </p:txBody>
      </p:sp>
      <p:sp>
        <p:nvSpPr>
          <p:cNvPr id="13" name="Text 11"/>
          <p:cNvSpPr txBox="1"/>
          <p:nvPr/>
        </p:nvSpPr>
        <p:spPr>
          <a:xfrm>
            <a:off x="3136392" y="3456432"/>
            <a:ext cx="1645920" cy="457200"/>
          </a:xfrm>
          <a:prstGeom prst="rect">
            <a:avLst/>
          </a:prstGeom>
          <a:noFill/>
          <a:ln/>
        </p:spPr>
        <p:txBody>
          <a:bodyPr wrap="square" lIns="0" tIns="0" rIns="0" bIns="0" rtlCol="0" anchor="t"/>
          <a:lstStyle/>
          <a:p>
            <a:pPr algn="ctr" indent="0" marL="0">
              <a:lnSpc>
                <a:spcPts val="1400"/>
              </a:lnSpc>
              <a:buNone/>
            </a:pPr>
            <a:r>
              <a:rPr lang="en-US" sz="1100" b="1" dirty="0">
                <a:solidFill>
                  <a:srgbClr val="1B1C6E"/>
                </a:solidFill>
                <a:latin typeface="Tahoma" pitchFamily="34" charset="0"/>
                <a:ea typeface="Tahoma" pitchFamily="34" charset="-122"/>
                <a:cs typeface="Tahoma" pitchFamily="34" charset="-120"/>
              </a:rPr>
              <a:t>EMPRENDIMIENTO</a:t>
            </a:r>
            <a:endParaRPr lang="en-US" sz="1100" dirty="0"/>
          </a:p>
        </p:txBody>
      </p:sp>
      <p:sp>
        <p:nvSpPr>
          <p:cNvPr id="14" name="Text 12"/>
          <p:cNvSpPr txBox="1"/>
          <p:nvPr/>
        </p:nvSpPr>
        <p:spPr>
          <a:xfrm>
            <a:off x="3136392" y="3913632"/>
            <a:ext cx="1645920" cy="685800"/>
          </a:xfrm>
          <a:prstGeom prst="rect">
            <a:avLst/>
          </a:prstGeom>
          <a:noFill/>
          <a:ln/>
        </p:spPr>
        <p:txBody>
          <a:bodyPr wrap="square" lIns="0" tIns="0" rIns="0" bIns="0" rtlCol="0" anchor="ctr"/>
          <a:lstStyle/>
          <a:p>
            <a:pPr algn="ctr" indent="0" marL="0">
              <a:lnSpc>
                <a:spcPts val="1500"/>
              </a:lnSpc>
              <a:buNone/>
            </a:pPr>
            <a:r>
              <a:rPr lang="en-US" sz="1100" dirty="0">
                <a:solidFill>
                  <a:srgbClr val="55565E"/>
                </a:solidFill>
                <a:latin typeface="Calibri" pitchFamily="34" charset="0"/>
                <a:ea typeface="Calibri" pitchFamily="34" charset="-122"/>
                <a:cs typeface="Calibri" pitchFamily="34" charset="-120"/>
              </a:rPr>
              <a:t>¿Dónde está la oportunidad?</a:t>
            </a:r>
            <a:endParaRPr lang="en-US" sz="1100" dirty="0"/>
          </a:p>
        </p:txBody>
      </p:sp>
      <p:sp>
        <p:nvSpPr>
          <p:cNvPr id="15" name="Text 13"/>
          <p:cNvSpPr txBox="1"/>
          <p:nvPr/>
        </p:nvSpPr>
        <p:spPr>
          <a:xfrm>
            <a:off x="4919472" y="3520440"/>
            <a:ext cx="237744" cy="365760"/>
          </a:xfrm>
          <a:prstGeom prst="rect">
            <a:avLst/>
          </a:prstGeom>
          <a:noFill/>
          <a:ln/>
        </p:spPr>
        <p:txBody>
          <a:bodyPr wrap="square" lIns="0" tIns="0" rIns="0" bIns="0" rtlCol="0" anchor="ctr"/>
          <a:lstStyle/>
          <a:p>
            <a:pPr algn="ctr" indent="0" marL="0">
              <a:buNone/>
            </a:pPr>
            <a:r>
              <a:rPr lang="en-US" sz="1600" b="1" dirty="0">
                <a:solidFill>
                  <a:srgbClr val="F9BB0B"/>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5157216" y="2697480"/>
            <a:ext cx="1920240" cy="2011680"/>
          </a:xfrm>
          <a:prstGeom prst="roundRect">
            <a:avLst>
              <a:gd name="adj" fmla="val 4762"/>
            </a:avLst>
          </a:prstGeom>
          <a:solidFill>
            <a:srgbClr val="F1F2F8"/>
          </a:solidFill>
          <a:ln/>
        </p:spPr>
      </p:sp>
      <p:sp>
        <p:nvSpPr>
          <p:cNvPr id="17" name="Shape 15"/>
          <p:cNvSpPr/>
          <p:nvPr/>
        </p:nvSpPr>
        <p:spPr>
          <a:xfrm>
            <a:off x="5888736" y="2880360"/>
            <a:ext cx="457200" cy="457200"/>
          </a:xfrm>
          <a:prstGeom prst="ellipse">
            <a:avLst/>
          </a:prstGeom>
          <a:solidFill>
            <a:srgbClr val="1B1C6E"/>
          </a:solidFill>
          <a:ln/>
        </p:spPr>
      </p:sp>
      <p:sp>
        <p:nvSpPr>
          <p:cNvPr id="18" name="Text 16"/>
          <p:cNvSpPr txBox="1"/>
          <p:nvPr/>
        </p:nvSpPr>
        <p:spPr>
          <a:xfrm>
            <a:off x="5888736" y="2880360"/>
            <a:ext cx="457200" cy="457200"/>
          </a:xfrm>
          <a:prstGeom prst="rect">
            <a:avLst/>
          </a:prstGeom>
          <a:noFill/>
          <a:ln/>
        </p:spPr>
        <p:txBody>
          <a:bodyPr wrap="square" lIns="0" tIns="0" rIns="0" bIns="0" rtlCol="0" anchor="ctr"/>
          <a:lstStyle/>
          <a:p>
            <a:pPr algn="ctr" indent="0" marL="0">
              <a:buNone/>
            </a:pPr>
            <a:r>
              <a:rPr lang="en-US" sz="1300" b="1" dirty="0">
                <a:solidFill>
                  <a:srgbClr val="F9BB0B"/>
                </a:solidFill>
                <a:latin typeface="Tahoma" pitchFamily="34" charset="0"/>
                <a:ea typeface="Tahoma" pitchFamily="34" charset="-122"/>
                <a:cs typeface="Tahoma" pitchFamily="34" charset="-120"/>
              </a:rPr>
              <a:t>3</a:t>
            </a:r>
            <a:endParaRPr lang="en-US" sz="1300" dirty="0"/>
          </a:p>
        </p:txBody>
      </p:sp>
      <p:sp>
        <p:nvSpPr>
          <p:cNvPr id="19" name="Text 17"/>
          <p:cNvSpPr txBox="1"/>
          <p:nvPr/>
        </p:nvSpPr>
        <p:spPr>
          <a:xfrm>
            <a:off x="5294376" y="3456432"/>
            <a:ext cx="1645920" cy="457200"/>
          </a:xfrm>
          <a:prstGeom prst="rect">
            <a:avLst/>
          </a:prstGeom>
          <a:noFill/>
          <a:ln/>
        </p:spPr>
        <p:txBody>
          <a:bodyPr wrap="square" lIns="0" tIns="0" rIns="0" bIns="0" rtlCol="0" anchor="t"/>
          <a:lstStyle/>
          <a:p>
            <a:pPr algn="ctr" indent="0" marL="0">
              <a:lnSpc>
                <a:spcPts val="1400"/>
              </a:lnSpc>
              <a:buNone/>
            </a:pPr>
            <a:r>
              <a:rPr lang="en-US" sz="1100" b="1" dirty="0">
                <a:solidFill>
                  <a:srgbClr val="1B1C6E"/>
                </a:solidFill>
                <a:latin typeface="Tahoma" pitchFamily="34" charset="0"/>
                <a:ea typeface="Tahoma" pitchFamily="34" charset="-122"/>
                <a:cs typeface="Tahoma" pitchFamily="34" charset="-120"/>
              </a:rPr>
              <a:t>PROYECTOS</a:t>
            </a:r>
            <a:endParaRPr lang="en-US" sz="1100" dirty="0"/>
          </a:p>
        </p:txBody>
      </p:sp>
      <p:sp>
        <p:nvSpPr>
          <p:cNvPr id="20" name="Text 18"/>
          <p:cNvSpPr txBox="1"/>
          <p:nvPr/>
        </p:nvSpPr>
        <p:spPr>
          <a:xfrm>
            <a:off x="5294376" y="3913632"/>
            <a:ext cx="1645920" cy="685800"/>
          </a:xfrm>
          <a:prstGeom prst="rect">
            <a:avLst/>
          </a:prstGeom>
          <a:noFill/>
          <a:ln/>
        </p:spPr>
        <p:txBody>
          <a:bodyPr wrap="square" lIns="0" tIns="0" rIns="0" bIns="0" rtlCol="0" anchor="ctr"/>
          <a:lstStyle/>
          <a:p>
            <a:pPr algn="ctr" indent="0" marL="0">
              <a:lnSpc>
                <a:spcPts val="1500"/>
              </a:lnSpc>
              <a:buNone/>
            </a:pPr>
            <a:r>
              <a:rPr lang="en-US" sz="1100" dirty="0">
                <a:solidFill>
                  <a:srgbClr val="55565E"/>
                </a:solidFill>
                <a:latin typeface="Calibri" pitchFamily="34" charset="0"/>
                <a:ea typeface="Calibri" pitchFamily="34" charset="-122"/>
                <a:cs typeface="Calibri" pitchFamily="34" charset="-120"/>
              </a:rPr>
              <a:t>¿Cómo podemos convertirla en realidad?</a:t>
            </a:r>
            <a:endParaRPr lang="en-US" sz="1100" dirty="0"/>
          </a:p>
        </p:txBody>
      </p:sp>
      <p:sp>
        <p:nvSpPr>
          <p:cNvPr id="21" name="Text 19"/>
          <p:cNvSpPr txBox="1"/>
          <p:nvPr/>
        </p:nvSpPr>
        <p:spPr>
          <a:xfrm>
            <a:off x="7077456" y="3520440"/>
            <a:ext cx="237744" cy="365760"/>
          </a:xfrm>
          <a:prstGeom prst="rect">
            <a:avLst/>
          </a:prstGeom>
          <a:noFill/>
          <a:ln/>
        </p:spPr>
        <p:txBody>
          <a:bodyPr wrap="square" lIns="0" tIns="0" rIns="0" bIns="0" rtlCol="0" anchor="ctr"/>
          <a:lstStyle/>
          <a:p>
            <a:pPr algn="ctr" indent="0" marL="0">
              <a:buNone/>
            </a:pPr>
            <a:r>
              <a:rPr lang="en-US" sz="1600" b="1" dirty="0">
                <a:solidFill>
                  <a:srgbClr val="F9BB0B"/>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7315200" y="2697480"/>
            <a:ext cx="1920240" cy="2011680"/>
          </a:xfrm>
          <a:prstGeom prst="roundRect">
            <a:avLst>
              <a:gd name="adj" fmla="val 4762"/>
            </a:avLst>
          </a:prstGeom>
          <a:solidFill>
            <a:srgbClr val="F1F2F8"/>
          </a:solidFill>
          <a:ln/>
        </p:spPr>
      </p:sp>
      <p:sp>
        <p:nvSpPr>
          <p:cNvPr id="23" name="Shape 21"/>
          <p:cNvSpPr/>
          <p:nvPr/>
        </p:nvSpPr>
        <p:spPr>
          <a:xfrm>
            <a:off x="8046720" y="2880360"/>
            <a:ext cx="457200" cy="457200"/>
          </a:xfrm>
          <a:prstGeom prst="ellipse">
            <a:avLst/>
          </a:prstGeom>
          <a:solidFill>
            <a:srgbClr val="1B1C6E"/>
          </a:solidFill>
          <a:ln/>
        </p:spPr>
      </p:sp>
      <p:sp>
        <p:nvSpPr>
          <p:cNvPr id="24" name="Text 22"/>
          <p:cNvSpPr txBox="1"/>
          <p:nvPr/>
        </p:nvSpPr>
        <p:spPr>
          <a:xfrm>
            <a:off x="8046720" y="2880360"/>
            <a:ext cx="457200" cy="457200"/>
          </a:xfrm>
          <a:prstGeom prst="rect">
            <a:avLst/>
          </a:prstGeom>
          <a:noFill/>
          <a:ln/>
        </p:spPr>
        <p:txBody>
          <a:bodyPr wrap="square" lIns="0" tIns="0" rIns="0" bIns="0" rtlCol="0" anchor="ctr"/>
          <a:lstStyle/>
          <a:p>
            <a:pPr algn="ctr" indent="0" marL="0">
              <a:buNone/>
            </a:pPr>
            <a:r>
              <a:rPr lang="en-US" sz="1300" b="1" dirty="0">
                <a:solidFill>
                  <a:srgbClr val="F9BB0B"/>
                </a:solidFill>
                <a:latin typeface="Tahoma" pitchFamily="34" charset="0"/>
                <a:ea typeface="Tahoma" pitchFamily="34" charset="-122"/>
                <a:cs typeface="Tahoma" pitchFamily="34" charset="-120"/>
              </a:rPr>
              <a:t>4</a:t>
            </a:r>
            <a:endParaRPr lang="en-US" sz="1300" dirty="0"/>
          </a:p>
        </p:txBody>
      </p:sp>
      <p:sp>
        <p:nvSpPr>
          <p:cNvPr id="25" name="Text 23"/>
          <p:cNvSpPr txBox="1"/>
          <p:nvPr/>
        </p:nvSpPr>
        <p:spPr>
          <a:xfrm>
            <a:off x="7452360" y="3456432"/>
            <a:ext cx="1645920" cy="457200"/>
          </a:xfrm>
          <a:prstGeom prst="rect">
            <a:avLst/>
          </a:prstGeom>
          <a:noFill/>
          <a:ln/>
        </p:spPr>
        <p:txBody>
          <a:bodyPr wrap="square" lIns="0" tIns="0" rIns="0" bIns="0" rtlCol="0" anchor="t"/>
          <a:lstStyle/>
          <a:p>
            <a:pPr algn="ctr" indent="0" marL="0">
              <a:lnSpc>
                <a:spcPts val="1400"/>
              </a:lnSpc>
              <a:buNone/>
            </a:pPr>
            <a:r>
              <a:rPr lang="en-US" sz="1100" b="1" dirty="0">
                <a:solidFill>
                  <a:srgbClr val="1B1C6E"/>
                </a:solidFill>
                <a:latin typeface="Tahoma" pitchFamily="34" charset="0"/>
                <a:ea typeface="Tahoma" pitchFamily="34" charset="-122"/>
                <a:cs typeface="Tahoma" pitchFamily="34" charset="-120"/>
              </a:rPr>
              <a:t>LOGÍSTICA</a:t>
            </a:r>
            <a:endParaRPr lang="en-US" sz="1100" dirty="0"/>
          </a:p>
        </p:txBody>
      </p:sp>
      <p:sp>
        <p:nvSpPr>
          <p:cNvPr id="26" name="Text 24"/>
          <p:cNvSpPr txBox="1"/>
          <p:nvPr/>
        </p:nvSpPr>
        <p:spPr>
          <a:xfrm>
            <a:off x="7452360" y="3913632"/>
            <a:ext cx="1645920" cy="685800"/>
          </a:xfrm>
          <a:prstGeom prst="rect">
            <a:avLst/>
          </a:prstGeom>
          <a:noFill/>
          <a:ln/>
        </p:spPr>
        <p:txBody>
          <a:bodyPr wrap="square" lIns="0" tIns="0" rIns="0" bIns="0" rtlCol="0" anchor="ctr"/>
          <a:lstStyle/>
          <a:p>
            <a:pPr algn="ctr" indent="0" marL="0">
              <a:lnSpc>
                <a:spcPts val="1500"/>
              </a:lnSpc>
              <a:buNone/>
            </a:pPr>
            <a:r>
              <a:rPr lang="en-US" sz="1100" dirty="0">
                <a:solidFill>
                  <a:srgbClr val="55565E"/>
                </a:solidFill>
                <a:latin typeface="Calibri" pitchFamily="34" charset="0"/>
                <a:ea typeface="Calibri" pitchFamily="34" charset="-122"/>
                <a:cs typeface="Calibri" pitchFamily="34" charset="-120"/>
              </a:rPr>
              <a:t>¿Cómo podemos hacerla funcionar?</a:t>
            </a:r>
            <a:endParaRPr lang="en-US" sz="1100" dirty="0"/>
          </a:p>
        </p:txBody>
      </p:sp>
      <p:sp>
        <p:nvSpPr>
          <p:cNvPr id="27" name="Text 25"/>
          <p:cNvSpPr txBox="1"/>
          <p:nvPr/>
        </p:nvSpPr>
        <p:spPr>
          <a:xfrm>
            <a:off x="9235440" y="3520440"/>
            <a:ext cx="237744" cy="365760"/>
          </a:xfrm>
          <a:prstGeom prst="rect">
            <a:avLst/>
          </a:prstGeom>
          <a:noFill/>
          <a:ln/>
        </p:spPr>
        <p:txBody>
          <a:bodyPr wrap="square" lIns="0" tIns="0" rIns="0" bIns="0" rtlCol="0" anchor="ctr"/>
          <a:lstStyle/>
          <a:p>
            <a:pPr algn="ctr" indent="0" marL="0">
              <a:buNone/>
            </a:pPr>
            <a:r>
              <a:rPr lang="en-US" sz="1600" b="1" dirty="0">
                <a:solidFill>
                  <a:srgbClr val="F9BB0B"/>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9473184" y="2697480"/>
            <a:ext cx="1920240" cy="2011680"/>
          </a:xfrm>
          <a:prstGeom prst="roundRect">
            <a:avLst>
              <a:gd name="adj" fmla="val 4762"/>
            </a:avLst>
          </a:prstGeom>
          <a:solidFill>
            <a:srgbClr val="1B1C6E"/>
          </a:solidFill>
          <a:ln/>
        </p:spPr>
      </p:sp>
      <p:sp>
        <p:nvSpPr>
          <p:cNvPr id="29" name="Shape 27"/>
          <p:cNvSpPr/>
          <p:nvPr/>
        </p:nvSpPr>
        <p:spPr>
          <a:xfrm>
            <a:off x="10204704" y="2880360"/>
            <a:ext cx="457200" cy="457200"/>
          </a:xfrm>
          <a:prstGeom prst="ellipse">
            <a:avLst/>
          </a:prstGeom>
          <a:solidFill>
            <a:srgbClr val="F9BB0B"/>
          </a:solidFill>
          <a:ln/>
        </p:spPr>
      </p:sp>
      <p:sp>
        <p:nvSpPr>
          <p:cNvPr id="30" name="Text 28"/>
          <p:cNvSpPr txBox="1"/>
          <p:nvPr/>
        </p:nvSpPr>
        <p:spPr>
          <a:xfrm>
            <a:off x="10204704" y="2880360"/>
            <a:ext cx="457200" cy="457200"/>
          </a:xfrm>
          <a:prstGeom prst="rect">
            <a:avLst/>
          </a:prstGeom>
          <a:noFill/>
          <a:ln/>
        </p:spPr>
        <p:txBody>
          <a:bodyPr wrap="square" lIns="0" tIns="0" rIns="0" bIns="0" rtlCol="0" anchor="ctr"/>
          <a:lstStyle/>
          <a:p>
            <a:pPr algn="ctr" indent="0" marL="0">
              <a:buNone/>
            </a:pPr>
            <a:r>
              <a:rPr lang="en-US" sz="1300" b="1" dirty="0">
                <a:solidFill>
                  <a:srgbClr val="1B1C6E"/>
                </a:solidFill>
                <a:latin typeface="Tahoma" pitchFamily="34" charset="0"/>
                <a:ea typeface="Tahoma" pitchFamily="34" charset="-122"/>
                <a:cs typeface="Tahoma" pitchFamily="34" charset="-120"/>
              </a:rPr>
              <a:t>5</a:t>
            </a:r>
            <a:endParaRPr lang="en-US" sz="1300" dirty="0"/>
          </a:p>
        </p:txBody>
      </p:sp>
      <p:sp>
        <p:nvSpPr>
          <p:cNvPr id="31" name="Text 29"/>
          <p:cNvSpPr txBox="1"/>
          <p:nvPr/>
        </p:nvSpPr>
        <p:spPr>
          <a:xfrm>
            <a:off x="9610344" y="3456432"/>
            <a:ext cx="1645920" cy="457200"/>
          </a:xfrm>
          <a:prstGeom prst="rect">
            <a:avLst/>
          </a:prstGeom>
          <a:noFill/>
          <a:ln/>
        </p:spPr>
        <p:txBody>
          <a:bodyPr wrap="square" lIns="0" tIns="0" rIns="0" bIns="0" rtlCol="0" anchor="t"/>
          <a:lstStyle/>
          <a:p>
            <a:pPr algn="ctr" indent="0" marL="0">
              <a:lnSpc>
                <a:spcPts val="1400"/>
              </a:lnSpc>
              <a:buNone/>
            </a:pPr>
            <a:r>
              <a:rPr lang="en-US" sz="1100" b="1" dirty="0">
                <a:solidFill>
                  <a:srgbClr val="F9BB0B"/>
                </a:solidFill>
                <a:latin typeface="Tahoma" pitchFamily="34" charset="0"/>
                <a:ea typeface="Tahoma" pitchFamily="34" charset="-122"/>
                <a:cs typeface="Tahoma" pitchFamily="34" charset="-120"/>
              </a:rPr>
              <a:t>ADMINISTRACIÓN</a:t>
            </a:r>
            <a:endParaRPr lang="en-US" sz="1100" dirty="0"/>
          </a:p>
        </p:txBody>
      </p:sp>
      <p:sp>
        <p:nvSpPr>
          <p:cNvPr id="32" name="Text 30"/>
          <p:cNvSpPr txBox="1"/>
          <p:nvPr/>
        </p:nvSpPr>
        <p:spPr>
          <a:xfrm>
            <a:off x="9610344" y="3913632"/>
            <a:ext cx="1645920" cy="685800"/>
          </a:xfrm>
          <a:prstGeom prst="rect">
            <a:avLst/>
          </a:prstGeom>
          <a:noFill/>
          <a:ln/>
        </p:spPr>
        <p:txBody>
          <a:bodyPr wrap="square" lIns="0" tIns="0" rIns="0" bIns="0" rtlCol="0" anchor="ctr"/>
          <a:lstStyle/>
          <a:p>
            <a:pPr algn="ctr" indent="0" marL="0">
              <a:lnSpc>
                <a:spcPts val="1500"/>
              </a:lnSpc>
              <a:buNone/>
            </a:pPr>
            <a:r>
              <a:rPr lang="en-US" sz="1100" dirty="0">
                <a:solidFill>
                  <a:srgbClr val="FFFFFF"/>
                </a:solidFill>
                <a:latin typeface="Calibri" pitchFamily="34" charset="0"/>
                <a:ea typeface="Calibri" pitchFamily="34" charset="-122"/>
                <a:cs typeface="Calibri" pitchFamily="34" charset="-120"/>
              </a:rPr>
              <a:t>¿Qué decisión debemos tomar?</a:t>
            </a:r>
            <a:endParaRPr lang="en-US" sz="1100" dirty="0"/>
          </a:p>
        </p:txBody>
      </p:sp>
      <p:sp>
        <p:nvSpPr>
          <p:cNvPr id="33" name="Shape 31"/>
          <p:cNvSpPr/>
          <p:nvPr/>
        </p:nvSpPr>
        <p:spPr>
          <a:xfrm>
            <a:off x="841248" y="4937760"/>
            <a:ext cx="10515600" cy="640080"/>
          </a:xfrm>
          <a:prstGeom prst="roundRect">
            <a:avLst>
              <a:gd name="adj" fmla="val 14286"/>
            </a:avLst>
          </a:prstGeom>
          <a:solidFill>
            <a:srgbClr val="FDF4DC"/>
          </a:solidFill>
          <a:ln/>
        </p:spPr>
      </p:sp>
      <p:sp>
        <p:nvSpPr>
          <p:cNvPr id="34" name="Text 32"/>
          <p:cNvSpPr txBox="1"/>
          <p:nvPr/>
        </p:nvSpPr>
        <p:spPr>
          <a:xfrm>
            <a:off x="1115568" y="4937760"/>
            <a:ext cx="9966960" cy="640080"/>
          </a:xfrm>
          <a:prstGeom prst="rect">
            <a:avLst/>
          </a:prstGeom>
          <a:noFill/>
          <a:ln/>
        </p:spPr>
        <p:txBody>
          <a:bodyPr wrap="square" lIns="0" tIns="0" rIns="0" bIns="0" rtlCol="0" anchor="ctr"/>
          <a:lstStyle/>
          <a:p>
            <a:pPr indent="0" marL="0">
              <a:buNone/>
            </a:pPr>
            <a:r>
              <a:rPr lang="en-US" sz="1250" b="1" dirty="0">
                <a:solidFill>
                  <a:srgbClr val="1B1C6E"/>
                </a:solidFill>
                <a:latin typeface="Calibri" pitchFamily="34" charset="0"/>
                <a:ea typeface="Calibri" pitchFamily="34" charset="-122"/>
                <a:cs typeface="Calibri" pitchFamily="34" charset="-120"/>
              </a:rPr>
              <a:t>La pregunta central vuelve a la mesa: ¿qué estrategia debería implementar la empresa para crecer de manera competitiva, rentable y sostenible?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Situación sorpresa</a:t>
            </a:r>
            <a:endParaRPr lang="en-US" sz="2500" dirty="0"/>
          </a:p>
        </p:txBody>
      </p:sp>
      <p:sp>
        <p:nvSpPr>
          <p:cNvPr id="3" name="Text 1"/>
          <p:cNvSpPr txBox="1"/>
          <p:nvPr/>
        </p:nvSpPr>
        <p:spPr>
          <a:xfrm>
            <a:off x="841248" y="1600200"/>
            <a:ext cx="658368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Para cerrar el encuentro se introduce una nueva situación que altera el escenario analizado hasta ahora.</a:t>
            </a:r>
            <a:endParaRPr lang="en-US" sz="1450" dirty="0"/>
          </a:p>
        </p:txBody>
      </p:sp>
      <p:sp>
        <p:nvSpPr>
          <p:cNvPr id="4" name="Shape 2"/>
          <p:cNvSpPr/>
          <p:nvPr/>
        </p:nvSpPr>
        <p:spPr>
          <a:xfrm>
            <a:off x="841248" y="2331720"/>
            <a:ext cx="6583680" cy="1234440"/>
          </a:xfrm>
          <a:prstGeom prst="roundRect">
            <a:avLst>
              <a:gd name="adj" fmla="val 7407"/>
            </a:avLst>
          </a:prstGeom>
          <a:solidFill>
            <a:srgbClr val="FDF4DC"/>
          </a:solidFill>
          <a:ln/>
        </p:spPr>
      </p:sp>
      <p:sp>
        <p:nvSpPr>
          <p:cNvPr id="5" name="Text 3"/>
          <p:cNvSpPr txBox="1"/>
          <p:nvPr/>
        </p:nvSpPr>
        <p:spPr>
          <a:xfrm>
            <a:off x="1115568" y="2331720"/>
            <a:ext cx="6035040" cy="1234440"/>
          </a:xfrm>
          <a:prstGeom prst="rect">
            <a:avLst/>
          </a:prstGeom>
          <a:noFill/>
          <a:ln/>
        </p:spPr>
        <p:txBody>
          <a:bodyPr wrap="square" lIns="0" tIns="0" rIns="0" bIns="0" rtlCol="0" anchor="ctr"/>
          <a:lstStyle/>
          <a:p>
            <a:pPr indent="0" marL="0">
              <a:lnSpc>
                <a:spcPts val="1900"/>
              </a:lnSpc>
              <a:buNone/>
            </a:pPr>
            <a:r>
              <a:rPr lang="en-US" sz="1300" b="1" dirty="0">
                <a:solidFill>
                  <a:srgbClr val="1B1C6E"/>
                </a:solidFill>
                <a:latin typeface="Calibri" pitchFamily="34" charset="0"/>
                <a:ea typeface="Calibri" pitchFamily="34" charset="-122"/>
                <a:cs typeface="Calibri" pitchFamily="34" charset="-120"/>
              </a:rPr>
              <a:t>La empresa acaba de recibir una propuesta de una importante cadena nacional interesada en comercializar sus productos en diferentes ciudades de Colombia.</a:t>
            </a:r>
            <a:endParaRPr lang="en-US" sz="1300" dirty="0"/>
          </a:p>
        </p:txBody>
      </p:sp>
      <p:sp>
        <p:nvSpPr>
          <p:cNvPr id="6" name="Text 4"/>
          <p:cNvSpPr txBox="1"/>
          <p:nvPr/>
        </p:nvSpPr>
        <p:spPr>
          <a:xfrm>
            <a:off x="841248" y="3703320"/>
            <a:ext cx="6583680" cy="777240"/>
          </a:xfrm>
          <a:prstGeom prst="rect">
            <a:avLst/>
          </a:prstGeom>
          <a:noFill/>
          <a:ln/>
        </p:spPr>
        <p:txBody>
          <a:bodyPr wrap="square" lIns="0" tIns="0" rIns="0" bIns="0" rtlCol="0" anchor="ctr"/>
          <a:lstStyle/>
          <a:p>
            <a:pPr indent="0" marL="0">
              <a:lnSpc>
                <a:spcPts val="1800"/>
              </a:lnSpc>
              <a:buNone/>
            </a:pPr>
            <a:r>
              <a:rPr lang="en-US" sz="1250" dirty="0">
                <a:solidFill>
                  <a:srgbClr val="55565E"/>
                </a:solidFill>
                <a:latin typeface="Calibri" pitchFamily="34" charset="0"/>
                <a:ea typeface="Calibri" pitchFamily="34" charset="-122"/>
                <a:cs typeface="Calibri" pitchFamily="34" charset="-120"/>
              </a:rPr>
              <a:t>La propuesta permitiría aumentar significativamente las ventas, pero exige mayor producción, entregas permanentes, precios competitivos y capacidad de respuesta logística.</a:t>
            </a:r>
            <a:endParaRPr lang="en-US" sz="1250" dirty="0"/>
          </a:p>
        </p:txBody>
      </p:sp>
      <p:sp>
        <p:nvSpPr>
          <p:cNvPr id="7" name="Shape 5"/>
          <p:cNvSpPr/>
          <p:nvPr/>
        </p:nvSpPr>
        <p:spPr>
          <a:xfrm>
            <a:off x="841248" y="4617720"/>
            <a:ext cx="6583680" cy="914400"/>
          </a:xfrm>
          <a:prstGeom prst="roundRect">
            <a:avLst>
              <a:gd name="adj" fmla="val 10000"/>
            </a:avLst>
          </a:prstGeom>
          <a:solidFill>
            <a:srgbClr val="1B1C6E"/>
          </a:solidFill>
          <a:ln/>
        </p:spPr>
      </p:sp>
      <p:sp>
        <p:nvSpPr>
          <p:cNvPr id="8" name="Text 6"/>
          <p:cNvSpPr txBox="1"/>
          <p:nvPr/>
        </p:nvSpPr>
        <p:spPr>
          <a:xfrm>
            <a:off x="1115568" y="4690872"/>
            <a:ext cx="3108960" cy="237744"/>
          </a:xfrm>
          <a:prstGeom prst="rect">
            <a:avLst/>
          </a:prstGeom>
          <a:noFill/>
          <a:ln/>
        </p:spPr>
        <p:txBody>
          <a:bodyPr wrap="square" lIns="0" tIns="0" rIns="0" bIns="0" rtlCol="0" anchor="ctr"/>
          <a:lstStyle/>
          <a:p>
            <a:pPr indent="0" marL="0">
              <a:buNone/>
            </a:pPr>
            <a:r>
              <a:rPr lang="en-US" sz="950" b="1" dirty="0">
                <a:solidFill>
                  <a:srgbClr val="F9BB0B"/>
                </a:solidFill>
                <a:latin typeface="Tahoma" pitchFamily="34" charset="0"/>
                <a:ea typeface="Tahoma" pitchFamily="34" charset="-122"/>
                <a:cs typeface="Tahoma" pitchFamily="34" charset="-120"/>
              </a:rPr>
              <a:t>PREGUNTA FINAL PARA TODOS</a:t>
            </a:r>
            <a:endParaRPr lang="en-US" sz="950" dirty="0"/>
          </a:p>
        </p:txBody>
      </p:sp>
      <p:sp>
        <p:nvSpPr>
          <p:cNvPr id="9" name="Text 7"/>
          <p:cNvSpPr txBox="1"/>
          <p:nvPr/>
        </p:nvSpPr>
        <p:spPr>
          <a:xfrm>
            <a:off x="1115568" y="4928616"/>
            <a:ext cx="6035040" cy="502920"/>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¿Esta nueva oportunidad cambia la decisión que ustedes tomarían para Café de Montaña? ¿Por qué?</a:t>
            </a:r>
            <a:endParaRPr lang="en-US" sz="1300" dirty="0"/>
          </a:p>
        </p:txBody>
      </p:sp>
      <p:pic>
        <p:nvPicPr>
          <p:cNvPr id="10" name="Image 0" descr="preencoded.png">    </p:cNvPr>
          <p:cNvPicPr>
            <a:picLocks noChangeAspect="1"/>
          </p:cNvPicPr>
          <p:nvPr/>
        </p:nvPicPr>
        <p:blipFill>
          <a:blip r:embed="rId2"/>
          <a:stretch>
            <a:fillRect/>
          </a:stretch>
        </p:blipFill>
        <p:spPr>
          <a:xfrm>
            <a:off x="7772400" y="2331720"/>
            <a:ext cx="3566160" cy="3200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280160" y="2148840"/>
            <a:ext cx="9692640" cy="1097280"/>
          </a:xfrm>
          <a:prstGeom prst="rect">
            <a:avLst/>
          </a:prstGeom>
          <a:noFill/>
          <a:ln/>
        </p:spPr>
        <p:txBody>
          <a:bodyPr wrap="square" lIns="0" tIns="0" rIns="0" bIns="0" rtlCol="0" anchor="ctr"/>
          <a:lstStyle/>
          <a:p>
            <a:pPr algn="ctr" indent="0" marL="0">
              <a:buNone/>
            </a:pPr>
            <a:r>
              <a:rPr lang="en-US" sz="2600" b="1" dirty="0">
                <a:solidFill>
                  <a:srgbClr val="FFFFFF"/>
                </a:solidFill>
                <a:latin typeface="Tahoma" pitchFamily="34" charset="0"/>
                <a:ea typeface="Tahoma" pitchFamily="34" charset="-122"/>
                <a:cs typeface="Tahoma" pitchFamily="34" charset="-120"/>
              </a:rPr>
              <a:t>Antes de decidir, la Junta Directiva solicita un análisis integral</a:t>
            </a:r>
            <a:endParaRPr lang="en-US" sz="2600" dirty="0"/>
          </a:p>
        </p:txBody>
      </p:sp>
      <p:sp>
        <p:nvSpPr>
          <p:cNvPr id="3" name="Text 1"/>
          <p:cNvSpPr txBox="1"/>
          <p:nvPr/>
        </p:nvSpPr>
        <p:spPr>
          <a:xfrm>
            <a:off x="1828800" y="3291840"/>
            <a:ext cx="8595360" cy="685800"/>
          </a:xfrm>
          <a:prstGeom prst="rect">
            <a:avLst/>
          </a:prstGeom>
          <a:noFill/>
          <a:ln/>
        </p:spPr>
        <p:txBody>
          <a:bodyPr wrap="square" lIns="0" tIns="0" rIns="0" bIns="0" rtlCol="0" anchor="ctr"/>
          <a:lstStyle/>
          <a:p>
            <a:pPr algn="ctr" indent="0" marL="0">
              <a:lnSpc>
                <a:spcPts val="2000"/>
              </a:lnSpc>
              <a:buNone/>
            </a:pPr>
            <a:r>
              <a:rPr lang="en-US" sz="1400" dirty="0">
                <a:solidFill>
                  <a:srgbClr val="FFFFFF"/>
                </a:solidFill>
                <a:latin typeface="Calibri" pitchFamily="34" charset="0"/>
                <a:ea typeface="Calibri" pitchFamily="34" charset="-122"/>
                <a:cs typeface="Calibri" pitchFamily="34" charset="-120"/>
              </a:rPr>
              <a:t>Hasta aquí llega la historia. Lo que sigue es el trabajo de ustedes: leer esta empresa desde cuatro disciplinas y construir una recomendación gerencial.</a:t>
            </a:r>
            <a:endParaRPr lang="en-US" sz="1400" dirty="0"/>
          </a:p>
        </p:txBody>
      </p:sp>
      <p:sp>
        <p:nvSpPr>
          <p:cNvPr id="4" name="Shape 2"/>
          <p:cNvSpPr/>
          <p:nvPr/>
        </p:nvSpPr>
        <p:spPr>
          <a:xfrm>
            <a:off x="2011680" y="4206240"/>
            <a:ext cx="1874520" cy="566928"/>
          </a:xfrm>
          <a:prstGeom prst="roundRect">
            <a:avLst>
              <a:gd name="adj" fmla="val 12903"/>
            </a:avLst>
          </a:prstGeom>
          <a:solidFill>
            <a:srgbClr val="F9BB0B"/>
          </a:solidFill>
          <a:ln/>
        </p:spPr>
      </p:sp>
      <p:sp>
        <p:nvSpPr>
          <p:cNvPr id="5" name="Text 3"/>
          <p:cNvSpPr txBox="1"/>
          <p:nvPr/>
        </p:nvSpPr>
        <p:spPr>
          <a:xfrm>
            <a:off x="2011680" y="4206240"/>
            <a:ext cx="1874520" cy="566928"/>
          </a:xfrm>
          <a:prstGeom prst="rect">
            <a:avLst/>
          </a:prstGeom>
          <a:noFill/>
          <a:ln/>
        </p:spPr>
        <p:txBody>
          <a:bodyPr wrap="square" lIns="0" tIns="0" rIns="0" bIns="0" rtlCol="0" anchor="ctr"/>
          <a:lstStyle/>
          <a:p>
            <a:pPr algn="ctr" indent="0" marL="0">
              <a:buNone/>
            </a:pPr>
            <a:r>
              <a:rPr lang="en-US" sz="1250" b="1" dirty="0">
                <a:solidFill>
                  <a:srgbClr val="1B1C6E"/>
                </a:solidFill>
                <a:latin typeface="Tahoma" pitchFamily="34" charset="0"/>
                <a:ea typeface="Tahoma" pitchFamily="34" charset="-122"/>
                <a:cs typeface="Tahoma" pitchFamily="34" charset="-120"/>
              </a:rPr>
              <a:t>Economía</a:t>
            </a:r>
            <a:endParaRPr lang="en-US" sz="1250" dirty="0"/>
          </a:p>
        </p:txBody>
      </p:sp>
      <p:sp>
        <p:nvSpPr>
          <p:cNvPr id="6" name="Shape 4"/>
          <p:cNvSpPr/>
          <p:nvPr/>
        </p:nvSpPr>
        <p:spPr>
          <a:xfrm>
            <a:off x="4114800" y="4206240"/>
            <a:ext cx="1874520" cy="566928"/>
          </a:xfrm>
          <a:prstGeom prst="roundRect">
            <a:avLst>
              <a:gd name="adj" fmla="val 12903"/>
            </a:avLst>
          </a:prstGeom>
          <a:solidFill>
            <a:srgbClr val="F9BB0B"/>
          </a:solidFill>
          <a:ln/>
        </p:spPr>
      </p:sp>
      <p:sp>
        <p:nvSpPr>
          <p:cNvPr id="7" name="Text 5"/>
          <p:cNvSpPr txBox="1"/>
          <p:nvPr/>
        </p:nvSpPr>
        <p:spPr>
          <a:xfrm>
            <a:off x="4114800" y="4206240"/>
            <a:ext cx="1874520" cy="566928"/>
          </a:xfrm>
          <a:prstGeom prst="rect">
            <a:avLst/>
          </a:prstGeom>
          <a:noFill/>
          <a:ln/>
        </p:spPr>
        <p:txBody>
          <a:bodyPr wrap="square" lIns="0" tIns="0" rIns="0" bIns="0" rtlCol="0" anchor="ctr"/>
          <a:lstStyle/>
          <a:p>
            <a:pPr algn="ctr" indent="0" marL="0">
              <a:buNone/>
            </a:pPr>
            <a:r>
              <a:rPr lang="en-US" sz="1250" b="1" dirty="0">
                <a:solidFill>
                  <a:srgbClr val="1B1C6E"/>
                </a:solidFill>
                <a:latin typeface="Tahoma" pitchFamily="34" charset="0"/>
                <a:ea typeface="Tahoma" pitchFamily="34" charset="-122"/>
                <a:cs typeface="Tahoma" pitchFamily="34" charset="-120"/>
              </a:rPr>
              <a:t>Emprendimiento</a:t>
            </a:r>
            <a:endParaRPr lang="en-US" sz="1250" dirty="0"/>
          </a:p>
        </p:txBody>
      </p:sp>
      <p:sp>
        <p:nvSpPr>
          <p:cNvPr id="8" name="Shape 6"/>
          <p:cNvSpPr/>
          <p:nvPr/>
        </p:nvSpPr>
        <p:spPr>
          <a:xfrm>
            <a:off x="6217920" y="4206240"/>
            <a:ext cx="1874520" cy="566928"/>
          </a:xfrm>
          <a:prstGeom prst="roundRect">
            <a:avLst>
              <a:gd name="adj" fmla="val 12903"/>
            </a:avLst>
          </a:prstGeom>
          <a:solidFill>
            <a:srgbClr val="F9BB0B"/>
          </a:solidFill>
          <a:ln/>
        </p:spPr>
      </p:sp>
      <p:sp>
        <p:nvSpPr>
          <p:cNvPr id="9" name="Text 7"/>
          <p:cNvSpPr txBox="1"/>
          <p:nvPr/>
        </p:nvSpPr>
        <p:spPr>
          <a:xfrm>
            <a:off x="6217920" y="4206240"/>
            <a:ext cx="1874520" cy="566928"/>
          </a:xfrm>
          <a:prstGeom prst="rect">
            <a:avLst/>
          </a:prstGeom>
          <a:noFill/>
          <a:ln/>
        </p:spPr>
        <p:txBody>
          <a:bodyPr wrap="square" lIns="0" tIns="0" rIns="0" bIns="0" rtlCol="0" anchor="ctr"/>
          <a:lstStyle/>
          <a:p>
            <a:pPr algn="ctr" indent="0" marL="0">
              <a:buNone/>
            </a:pPr>
            <a:r>
              <a:rPr lang="en-US" sz="1250" b="1" dirty="0">
                <a:solidFill>
                  <a:srgbClr val="1B1C6E"/>
                </a:solidFill>
                <a:latin typeface="Tahoma" pitchFamily="34" charset="0"/>
                <a:ea typeface="Tahoma" pitchFamily="34" charset="-122"/>
                <a:cs typeface="Tahoma" pitchFamily="34" charset="-120"/>
              </a:rPr>
              <a:t>Proyectos</a:t>
            </a:r>
            <a:endParaRPr lang="en-US" sz="1250" dirty="0"/>
          </a:p>
        </p:txBody>
      </p:sp>
      <p:sp>
        <p:nvSpPr>
          <p:cNvPr id="10" name="Shape 8"/>
          <p:cNvSpPr/>
          <p:nvPr/>
        </p:nvSpPr>
        <p:spPr>
          <a:xfrm>
            <a:off x="8321040" y="4206240"/>
            <a:ext cx="1874520" cy="566928"/>
          </a:xfrm>
          <a:prstGeom prst="roundRect">
            <a:avLst>
              <a:gd name="adj" fmla="val 12903"/>
            </a:avLst>
          </a:prstGeom>
          <a:solidFill>
            <a:srgbClr val="F9BB0B"/>
          </a:solidFill>
          <a:ln/>
        </p:spPr>
      </p:sp>
      <p:sp>
        <p:nvSpPr>
          <p:cNvPr id="11" name="Text 9"/>
          <p:cNvSpPr txBox="1"/>
          <p:nvPr/>
        </p:nvSpPr>
        <p:spPr>
          <a:xfrm>
            <a:off x="8321040" y="4206240"/>
            <a:ext cx="1874520" cy="566928"/>
          </a:xfrm>
          <a:prstGeom prst="rect">
            <a:avLst/>
          </a:prstGeom>
          <a:noFill/>
          <a:ln/>
        </p:spPr>
        <p:txBody>
          <a:bodyPr wrap="square" lIns="0" tIns="0" rIns="0" bIns="0" rtlCol="0" anchor="ctr"/>
          <a:lstStyle/>
          <a:p>
            <a:pPr algn="ctr" indent="0" marL="0">
              <a:buNone/>
            </a:pPr>
            <a:r>
              <a:rPr lang="en-US" sz="1250" b="1" dirty="0">
                <a:solidFill>
                  <a:srgbClr val="1B1C6E"/>
                </a:solidFill>
                <a:latin typeface="Tahoma" pitchFamily="34" charset="0"/>
                <a:ea typeface="Tahoma" pitchFamily="34" charset="-122"/>
                <a:cs typeface="Tahoma" pitchFamily="34" charset="-120"/>
              </a:rPr>
              <a:t>Logística</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664208" y="329184"/>
            <a:ext cx="9509760" cy="868680"/>
          </a:xfrm>
          <a:prstGeom prst="rect">
            <a:avLst/>
          </a:prstGeom>
          <a:noFill/>
          <a:ln/>
        </p:spPr>
        <p:txBody>
          <a:bodyPr wrap="square" lIns="0" tIns="0" rIns="0" bIns="0" rtlCol="0" anchor="ctr"/>
          <a:lstStyle/>
          <a:p>
            <a:pPr indent="0" marL="0">
              <a:buNone/>
            </a:pPr>
            <a:r>
              <a:rPr lang="en-US" sz="2500" b="1" dirty="0">
                <a:solidFill>
                  <a:srgbClr val="1B1C6E"/>
                </a:solidFill>
                <a:latin typeface="Tahoma" pitchFamily="34" charset="0"/>
                <a:ea typeface="Tahoma" pitchFamily="34" charset="-122"/>
                <a:cs typeface="Tahoma" pitchFamily="34" charset="-120"/>
              </a:rPr>
              <a:t>Registro fotográfico: créditos</a:t>
            </a:r>
            <a:endParaRPr lang="en-US" sz="2500" dirty="0"/>
          </a:p>
        </p:txBody>
      </p:sp>
      <p:sp>
        <p:nvSpPr>
          <p:cNvPr id="3" name="Text 1"/>
          <p:cNvSpPr txBox="1"/>
          <p:nvPr/>
        </p:nvSpPr>
        <p:spPr>
          <a:xfrm>
            <a:off x="841248" y="1600200"/>
            <a:ext cx="10515600" cy="777240"/>
          </a:xfrm>
          <a:prstGeom prst="rect">
            <a:avLst/>
          </a:prstGeom>
          <a:noFill/>
          <a:ln/>
        </p:spPr>
        <p:txBody>
          <a:bodyPr wrap="square" lIns="0" tIns="0" rIns="0" bIns="0" rtlCol="0" anchor="t"/>
          <a:lstStyle/>
          <a:p>
            <a:pPr indent="0" marL="0">
              <a:lnSpc>
                <a:spcPts val="2100"/>
              </a:lnSpc>
              <a:buNone/>
            </a:pPr>
            <a:r>
              <a:rPr lang="en-US" sz="1450" dirty="0">
                <a:solidFill>
                  <a:srgbClr val="55565E"/>
                </a:solidFill>
                <a:latin typeface="Calibri" pitchFamily="34" charset="0"/>
                <a:ea typeface="Calibri" pitchFamily="34" charset="-122"/>
                <a:cs typeface="Calibri" pitchFamily="34" charset="-120"/>
              </a:rPr>
              <a:t>Todas las fotografías provienen de Wikimedia Commons y se utilizan con fines académicos, conservando la atribución exigida por cada licencia. Café de Montaña Antioqueño S.A.S. es una empresa ficticia creada con fines pedagógicos; las imágenes ilustran el contexto del sector, no a la empresa del caso.</a:t>
            </a:r>
            <a:endParaRPr lang="en-US" sz="1450" dirty="0"/>
          </a:p>
        </p:txBody>
      </p:sp>
      <p:sp>
        <p:nvSpPr>
          <p:cNvPr id="4" name="Text 2"/>
          <p:cNvSpPr txBox="1"/>
          <p:nvPr/>
        </p:nvSpPr>
        <p:spPr>
          <a:xfrm>
            <a:off x="841248" y="2788920"/>
            <a:ext cx="5029200" cy="2468880"/>
          </a:xfrm>
          <a:prstGeom prst="rect">
            <a:avLst/>
          </a:prstGeom>
          <a:noFill/>
          <a:ln/>
        </p:spPr>
        <p:txBody>
          <a:bodyPr wrap="square" lIns="0" tIns="0" rIns="0" bIns="0" rtlCol="0" anchor="ctr"/>
          <a:lstStyle/>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Coffee berries in Hacienda Guayabal, Colombia · Bernard Gagnon · CC BY-SA 4.0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Paisaje típico Colombiano - Typical Colombian … · Diego Botero P. · CC BY-SA 4.0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Frutas de café caturro-arabica en San Roque Co… · Aliman5040 · CC BY-SA 3.0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Casas coloridas típicas en Colombia · Diego Botero P. · CC BY-SA 4.0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Bolívar cafetales 2 · Moterocolombia · CC BY-SA 4.0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Coffee farm in Colombia · U.S. Fish and Wildlife Ser… · CC BY 2.0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Сoffee plantations around the city · Leon petrosyan · CC BY-SA 4.0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Clasificando café Jardin · Xemenendura · CC BY-SA 4.0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Coffee Beans Drying in the Sun (4261209148) · John Pavelka · CC BY 2.0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Closer look at the coffee beans from the coffe… · Jameswasswa · CC BY-SA 4.0</a:t>
            </a:r>
            <a:endParaRPr lang="en-US" sz="900" dirty="0"/>
          </a:p>
        </p:txBody>
      </p:sp>
      <p:sp>
        <p:nvSpPr>
          <p:cNvPr id="5" name="Text 3"/>
          <p:cNvSpPr txBox="1"/>
          <p:nvPr/>
        </p:nvSpPr>
        <p:spPr>
          <a:xfrm>
            <a:off x="6190488" y="2788920"/>
            <a:ext cx="5029200" cy="2468880"/>
          </a:xfrm>
          <a:prstGeom prst="rect">
            <a:avLst/>
          </a:prstGeom>
          <a:noFill/>
          <a:ln/>
        </p:spPr>
        <p:txBody>
          <a:bodyPr wrap="square" lIns="0" tIns="0" rIns="0" bIns="0" rtlCol="0" anchor="ctr"/>
          <a:lstStyle/>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Coffee beans in a farmer's hands · Jameswasswa · CC BY-SA 4.0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Coffeebag(kraft)-250g · The Coffee · CC BY-SA 4.0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Supermarket Coffee Bags · Jmcronald · CC BY-SA 4.0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Slow By Slow · Tamanoeconomico · CC BY-SA 4.0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Barista prepares espresso at coffee shop · Shixart1985 · CC BY 2.0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The cup of coffee on a wooden table (479390816… · Artem Beliaikin · CC BY 2.0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Coffee package · WanderingTrad · CC BY-SA 4.0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Mini shopping cart placed on a table next to a… · Shixart1985 · CC BY 2.0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Palletstellingen in een warehouse met framebes… · Holland Storage Solutions · CC BY-SA 4.0</a:t>
            </a:r>
            <a:endParaRPr lang="en-US" sz="900" dirty="0"/>
          </a:p>
          <a:p>
            <a:pPr indent="0" marL="0">
              <a:lnSpc>
                <a:spcPts val="1350"/>
              </a:lnSpc>
              <a:buNone/>
            </a:pPr>
            <a:r>
              <a:rPr lang="en-US" sz="900" dirty="0">
                <a:solidFill>
                  <a:srgbClr val="55565E"/>
                </a:solidFill>
                <a:latin typeface="Calibri" pitchFamily="34" charset="0"/>
                <a:ea typeface="Calibri" pitchFamily="34" charset="-122"/>
                <a:cs typeface="Calibri" pitchFamily="34" charset="-120"/>
              </a:rPr>
              <a:t>Volkswagen Delivery, Colombia · JLaw45 · CC BY 2.0</a:t>
            </a:r>
            <a:endParaRPr lang="en-US" sz="900" dirty="0"/>
          </a:p>
        </p:txBody>
      </p:sp>
      <p:sp>
        <p:nvSpPr>
          <p:cNvPr id="6" name="Text 4"/>
          <p:cNvSpPr txBox="1"/>
          <p:nvPr/>
        </p:nvSpPr>
        <p:spPr>
          <a:xfrm>
            <a:off x="841248" y="5349240"/>
            <a:ext cx="10515600" cy="274320"/>
          </a:xfrm>
          <a:prstGeom prst="rect">
            <a:avLst/>
          </a:prstGeom>
          <a:noFill/>
          <a:ln/>
        </p:spPr>
        <p:txBody>
          <a:bodyPr wrap="square" lIns="0" tIns="0" rIns="0" bIns="0" rtlCol="0" anchor="ctr"/>
          <a:lstStyle/>
          <a:p>
            <a:pPr indent="0" marL="0">
              <a:buNone/>
            </a:pPr>
            <a:r>
              <a:rPr lang="en-US" sz="1000" i="1" dirty="0">
                <a:solidFill>
                  <a:srgbClr val="1B1C6E"/>
                </a:solidFill>
                <a:latin typeface="Calibri" pitchFamily="34" charset="0"/>
                <a:ea typeface="Calibri" pitchFamily="34" charset="-122"/>
                <a:cs typeface="Calibri" pitchFamily="34" charset="-120"/>
              </a:rPr>
              <a:t>Fuente de las imágenes: Wikimedia Commons (licencias CC0, CC BY y CC BY-SA).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Antioquia 2030: el reto empresarial</dc:title>
  <dc:subject>PptxGenJS Presentation</dc:subject>
  <dc:creator>Institución Universitaria Escolme</dc:creator>
  <cp:lastModifiedBy>Institución Universitaria Escolme</cp:lastModifiedBy>
  <cp:revision>1</cp:revision>
  <dcterms:created xsi:type="dcterms:W3CDTF">2026-08-31T20:00:49Z</dcterms:created>
  <dcterms:modified xsi:type="dcterms:W3CDTF">2026-08-31T20:00:49Z</dcterms:modified>
</cp:coreProperties>
</file>